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xml" ContentType="application/inkml+xml"/>
  <Override PartName="/ppt/ink/ink2.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256" r:id="rId2"/>
    <p:sldId id="346" r:id="rId3"/>
    <p:sldId id="294" r:id="rId4"/>
    <p:sldId id="300" r:id="rId5"/>
    <p:sldId id="301" r:id="rId6"/>
    <p:sldId id="334" r:id="rId7"/>
    <p:sldId id="335" r:id="rId8"/>
    <p:sldId id="298" r:id="rId9"/>
    <p:sldId id="262" r:id="rId10"/>
    <p:sldId id="257" r:id="rId11"/>
    <p:sldId id="302" r:id="rId12"/>
    <p:sldId id="258" r:id="rId13"/>
    <p:sldId id="332" r:id="rId14"/>
    <p:sldId id="338" r:id="rId15"/>
    <p:sldId id="333" r:id="rId16"/>
    <p:sldId id="259" r:id="rId17"/>
    <p:sldId id="260" r:id="rId18"/>
    <p:sldId id="261" r:id="rId19"/>
    <p:sldId id="263" r:id="rId20"/>
    <p:sldId id="273" r:id="rId21"/>
    <p:sldId id="274" r:id="rId22"/>
    <p:sldId id="275" r:id="rId23"/>
    <p:sldId id="278" r:id="rId24"/>
    <p:sldId id="276" r:id="rId25"/>
    <p:sldId id="279" r:id="rId26"/>
    <p:sldId id="305" r:id="rId27"/>
    <p:sldId id="264" r:id="rId28"/>
    <p:sldId id="266" r:id="rId29"/>
    <p:sldId id="299" r:id="rId30"/>
    <p:sldId id="310" r:id="rId31"/>
    <p:sldId id="336" r:id="rId32"/>
    <p:sldId id="337" r:id="rId33"/>
    <p:sldId id="348" r:id="rId34"/>
    <p:sldId id="311" r:id="rId35"/>
    <p:sldId id="312" r:id="rId36"/>
    <p:sldId id="313" r:id="rId37"/>
    <p:sldId id="314" r:id="rId38"/>
    <p:sldId id="315" r:id="rId39"/>
    <p:sldId id="317" r:id="rId40"/>
    <p:sldId id="318" r:id="rId41"/>
    <p:sldId id="319" r:id="rId42"/>
    <p:sldId id="316" r:id="rId43"/>
    <p:sldId id="339" r:id="rId44"/>
    <p:sldId id="320" r:id="rId45"/>
    <p:sldId id="340" r:id="rId46"/>
    <p:sldId id="322" r:id="rId47"/>
    <p:sldId id="307" r:id="rId48"/>
    <p:sldId id="267" r:id="rId49"/>
    <p:sldId id="268" r:id="rId50"/>
    <p:sldId id="270" r:id="rId51"/>
    <p:sldId id="309" r:id="rId52"/>
    <p:sldId id="269" r:id="rId53"/>
    <p:sldId id="271" r:id="rId54"/>
    <p:sldId id="272" r:id="rId55"/>
    <p:sldId id="277" r:id="rId56"/>
    <p:sldId id="280" r:id="rId57"/>
    <p:sldId id="282" r:id="rId58"/>
    <p:sldId id="281" r:id="rId59"/>
    <p:sldId id="296" r:id="rId60"/>
    <p:sldId id="283" r:id="rId61"/>
    <p:sldId id="347" r:id="rId62"/>
    <p:sldId id="341" r:id="rId63"/>
    <p:sldId id="323" r:id="rId64"/>
    <p:sldId id="342" r:id="rId65"/>
    <p:sldId id="325" r:id="rId66"/>
    <p:sldId id="284" r:id="rId67"/>
    <p:sldId id="343" r:id="rId68"/>
    <p:sldId id="326" r:id="rId69"/>
    <p:sldId id="345" r:id="rId70"/>
    <p:sldId id="328" r:id="rId71"/>
    <p:sldId id="285" r:id="rId72"/>
    <p:sldId id="344" r:id="rId73"/>
    <p:sldId id="329" r:id="rId74"/>
    <p:sldId id="330" r:id="rId75"/>
    <p:sldId id="331" r:id="rId76"/>
    <p:sldId id="349" r:id="rId77"/>
    <p:sldId id="350" r:id="rId78"/>
    <p:sldId id="303" r:id="rId79"/>
    <p:sldId id="290" r:id="rId80"/>
    <p:sldId id="291" r:id="rId81"/>
    <p:sldId id="289" r:id="rId82"/>
    <p:sldId id="297" r:id="rId83"/>
    <p:sldId id="304" r:id="rId84"/>
    <p:sldId id="293" r:id="rId85"/>
    <p:sldId id="308" r:id="rId86"/>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326"/>
    <p:restoredTop sz="79292"/>
  </p:normalViewPr>
  <p:slideViewPr>
    <p:cSldViewPr snapToGrid="0" snapToObjects="1">
      <p:cViewPr varScale="1">
        <p:scale>
          <a:sx n="71" d="100"/>
          <a:sy n="71" d="100"/>
        </p:scale>
        <p:origin x="168"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05:43:04.953"/>
    </inkml:context>
    <inkml:brush xml:id="br0">
      <inkml:brushProperty name="width" value="0.05" units="cm"/>
      <inkml:brushProperty name="height" value="0.05" units="cm"/>
    </inkml:brush>
  </inkml:definitions>
  <inkml:trace contextRef="#ctx0" brushRef="#br0">7428 1836 24575,'0'-39'0,"-13"-25"0,-22-28 0,2 32 0,-7 0 0,-6 0 0,-7 1-785,-11-1 1,-4 2 784,-7 1 0,-1 2 0,3 9 0,-1 3 0,-4 0 0,-3 3 0,-8 1 0,-7 3 0,17 8 0,-6 1 0,-2-1-400,12 4 0,-2 0 0,-2-1 0,0 0 400,-2-1 0,-1 0 0,1-1 0,1 0 0,4 0 0,2 1 0,0-1 0,3 0 5,-14-7 0,3 0 0,1 0-5,4 3 0,2 0 0,-1 2 0,2 1 0,0 2 0,1 2 0,2 3 0,0 2 0,1 2-50,3 1 0,0 1 0,2 1 50,-28-5 0,3 2 0,7 2 0,3 1 0,15 2 0,3 1 0,-35-9 0,30 4 0,12 5 0,1 0 0,3 6 0,-3 1 0,-2 2 698,-16 1-698,-14 3 1610,-12 7-1610,46 0 0,-1 3 409,-2 3 0,1 3-409,-3 4 0,1 1 0,5-3 0,3 1 0,-38 15 0,20-8 0,11-6 0,-2 2 0,2 1 0,-2 3 0,-1 5 178,-10 6-178,-1 3 0,2-2 0,8-6 0,13-4 0,-1 4 0,7-2 0,0 1 0,6-4 0,7-2 0,-1 3 0,0 0 0,1 3 0,-4 4 0,-8 10 0,-8 10 0,-10 4 0,-3 2 0,-6-1 0,-2-4 0,9-8 0,5-9 0,14-11 0,7-3 0,-3 1 0,6-1 0,-1-1 0,-1 1 0,-1 11 0,-5 8 0,-3 11 0,4-1 0,1-3 0,2-1 0,4-10 0,3-3 0,4-6 0,1-5 0,-3 4 0,-1 1 0,2 1 0,-2 4 0,-5 9 0,-3 9 0,-3 13 0,5 2 0,4-2 0,3-5 0,6-13 0,1-7 0,4-8 0,1-5 0,1 1 0,3-7 0,0-1 0,2-2 0,1-1 0,1-1 0,1-3 0,-1-8 0,1-6 0,-1-6 0,1-5 0,0-2 0,-3-7 0,-5-14 0,-6-17 0,-4-18 0,2-7 0,4 2 0,6 9 0,5 14 0,3 10 0,2 10 0,0 5 0,0 2 0,0 6 0,0 2 0,0 2 0,0 1 0,0 4 0,0 14 0,0 14 0,0 15 0,0 2 0,0-3 0,0-5 0,0-6 0,1-1 0,1-2 0,0 3 0,2 4 0,1 9 0,2 2 0,2 0 0,0-7 0,-1-11 0,-1-10 0,0-6 0,1-4 0,-1-2 0,3 0 0,4 0 0,8 0 0,5 1 0,-1 3 0,-4 2 0,-9 1 0,-7 1 0,-4-1 0,-2 1 0,1-3 0,3-1 0,1-3 0,2-1 0,0-1 0,0-3 0,2-5 0,3-19 0,7-18 0,9-17 0,5-5 0,0 14 0,-6 17 0,-8 18 0,-5 11 0,-5 4 0,-2 0 0,1 0 0,0 0 0,0-2 0,0 1 0,2 1 0,0 0 0,-1 2 0,-3 0 0,-2 1 0,-3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05:43:16.427"/>
    </inkml:context>
    <inkml:brush xml:id="br0">
      <inkml:brushProperty name="width" value="0.05" units="cm"/>
      <inkml:brushProperty name="height" value="0.05" units="cm"/>
    </inkml:brush>
  </inkml:definitions>
  <inkml:trace contextRef="#ctx0" brushRef="#br0">1 3005 24575,'0'-98'0,"-1"29"0,2-7 0,1 6 0,1-5 0,2 0-3277,-1 1 0,2-1 0,2 2 2780,4 4 1,2 2-1,1 1 497,9-21 0,3 4 1299,2 14 0,1 3-1299,2-4 0,2 1 0,1 6 0,3 2 0,3-1 0,4 1 0,11-7 0,7 0 0,-10 17 0,4-1 0,5 1 206,12-8 0,5 1 0,4 0-206,-12 11 0,3 1 0,2 0 0,0 2 0,3 0 0,1 1 0,0 1 0,-1 2 0,-5 4 0,0 1 0,-2 1 0,-1 2 0,9-3 0,-3 2 0,-3 1 0,19-9 0,-6 4 0,-15 9 0,-3 3 0,-1 1 0,0 2 3065,-1 1 0,1 2-3065,3 1 0,-1 2 0,-9 3 0,-2 0 129,-6 4 0,-3 1-129,34-2 0,-13 4 0,6 1 0,-2 2 0,8-1 0,13 1 0,-32-1 0,6-1 0,15-1 0,5-1 320,-20 3 0,3 1 0,1-1-320,7 0 0,1 1 0,0 0 0,0 1 0,0 0 0,-1 1 0,-1 1 0,-2 1 0,-3 1 0,16-1 0,-6 3 0,-15 0 0,-7 3 0,27 10 0,-22 3 0,6 4 0,-6-1 0,2 1 0,1 2 0,17 8 0,-37-13 0,1 1 0,4 3 0,1 2 0,1 1 0,-1 1 378,-3-1 1,-1 1-379,-1-1 0,-3-1 0,32 18 0,-10-6 0,-15-7 0,4 2 0,6 5 0,1 3 0,-5-2 0,-2 3 0,18 16 0,-33-25 0,1 2 0,5 5 0,0 0 0,-5-2 0,-3-1 0,31 27 0,-16-8 0,-15-13 0,-11-10 0,-9-9 0,-6-5 0,1-2 0,-3-1 0,0-1 0,-1 0 0,0 3 0,2 6 0,1 8 0,-1 10 0,-2 6 0,-3-4 0,-4-4 0,-2-7 0,-3-5 0,-1 2 0,1 0 0,0 0 0,1 3 0,-1 8 0,-2 10 0,0 13 0,0 6 0,0 1 0,0-6 0,2-8 0,0-6 0,0-7 0,0 2 0,-2 0 0,0-7 0,0-6 0,0-12 0,0-8 0,0-2 0,0-2 0,0-1 0,0-1 0,0 2 0,0-1 0,0 4 0,2 5 0,0 7 0,1 5 0,-1-3 0,-2-7 0,0-6 0,0-5 0,0 0 0,0-1 0,0-3 0,0-13 0,-2-1 0,-3-12 0,-6 2 0,-4-4 0,-3-2 0,-4-4 0,-4-4 0,-11-16 0,-4-5 0,4-1 0,10 10 0,11 18 0,7 21 0,14 25 0,6 13 0,12 11 0,2-2 0,2-2 0,-1 1 0,-5-4 0,-1-5 0,-6-7 0,1-3 0,-1-3 0,-2-2 0,-2-4 0,0-2 0,-2-3 0,-1 1 0,0 0 0,-3-1 0,2-1 0,-3-1 0,-1 0 0,0 1 0,-1 1 0,1 1 0,2-3 0,2-19 0,3-42 0,-1 9 0,0-6 0,1-16 0,0-3 0,0-2 0,-2 2 0,-2 13 0,-1 4 0,-1-24 0,-3 35 0,0 18 0,0 4 0,0 7 0,0 3 0,0 5 0,0 2 0,0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necessary for the physical growth and muscle building of a body builder?</a:t>
            </a:r>
          </a:p>
          <a:p>
            <a:endParaRPr lang="en-US" dirty="0"/>
          </a:p>
          <a:p>
            <a:r>
              <a:rPr dirty="0"/>
              <a:t>Hook: today is about one lever — getting language out of every learner, often, and pushed to be better each time. • Set up the two demos early: "you'll be my learners twice today."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9F836-3AD2-1CBC-C05F-C07740D0D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E0E25-5A0C-A152-CE76-5F4742773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FD34C-C807-29D3-0A2D-883E4F16CA36}"/>
              </a:ext>
            </a:extLst>
          </p:cNvPr>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a:extLst>
              <a:ext uri="{FF2B5EF4-FFF2-40B4-BE49-F238E27FC236}">
                <a16:creationId xmlns:a16="http://schemas.microsoft.com/office/drawing/2014/main" id="{2409A7DC-0C61-900C-FC52-29A7E34AD0A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71127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4585B-3786-4063-F003-7551EBD2C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77C9E-8C12-47D3-1F56-BC58D70D3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3CBD3F-A746-B146-B7D4-D1E30E8A4111}"/>
              </a:ext>
            </a:extLst>
          </p:cNvPr>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a:extLst>
              <a:ext uri="{FF2B5EF4-FFF2-40B4-BE49-F238E27FC236}">
                <a16:creationId xmlns:a16="http://schemas.microsoft.com/office/drawing/2014/main" id="{0A529094-E22B-1C82-0C65-15AB9E35D0A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32675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BDA37-C171-CC1F-B256-E137AEED6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DB9B6-1B16-037C-5848-4C340576F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A500C-CFBF-EC6F-73E5-9A8E4FE9469F}"/>
              </a:ext>
            </a:extLst>
          </p:cNvPr>
          <p:cNvSpPr>
            <a:spLocks noGrp="1"/>
          </p:cNvSpPr>
          <p:nvPr>
            <p:ph type="body" idx="1"/>
          </p:nvPr>
        </p:nvSpPr>
        <p:spPr/>
        <p:txBody>
          <a:bodyPr/>
          <a:lstStyle/>
          <a:p>
            <a:r>
              <a:rPr dirty="0"/>
              <a:t>Let the question sit. Most teachers </a:t>
            </a:r>
            <a:r>
              <a:rPr dirty="0" err="1"/>
              <a:t>realise</a:t>
            </a:r>
            <a:r>
              <a:rPr dirty="0"/>
              <a:t> the honest answer is "almost none." • This is the problem the whole session solves: not whether students hear English, but whether they produce it.</a:t>
            </a:r>
          </a:p>
        </p:txBody>
      </p:sp>
      <p:sp>
        <p:nvSpPr>
          <p:cNvPr id="4" name="Slide Number Placeholder 3">
            <a:extLst>
              <a:ext uri="{FF2B5EF4-FFF2-40B4-BE49-F238E27FC236}">
                <a16:creationId xmlns:a16="http://schemas.microsoft.com/office/drawing/2014/main" id="{2B211019-D9B9-872C-0F20-E6476F160B2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29869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 the question sit. Most teachers </a:t>
            </a:r>
            <a:r>
              <a:rPr dirty="0" err="1"/>
              <a:t>realise</a:t>
            </a:r>
            <a:r>
              <a:rPr dirty="0"/>
              <a:t> the honest answer is "almost none." • This is the problem the whole session solves: not whether students hear English, but whether they produce it.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32963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9493-FCA0-EF83-DC49-6B0DCAC4F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C9403-9363-5B1D-CC89-4D10085504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88E04-645A-5293-3ABE-130C197DA8CE}"/>
              </a:ext>
            </a:extLst>
          </p:cNvPr>
          <p:cNvSpPr>
            <a:spLocks noGrp="1"/>
          </p:cNvSpPr>
          <p:nvPr>
            <p:ph type="body" idx="1"/>
          </p:nvPr>
        </p:nvSpPr>
        <p:spPr/>
        <p:txBody>
          <a:bodyPr/>
          <a:lstStyle/>
          <a:p>
            <a:r>
              <a:rPr dirty="0"/>
              <a:t>Evidence overview. Key sources: Swain (1985), The Output Hypothesis; Izumi (2003), Applied Linguistics, 24(2), 168-196, https://</a:t>
            </a:r>
            <a:r>
              <a:rPr dirty="0" err="1"/>
              <a:t>doi.org</a:t>
            </a:r>
            <a:r>
              <a:rPr dirty="0"/>
              <a:t>/10.1093/</a:t>
            </a:r>
            <a:r>
              <a:rPr dirty="0" err="1"/>
              <a:t>applin</a:t>
            </a:r>
            <a:r>
              <a:rPr dirty="0"/>
              <a:t>/24.2.168; DeKeyser &amp; Sokalski (1996), Language Learning, 46(4), 613-642, https://</a:t>
            </a:r>
            <a:r>
              <a:rPr dirty="0" err="1"/>
              <a:t>doi.org</a:t>
            </a:r>
            <a:r>
              <a:rPr dirty="0"/>
              <a:t>/10.1111/j.1467-1770.1996.tb01354.x; Mackey (1999), Studies in Second Language Acquisition, 21(4), 557-587, https://</a:t>
            </a:r>
            <a:r>
              <a:rPr dirty="0" err="1"/>
              <a:t>doi.org</a:t>
            </a:r>
            <a:r>
              <a:rPr dirty="0"/>
              <a:t>/10.1017/S0272263199004027; Freed, </a:t>
            </a:r>
            <a:r>
              <a:rPr dirty="0" err="1"/>
              <a:t>Segalowitz</a:t>
            </a:r>
            <a:r>
              <a:rPr dirty="0"/>
              <a:t>, &amp; Dewey (2004), Studies in Second Language Acquisition, 26(2), 275-301, https://</a:t>
            </a:r>
            <a:r>
              <a:rPr dirty="0" err="1"/>
              <a:t>doi.org</a:t>
            </a:r>
            <a:r>
              <a:rPr dirty="0"/>
              <a:t>/10.1017/S0272263104262064; Hanzawa (2024), Language Teaching Research, 28(3), 816-838, https://</a:t>
            </a:r>
            <a:r>
              <a:rPr dirty="0" err="1"/>
              <a:t>doi.org</a:t>
            </a:r>
            <a:r>
              <a:rPr dirty="0"/>
              <a:t>/10.1177/13621688211008693; Abdi Tabari, Zhuang, &amp; </a:t>
            </a:r>
            <a:r>
              <a:rPr dirty="0" err="1"/>
              <a:t>Farahanynia</a:t>
            </a:r>
            <a:r>
              <a:rPr dirty="0"/>
              <a:t> (2025), System, 135, 103868, https://</a:t>
            </a:r>
            <a:r>
              <a:rPr dirty="0" err="1"/>
              <a:t>doi.org</a:t>
            </a:r>
            <a:r>
              <a:rPr dirty="0"/>
              <a:t>/10.1016/j.system.2025.103868.</a:t>
            </a:r>
          </a:p>
        </p:txBody>
      </p:sp>
      <p:sp>
        <p:nvSpPr>
          <p:cNvPr id="4" name="Slide Number Placeholder 3">
            <a:extLst>
              <a:ext uri="{FF2B5EF4-FFF2-40B4-BE49-F238E27FC236}">
                <a16:creationId xmlns:a16="http://schemas.microsoft.com/office/drawing/2014/main" id="{AB5A71B3-455F-6561-2873-2219DBC122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17455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Theoretical mechanism. Swain's Output Hypothesis identifies noticing the gap, hypothesis testing, and metalinguistic reflection as functions of output. See Swain (1985), in Gass &amp; Madden (Eds.), Input in Second Language Acquisition; Swain &amp; Lapkin (1995), Applied Linguistics, 16(3), 371-391; Izumi (2003), Applied Linguistics, 24(2), 168-196, https://</a:t>
            </a:r>
            <a:r>
              <a:rPr dirty="0" err="1"/>
              <a:t>doi.org</a:t>
            </a:r>
            <a:r>
              <a:rPr dirty="0"/>
              <a:t>/10.1093/</a:t>
            </a:r>
            <a:r>
              <a:rPr dirty="0" err="1"/>
              <a:t>applin</a:t>
            </a:r>
            <a:r>
              <a:rPr dirty="0"/>
              <a:t>/24.2.168. The slide uses a conceptual sequence rather than claiming that every attempt produces learning automatically.</a:t>
            </a:r>
            <a:endParaRPr lang="en-US" dirty="0"/>
          </a:p>
          <a:p>
            <a:endParaRPr lang="en-US" dirty="0"/>
          </a:p>
          <a:p>
            <a:r>
              <a:rPr lang="en-US" dirty="0"/>
              <a:t>YOU DON’T KNOW WHAT YOU NEED TO SAY UNTIL YOU TRY TO SAY IT.</a:t>
            </a:r>
          </a:p>
          <a:p>
            <a:endParaRPr lang="en-US" dirty="0"/>
          </a:p>
          <a:p>
            <a:r>
              <a:rPr lang="en-US" dirty="0"/>
              <a:t>I did not play sports well when I was a child. I kicked the ball very bad. I </a:t>
            </a:r>
            <a:r>
              <a:rPr lang="en-US" dirty="0" err="1"/>
              <a:t>hitted</a:t>
            </a:r>
            <a:r>
              <a:rPr lang="en-US" dirty="0"/>
              <a:t> the ball in the wrong place. I cannot throw the ball good. But I ran very fast!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67A1B-0CD4-F278-E69D-9D6B02970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A4185-D15D-99A5-206D-2EE512ECB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9F58C-B486-6584-A384-50DD8D05CF69}"/>
              </a:ext>
            </a:extLst>
          </p:cNvPr>
          <p:cNvSpPr>
            <a:spLocks noGrp="1"/>
          </p:cNvSpPr>
          <p:nvPr>
            <p:ph type="body" idx="1"/>
          </p:nvPr>
        </p:nvSpPr>
        <p:spPr/>
        <p:txBody>
          <a:bodyPr/>
          <a:lstStyle/>
          <a:p>
            <a:r>
              <a:rPr dirty="0"/>
              <a:t>Theoretical mechanism. Swain's Output Hypothesis identifies noticing the gap, hypothesis testing, and metalinguistic reflection as functions of output. See Swain (1985), in Gass &amp; Madden (Eds.), Input in Second Language Acquisition; Swain &amp; Lapkin (1995), Applied Linguistics, 16(3), 371-391; Izumi (2003), Applied Linguistics, 24(2), 168-196, https://</a:t>
            </a:r>
            <a:r>
              <a:rPr dirty="0" err="1"/>
              <a:t>doi.org</a:t>
            </a:r>
            <a:r>
              <a:rPr dirty="0"/>
              <a:t>/10.1093/</a:t>
            </a:r>
            <a:r>
              <a:rPr dirty="0" err="1"/>
              <a:t>applin</a:t>
            </a:r>
            <a:r>
              <a:rPr dirty="0"/>
              <a:t>/24.2.168. The slide uses a conceptual sequence rather than claiming that every attempt produces learning automatically.</a:t>
            </a:r>
            <a:endParaRPr lang="en-US" dirty="0"/>
          </a:p>
          <a:p>
            <a:endParaRPr lang="en-US" dirty="0"/>
          </a:p>
          <a:p>
            <a:r>
              <a:rPr lang="en-US" dirty="0"/>
              <a:t>I did not play sports well when I was a child. I kicked the ball very bad. I </a:t>
            </a:r>
            <a:r>
              <a:rPr lang="en-US" dirty="0" err="1"/>
              <a:t>hitted</a:t>
            </a:r>
            <a:r>
              <a:rPr lang="en-US" dirty="0"/>
              <a:t> the ball in the wrong place. I cannot throw the ball good. But I ran very fast!</a:t>
            </a:r>
            <a:endParaRPr dirty="0"/>
          </a:p>
        </p:txBody>
      </p:sp>
      <p:sp>
        <p:nvSpPr>
          <p:cNvPr id="4" name="Slide Number Placeholder 3">
            <a:extLst>
              <a:ext uri="{FF2B5EF4-FFF2-40B4-BE49-F238E27FC236}">
                <a16:creationId xmlns:a16="http://schemas.microsoft.com/office/drawing/2014/main" id="{2E9376B1-45EC-09CD-B3CF-644CD52F836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6986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DeKeyser &amp; Sokalski (1996), The Differential Role of Comprehension and Production Practice, Language Learning, 46(4), 613-642, https://doi.org/10.1111/j.1467-1770.1996.tb01354.x. The study included 82 first-year Spanish learners. Its central finding was not that output always wins, but that production practice was better aligned with production outcomes and input practice with comprehension outcomes, with effects moderated by structure complexity and testing delay.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Mackey (1999), Input, Interaction, and Second Language Development: An Empirical Study of Question Formation in ESL, Studies in Second Language Acquisition, 21(4), 557-587, https://</a:t>
            </a:r>
            <a:r>
              <a:rPr dirty="0" err="1"/>
              <a:t>doi.org</a:t>
            </a:r>
            <a:r>
              <a:rPr dirty="0"/>
              <a:t>/10.1017/S0272263199004027. Adult ESL learners (N=34) took part in task-based interaction. Results supported a link between interaction and grammatical development and highlighted the importance of active participation. The slide's final box describes a pedagogical pathway, not a claim that all feedback types are equally effective.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Oral fluency evidence: Lambert, Kormos, &amp; Minn (2017), Task Repetition and Second Language Speech Processing, Studies in Second Language Acquisition, 39(1), 167-196, https://doi.org/10.1017/S0272263116000085. In 32 Japanese learners of English, same-task repetition related to gains in oral fluency. Speech rate gains were largest across the first three performances but continued through the fifth; clause-final pauses decreased by the second performance, midclause pauses through the fourth, and self-repairs only after the fourth. Hanzawa (2024), Language Teaching Research, 28(3), 816-838, https://doi.org/10.1177/13621688211008693, followed 50 Japanese university students over one academic year and found decreases in pause measures. Abdi Tabari, Zhuang, &amp; Farahanynia (2025), System, 135, 103868, https://doi.org/10.1016/j.system.2025.103868, meta-analyzed task repetition and found substantial effects for syntactic complexity and accuracy, with smaller positive effects for fluency and lexical complexity.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honest with this audience: this isn't a brand-new idea. It's foundational and well-validated — which is exactly why it's safe to build a practice around. • The plateau story is the memorable anchor: great input, stalled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Round 1 (serial): ask a question, call on people one at a time for 90 sec. Count total speakers (≈3–4) and rough seconds of talk. • Round 2 (simultaneous): "everyone, both partners, answer for 90 sec." Now everyone talked ~60–90 sec at once. • Do the math out loud: serial ≈ 1 minute of total learner talk; simultaneous ≈ 25+ minutes of talk in the same 90 seconds.</a:t>
            </a:r>
          </a:p>
          <a:p>
            <a:endParaRPr dirty="0"/>
          </a:p>
          <a:p>
            <a:r>
              <a:rPr dirty="0"/>
              <a:t>Have someone count total number of speakers and seconds they speak.</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43634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7812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Name the trap directly — hands-up Q&amp;A feels like participation but concentrates all output in 3–4 students. • Set up Demo 1: we're about to measure exactly how big this waste is.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1693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8286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15785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single switch — pairs/groups instead of whole-class Q&amp;A — is the largest volume multiplier available, and it's free. • The number is approximate but the order of magnitude is real and it lands hard.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27385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Swain's three functions. The key reframe for teachers: production isn't just performance of what's learned — it's part of how learning happens. • "Notice the gap" is the big one: silent students never discover what they're missing.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BD7E9-81DD-F7C0-E45D-A736EC82C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DA6AC-15DD-1359-2990-8809077FF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1D2F5-49B8-9287-C91C-F22A839EE587}"/>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F3AE704A-A19F-A99D-54A6-5B750DE9322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85377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37201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55E8-A661-6A8E-414C-999DAA95B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D1356-1FDC-9C94-8BB8-E89E4E4EC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8E1D2-E238-89FA-17AB-9818DDBFE2A0}"/>
              </a:ext>
            </a:extLst>
          </p:cNvPr>
          <p:cNvSpPr>
            <a:spLocks noGrp="1"/>
          </p:cNvSpPr>
          <p:nvPr>
            <p:ph type="body" idx="1"/>
          </p:nvPr>
        </p:nvSpPr>
        <p:spPr/>
        <p:txBody>
          <a:bodyPr/>
          <a:lstStyle/>
          <a:p>
            <a:r>
              <a:rPr dirty="0"/>
              <a:t>Round 1 (serial): ask a question, call on people one at a time for 90 sec. Count total speakers (≈3–4) and rough seconds of talk. • Round 2 (simultaneous): "everyone, both partners, answer for 90 sec." Now everyone talked ~60–90 sec at once. • Do the math out loud: serial ≈ 1 minute of total learner talk; simultaneous ≈ 25+ minutes of talk in the same 90 seconds.</a:t>
            </a:r>
          </a:p>
          <a:p>
            <a:endParaRPr dirty="0"/>
          </a:p>
          <a:p>
            <a:r>
              <a:rPr dirty="0"/>
              <a:t>Have someone count total number of speakers and seconds they speak.</a:t>
            </a:r>
          </a:p>
        </p:txBody>
      </p:sp>
      <p:sp>
        <p:nvSpPr>
          <p:cNvPr id="4" name="Slide Number Placeholder 3">
            <a:extLst>
              <a:ext uri="{FF2B5EF4-FFF2-40B4-BE49-F238E27FC236}">
                <a16:creationId xmlns:a16="http://schemas.microsoft.com/office/drawing/2014/main" id="{999E7F58-F2AE-1C55-B8E3-644000B83A5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96917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600" b="1" dirty="0" err="1"/>
              <a:t>zön</a:t>
            </a:r>
            <a:r>
              <a:rPr lang="en-US" sz="3600" b="1" dirty="0"/>
              <a:t> </a:t>
            </a:r>
            <a:r>
              <a:rPr lang="en-US" sz="3600" b="1" dirty="0" err="1"/>
              <a:t>sovin</a:t>
            </a:r>
            <a:r>
              <a:rPr lang="en-US" sz="3600" b="1" dirty="0"/>
              <a:t> = gut feeling</a:t>
            </a:r>
            <a:br>
              <a:rPr lang="en-US" sz="3600" b="1" dirty="0"/>
            </a:br>
            <a:br>
              <a:rPr lang="en-US" sz="3600" b="1" dirty="0"/>
            </a:br>
            <a:r>
              <a:rPr lang="en-US" sz="1600" dirty="0" err="1"/>
              <a:t>zön</a:t>
            </a:r>
            <a:r>
              <a:rPr lang="en-US" sz="1600" dirty="0"/>
              <a:t> </a:t>
            </a:r>
            <a:r>
              <a:rPr lang="en-US" sz="1600" dirty="0" err="1"/>
              <a:t>sovin</a:t>
            </a:r>
            <a:r>
              <a:rPr lang="en-US" sz="1600" dirty="0"/>
              <a:t> </a:t>
            </a:r>
            <a:r>
              <a:rPr lang="en-US" sz="1600" dirty="0" err="1"/>
              <a:t>tataad</a:t>
            </a:r>
            <a:r>
              <a:rPr lang="en-US" sz="1600" dirty="0"/>
              <a:t> </a:t>
            </a:r>
            <a:r>
              <a:rPr lang="en-US" sz="1600" dirty="0" err="1"/>
              <a:t>baina</a:t>
            </a:r>
            <a:endParaRPr lang="en-US" sz="1600" dirty="0"/>
          </a:p>
          <a:p>
            <a:endParaRPr lang="en-US" sz="1600" b="1" dirty="0"/>
          </a:p>
          <a:p>
            <a:r>
              <a:rPr lang="en-US" sz="1600" dirty="0" err="1"/>
              <a:t>minii</a:t>
            </a:r>
            <a:r>
              <a:rPr lang="en-US" sz="1600" dirty="0"/>
              <a:t> </a:t>
            </a:r>
            <a:r>
              <a:rPr lang="en-US" sz="1600" dirty="0" err="1"/>
              <a:t>zön</a:t>
            </a:r>
            <a:r>
              <a:rPr lang="en-US" sz="1600" dirty="0"/>
              <a:t> </a:t>
            </a:r>
            <a:r>
              <a:rPr lang="en-US" sz="1600" dirty="0" err="1"/>
              <a:t>sovin</a:t>
            </a:r>
            <a:r>
              <a:rPr lang="en-US" sz="1600" dirty="0"/>
              <a:t> </a:t>
            </a:r>
            <a:r>
              <a:rPr lang="en-US" sz="1600" dirty="0" err="1"/>
              <a:t>kheleed</a:t>
            </a:r>
            <a:r>
              <a:rPr lang="en-US" sz="1600" dirty="0"/>
              <a:t> </a:t>
            </a:r>
            <a:r>
              <a:rPr lang="en-US" sz="1600" dirty="0" err="1"/>
              <a:t>baina</a:t>
            </a:r>
            <a:endParaRPr lang="en-US" sz="1600" b="1"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68516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bridges the old hypothesis to current cognitive accounts: declarative → procedural knowledge through practice. • Tie back to any retrieval-practice session you've run: producing language is retrieval. Same engine.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spine of the talk. Everything later is a technique for turning up one or both dials. • "Pushed output" = output cranked on the Push dial. Swain's term means being stretched, not just talking more.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Pre-empt the misreading: this is not "abandon input and just have them chat." • Scaffolding matters — if you push without giving them frames/chunks, you raise anxiety and shut them down. (Nod to prior chunks session if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13375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Topic: "the best meal you've had recently." New partner each round. Compressed timing: 90 / 60 / 45 sec. • Speaker talks the whole time; listener only listens. Rotate listeners between rounds. • Debrief: by round 3 it's faster and smoother on less time. That's automatization you just felt.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Counter the old worry that repetition is boring — the changing partner and shrinking time keep it alive, and fluency visibly climbs. • Set up Demo 2: they'll feel their own fluency rise across three rounds.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B57EB-D34F-60C8-AF91-233C21C25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30923-7883-2ECF-E930-7105DE92E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BA381-3748-5121-923E-3B2EBBA64CD7}"/>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39462FA9-06CB-6565-D9EE-243589B0A36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633380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what separates "pushed output" from "just talk a lot." The second and third attempts are where you load the demand. • Reformulation is the lightest-weight push: you don't correct, you offer the upgrade and they reuse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what separates "pushed output" from "just talk a lot." The second and third attempts are where you load the demand. • Reformulation is the lightest-weight push: you don't correct, you offer the upgrade and they reuse it.</a:t>
            </a:r>
          </a:p>
          <a:p>
            <a:endParaRPr dirty="0"/>
          </a:p>
          <a:p>
            <a:r>
              <a:rPr dirty="0"/>
              <a:t>SYNONYMS</a:t>
            </a:r>
          </a:p>
          <a:p>
            <a:r>
              <a:rPr dirty="0"/>
              <a:t>FOOD NAMES</a:t>
            </a:r>
          </a:p>
          <a:p>
            <a:r>
              <a:rPr dirty="0"/>
              <a:t>ADJECTIVES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945749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A1A9C-3168-D3FC-423B-ED141A06E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653D0-1B4D-D881-7DEC-F6A3DD45E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D69A5-AC42-439E-ADEC-99AC545843EF}"/>
              </a:ext>
            </a:extLst>
          </p:cNvPr>
          <p:cNvSpPr>
            <a:spLocks noGrp="1"/>
          </p:cNvSpPr>
          <p:nvPr>
            <p:ph type="body" idx="1"/>
          </p:nvPr>
        </p:nvSpPr>
        <p:spPr/>
        <p:txBody>
          <a:bodyPr/>
          <a:lstStyle/>
          <a:p>
            <a:r>
              <a:rPr dirty="0"/>
              <a:t>Point teachers to the handout for self-review and the demo pack to run these with colleagues. • Thank the room; invite the one-move commitment again on the way out.</a:t>
            </a:r>
          </a:p>
        </p:txBody>
      </p:sp>
      <p:sp>
        <p:nvSpPr>
          <p:cNvPr id="4" name="Slide Number Placeholder 3">
            <a:extLst>
              <a:ext uri="{FF2B5EF4-FFF2-40B4-BE49-F238E27FC236}">
                <a16:creationId xmlns:a16="http://schemas.microsoft.com/office/drawing/2014/main" id="{77C43307-D010-E660-B713-79531F4929F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399836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Give them a concrete self-audit they can do alone, no observer needed. A phone timer or a tally works. • This converts a principle into a habit by giving teachers feedback on themselves.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throughline of all of these: shift seconds of talk from you to them. Your job becomes designing and pushing, not performing.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B48F-7E02-800F-9E7E-CD9E987E9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A2BDE-FC70-254F-770C-7CE1E03DB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6E339-2E14-5058-7C41-36187C99EAC3}"/>
              </a:ext>
            </a:extLst>
          </p:cNvPr>
          <p:cNvSpPr>
            <a:spLocks noGrp="1"/>
          </p:cNvSpPr>
          <p:nvPr>
            <p:ph type="body" idx="1"/>
          </p:nvPr>
        </p:nvSpPr>
        <p:spPr/>
        <p:txBody>
          <a:bodyPr/>
          <a:lstStyle/>
          <a:p>
            <a:r>
              <a:rPr dirty="0"/>
              <a:t>Point teachers to the handout for self-review and the demo pack to run these with colleagues. • Thank the room; invite the one-move commitment again on the way out.</a:t>
            </a:r>
          </a:p>
        </p:txBody>
      </p:sp>
      <p:sp>
        <p:nvSpPr>
          <p:cNvPr id="4" name="Slide Number Placeholder 3">
            <a:extLst>
              <a:ext uri="{FF2B5EF4-FFF2-40B4-BE49-F238E27FC236}">
                <a16:creationId xmlns:a16="http://schemas.microsoft.com/office/drawing/2014/main" id="{AB6D4DF2-40AF-30AC-E40B-0A555634AD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144340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Point teachers to the handout for self-review and the demo pack to run these with colleagues. • Thank the room; invite the one-move commitment again on the way 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79E8A-E481-AA76-8BD8-61392AE69A18}"/>
              </a:ext>
            </a:extLst>
          </p:cNvPr>
          <p:cNvSpPr>
            <a:spLocks noGrp="1"/>
          </p:cNvSpPr>
          <p:nvPr>
            <p:ph type="dt" idx="10"/>
          </p:nvPr>
        </p:nvSpPr>
        <p:spPr/>
        <p:txBody>
          <a:bodyPr/>
          <a:lstStyle/>
          <a:p>
            <a:fld id="{71E0D569-58AB-154E-B0E4-D605317E6105}" type="datetimeFigureOut">
              <a:t>10/7/26</a:t>
            </a:fld>
            <a:endParaRPr/>
          </a:p>
        </p:txBody>
      </p:sp>
      <p:sp>
        <p:nvSpPr>
          <p:cNvPr id="3" name="Footer Placeholder 2">
            <a:extLst>
              <a:ext uri="{FF2B5EF4-FFF2-40B4-BE49-F238E27FC236}">
                <a16:creationId xmlns:a16="http://schemas.microsoft.com/office/drawing/2014/main" id="{DCBCF1E3-CEB6-2E14-AF80-BED445339E4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0F02DFB-9239-F70E-69E7-080B843EA3B4}"/>
              </a:ext>
            </a:extLst>
          </p:cNvPr>
          <p:cNvSpPr>
            <a:spLocks noGrp="1"/>
          </p:cNvSpPr>
          <p:nvPr>
            <p:ph type="sldNum" idx="12"/>
          </p:nvPr>
        </p:nvSpPr>
        <p:spPr/>
        <p:txBody>
          <a:bodyPr/>
          <a:lstStyle/>
          <a:p>
            <a:fld id="{738F1A57-7897-4241-96CA-D3C7AD3C2A21}"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01" name="BYU swoosh" descr="BYU swoosh"/>
          <p:cNvPicPr>
            <a:picLocks noChangeAspect="1"/>
          </p:cNvPicPr>
          <p:nvPr userDrawn="1"/>
        </p:nvPicPr>
        <p:blipFill>
          <a:blip r:embed="rId4"/>
          <a:stretch>
            <a:fillRect/>
          </a:stretch>
        </p:blipFill>
        <p:spPr>
          <a:xfrm>
            <a:off x="0" y="4457700"/>
            <a:ext cx="9144000" cy="685800"/>
          </a:xfrm>
          <a:prstGeom prst="rect">
            <a:avLst/>
          </a:prstGeom>
        </p:spPr>
      </p:pic>
      <p:pic>
        <p:nvPicPr>
          <p:cNvPr id="902" name="BYU Linguistics logo" descr="BYU Linguistics logo"/>
          <p:cNvPicPr>
            <a:picLocks noChangeAspect="1"/>
          </p:cNvPicPr>
          <p:nvPr userDrawn="1"/>
        </p:nvPicPr>
        <p:blipFill>
          <a:blip r:embed="rId5"/>
          <a:stretch>
            <a:fillRect/>
          </a:stretch>
        </p:blipFill>
        <p:spPr>
          <a:xfrm>
            <a:off x="8313674" y="4732020"/>
            <a:ext cx="629157" cy="36576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30.png"/><Relationship Id="rId4" Type="http://schemas.openxmlformats.org/officeDocument/2006/relationships/customXml" Target="../ink/ink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4.gif"/></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9.jpeg"/></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7.svg"/><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4.gif"/></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46.png"/></Relationships>
</file>

<file path=ppt/slides/_rels/slide8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hyperlink" Target="mailto:ddewey@byu.edu" TargetMode="External"/><Relationship Id="rId7" Type="http://schemas.openxmlformats.org/officeDocument/2006/relationships/image" Target="../media/image60.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E5D"/>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10BA8CA2-2196-4C57-B835-ED89199EC1EB}"/>
              </a:ext>
            </a:extLst>
          </p:cNvPr>
          <p:cNvSpPr>
            <a:spLocks noGrp="1"/>
          </p:cNvSpPr>
          <p:nvPr/>
        </p:nvSpPr>
        <p:spPr>
          <a:xfrm>
            <a:off x="502920" y="502920"/>
            <a:ext cx="8229600" cy="274320"/>
          </a:xfrm>
          <a:prstGeom prst="rect">
            <a:avLst/>
          </a:prstGeom>
          <a:noFill/>
        </p:spPr>
        <p:txBody>
          <a:bodyPr wrap="square" lIns="0" tIns="0" rIns="0" bIns="0" anchor="ctr"/>
          <a:lstStyle/>
          <a:p>
            <a:pPr marL="0" indent="0" algn="l">
              <a:buNone/>
            </a:pPr>
            <a:r>
              <a:rPr sz="1200" b="1" spc="200" dirty="0">
                <a:solidFill>
                  <a:srgbClr val="BE965C"/>
                </a:solidFill>
                <a:latin typeface="Calibri"/>
                <a:ea typeface="Calibri"/>
                <a:cs typeface="Calibri"/>
              </a:rPr>
              <a:t>Dan Dewey · Brigham Young University</a:t>
            </a:r>
            <a:endParaRPr sz="1200" dirty="0"/>
          </a:p>
        </p:txBody>
      </p:sp>
      <p:sp>
        <p:nvSpPr>
          <p:cNvPr id="5" name="Text 3">
            <a:extLst>
              <a:ext uri="{FF2B5EF4-FFF2-40B4-BE49-F238E27FC236}">
                <a16:creationId xmlns:a16="http://schemas.microsoft.com/office/drawing/2014/main" id="{B2EBE380-1D0F-4439-B947-A8C1EF75EA43}"/>
              </a:ext>
            </a:extLst>
          </p:cNvPr>
          <p:cNvSpPr>
            <a:spLocks noGrp="1"/>
          </p:cNvSpPr>
          <p:nvPr/>
        </p:nvSpPr>
        <p:spPr>
          <a:xfrm>
            <a:off x="502920" y="1234440"/>
            <a:ext cx="5394960" cy="2396000"/>
          </a:xfrm>
          <a:prstGeom prst="rect">
            <a:avLst/>
          </a:prstGeom>
          <a:noFill/>
        </p:spPr>
        <p:txBody>
          <a:bodyPr wrap="square" lIns="0" tIns="0" rIns="0" bIns="0" anchor="ctr"/>
          <a:lstStyle/>
          <a:p>
            <a:pPr marL="0" indent="0" algn="l">
              <a:lnSpc>
                <a:spcPct val="98000"/>
              </a:lnSpc>
              <a:buNone/>
            </a:pPr>
            <a:r>
              <a:rPr sz="4600" b="1" dirty="0">
                <a:solidFill>
                  <a:srgbClr val="FFFFFF"/>
                </a:solidFill>
                <a:latin typeface="Calibri"/>
                <a:ea typeface="Calibri"/>
                <a:cs typeface="Calibri"/>
              </a:rPr>
              <a:t>Pushed Output</a:t>
            </a:r>
            <a:br>
              <a:rPr sz="4600" b="1" dirty="0">
                <a:solidFill>
                  <a:srgbClr val="FFFFFF"/>
                </a:solidFill>
                <a:latin typeface="Calibri"/>
                <a:ea typeface="Calibri"/>
                <a:cs typeface="Calibri"/>
              </a:rPr>
            </a:br>
            <a:r>
              <a:rPr sz="3200" b="1" dirty="0">
                <a:solidFill>
                  <a:srgbClr val="FFFFFF"/>
                </a:solidFill>
                <a:latin typeface="Calibri"/>
                <a:ea typeface="Calibri"/>
                <a:cs typeface="Calibri"/>
              </a:rPr>
              <a:t>Make every learner talk </a:t>
            </a:r>
          </a:p>
          <a:p>
            <a:pPr marL="0" indent="0" algn="l">
              <a:lnSpc>
                <a:spcPct val="98000"/>
              </a:lnSpc>
              <a:buNone/>
            </a:pPr>
            <a:r>
              <a:rPr sz="3200" b="1" dirty="0">
                <a:solidFill>
                  <a:srgbClr val="FFFFFF"/>
                </a:solidFill>
                <a:latin typeface="Calibri"/>
                <a:ea typeface="Calibri"/>
                <a:cs typeface="Calibri"/>
              </a:rPr>
              <a:t>And push them</a:t>
            </a:r>
          </a:p>
          <a:p>
            <a:pPr marL="0" indent="0" algn="l">
              <a:lnSpc>
                <a:spcPct val="98000"/>
              </a:lnSpc>
              <a:buNone/>
            </a:pPr>
            <a:r>
              <a:rPr sz="3200" b="1" dirty="0">
                <a:solidFill>
                  <a:srgbClr val="FFFFFF"/>
                </a:solidFill>
                <a:latin typeface="Calibri"/>
                <a:ea typeface="Calibri"/>
                <a:cs typeface="Calibri"/>
              </a:rPr>
              <a:t>But don’t overwhelm them</a:t>
            </a:r>
            <a:endParaRPr sz="4600" dirty="0"/>
          </a:p>
        </p:txBody>
      </p:sp>
      <p:sp>
        <p:nvSpPr>
          <p:cNvPr id="7" name="Text 5">
            <a:extLst>
              <a:ext uri="{FF2B5EF4-FFF2-40B4-BE49-F238E27FC236}">
                <a16:creationId xmlns:a16="http://schemas.microsoft.com/office/drawing/2014/main" id="{D7B92FCC-7E2F-4D19-B1AA-6F89D1FD1606}"/>
              </a:ext>
            </a:extLst>
          </p:cNvPr>
          <p:cNvSpPr>
            <a:spLocks noGrp="1"/>
          </p:cNvSpPr>
          <p:nvPr/>
        </p:nvSpPr>
        <p:spPr>
          <a:xfrm>
            <a:off x="502920" y="4617720"/>
            <a:ext cx="8229600" cy="320040"/>
          </a:xfrm>
          <a:prstGeom prst="rect">
            <a:avLst/>
          </a:prstGeom>
          <a:noFill/>
        </p:spPr>
        <p:txBody>
          <a:bodyPr wrap="square" lIns="0" tIns="0" rIns="0" bIns="0" anchor="ctr"/>
          <a:lstStyle/>
          <a:p>
            <a:pPr marL="0" indent="0" algn="l">
              <a:buNone/>
            </a:pPr>
            <a:endParaRPr sz="1100" dirty="0"/>
          </a:p>
        </p:txBody>
      </p:sp>
      <p:pic>
        <p:nvPicPr>
          <p:cNvPr id="951" name="BYU medallion" descr="BYU medallion"/>
          <p:cNvPicPr>
            <a:picLocks noChangeAspect="1"/>
          </p:cNvPicPr>
          <p:nvPr/>
        </p:nvPicPr>
        <p:blipFill>
          <a:blip r:embed="rId3"/>
          <a:stretch>
            <a:fillRect/>
          </a:stretch>
        </p:blipFill>
        <p:spPr>
          <a:xfrm>
            <a:off x="7325832" y="334926"/>
            <a:ext cx="1589567" cy="1589567"/>
          </a:xfrm>
          <a:prstGeom prst="rect">
            <a:avLst/>
          </a:prstGeom>
        </p:spPr>
      </p:pic>
      <p:pic>
        <p:nvPicPr>
          <p:cNvPr id="952" name="BYU Linguistics logo" descr="BYU Linguistics logo"/>
          <p:cNvPicPr>
            <a:picLocks noChangeAspect="1"/>
          </p:cNvPicPr>
          <p:nvPr/>
        </p:nvPicPr>
        <p:blipFill>
          <a:blip r:embed="rId4"/>
          <a:stretch>
            <a:fillRect/>
          </a:stretch>
        </p:blipFill>
        <p:spPr>
          <a:xfrm>
            <a:off x="7421526" y="4042174"/>
            <a:ext cx="1265274" cy="735566"/>
          </a:xfrm>
          <a:prstGeom prst="rect">
            <a:avLst/>
          </a:prstGeom>
        </p:spPr>
      </p:pic>
      <p:pic>
        <p:nvPicPr>
          <p:cNvPr id="2" name="Picture 1">
            <a:extLst>
              <a:ext uri="{FF2B5EF4-FFF2-40B4-BE49-F238E27FC236}">
                <a16:creationId xmlns:a16="http://schemas.microsoft.com/office/drawing/2014/main" id="{E4D178F6-7CC8-4652-7D92-9BD78FB863AF}"/>
              </a:ext>
            </a:extLst>
          </p:cNvPr>
          <p:cNvPicPr>
            <a:picLocks noChangeAspect="1"/>
          </p:cNvPicPr>
          <p:nvPr/>
        </p:nvPicPr>
        <p:blipFill>
          <a:blip r:embed="rId5"/>
          <a:stretch>
            <a:fillRect/>
          </a:stretch>
        </p:blipFill>
        <p:spPr>
          <a:xfrm>
            <a:off x="4381677" y="87719"/>
            <a:ext cx="2570421" cy="2570421"/>
          </a:xfrm>
          <a:prstGeom prst="rect">
            <a:avLst/>
          </a:prstGeom>
        </p:spPr>
      </p:pic>
    </p:spTree>
    <p:extLst>
      <p:ext uri="{BB962C8B-B14F-4D97-AF65-F5344CB8AC3E}">
        <p14:creationId xmlns:p14="http://schemas.microsoft.com/office/powerpoint/2010/main" val="1728384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eaching Your Child How To Ride A Bike">
            <a:extLst>
              <a:ext uri="{FF2B5EF4-FFF2-40B4-BE49-F238E27FC236}">
                <a16:creationId xmlns:a16="http://schemas.microsoft.com/office/drawing/2014/main" id="{1206392B-F790-13D3-BD3F-05F2B83E3376}"/>
              </a:ext>
            </a:extLst>
          </p:cNvPr>
          <p:cNvPicPr>
            <a:picLocks noChangeAspect="1"/>
          </p:cNvPicPr>
          <p:nvPr/>
        </p:nvPicPr>
        <p:blipFill>
          <a:blip r:embed="rId2"/>
          <a:stretch>
            <a:fillRect/>
          </a:stretch>
        </p:blipFill>
        <p:spPr>
          <a:xfrm>
            <a:off x="925974" y="576195"/>
            <a:ext cx="4317358" cy="3597798"/>
          </a:xfrm>
          <a:prstGeom prst="rect">
            <a:avLst/>
          </a:prstGeom>
        </p:spPr>
      </p:pic>
    </p:spTree>
    <p:extLst>
      <p:ext uri="{BB962C8B-B14F-4D97-AF65-F5344CB8AC3E}">
        <p14:creationId xmlns:p14="http://schemas.microsoft.com/office/powerpoint/2010/main" val="2380480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6274A-BD6B-158E-FC87-6C649220645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D73F00C-D415-11AC-8F8B-837D2697EBF0}"/>
              </a:ext>
            </a:extLst>
          </p:cNvPr>
          <p:cNvSpPr>
            <a:spLocks noGrp="1"/>
          </p:cNvSpPr>
          <p:nvPr/>
        </p:nvSpPr>
        <p:spPr>
          <a:xfrm>
            <a:off x="502919" y="713231"/>
            <a:ext cx="8439061" cy="3935771"/>
          </a:xfrm>
          <a:prstGeom prst="rect">
            <a:avLst/>
          </a:prstGeom>
          <a:noFill/>
          <a:ln w="0">
            <a:noFill/>
          </a:ln>
        </p:spPr>
        <p:txBody>
          <a:bodyPr/>
          <a:lstStyle/>
          <a:p>
            <a:pPr algn="l">
              <a:spcAft>
                <a:spcPts val="1200"/>
              </a:spcAft>
              <a:defRPr sz="3150" b="1" i="0">
                <a:solidFill>
                  <a:srgbClr val="002E5D"/>
                </a:solidFill>
                <a:latin typeface="Calibri"/>
                <a:ea typeface="Calibri"/>
                <a:cs typeface="Calibri"/>
              </a:defRPr>
            </a:pPr>
            <a:r>
              <a:rPr lang="en-US" sz="2800" b="1" i="0" dirty="0">
                <a:solidFill>
                  <a:srgbClr val="002E5D"/>
                </a:solidFill>
                <a:latin typeface="Calibri"/>
                <a:ea typeface="Calibri"/>
                <a:cs typeface="Calibri"/>
              </a:rPr>
              <a:t>Question 1: How much do your students speak in class?</a:t>
            </a:r>
          </a:p>
          <a:p>
            <a:pPr algn="l">
              <a:spcAft>
                <a:spcPts val="1200"/>
              </a:spcAft>
              <a:defRPr sz="3150" b="1" i="0">
                <a:solidFill>
                  <a:srgbClr val="002E5D"/>
                </a:solidFill>
                <a:latin typeface="Calibri"/>
                <a:ea typeface="Calibri"/>
                <a:cs typeface="Calibri"/>
              </a:defRPr>
            </a:pPr>
            <a:r>
              <a:rPr lang="en-US" sz="2800" b="1" dirty="0">
                <a:solidFill>
                  <a:srgbClr val="002E5D"/>
                </a:solidFill>
                <a:latin typeface="Calibri"/>
                <a:ea typeface="Calibri"/>
                <a:cs typeface="Calibri"/>
              </a:rPr>
              <a:t>Question 2: What makes speaking difficult for them?</a:t>
            </a:r>
          </a:p>
          <a:p>
            <a:pPr algn="l">
              <a:spcAft>
                <a:spcPts val="1200"/>
              </a:spcAft>
              <a:defRPr sz="3150" b="1" i="0">
                <a:solidFill>
                  <a:srgbClr val="002E5D"/>
                </a:solidFill>
                <a:latin typeface="Calibri"/>
                <a:ea typeface="Calibri"/>
                <a:cs typeface="Calibri"/>
              </a:defRPr>
            </a:pPr>
            <a:r>
              <a:rPr lang="en-US" sz="2800" b="1" dirty="0">
                <a:solidFill>
                  <a:srgbClr val="002E5D"/>
                </a:solidFill>
                <a:latin typeface="Calibri"/>
                <a:ea typeface="Calibri"/>
                <a:cs typeface="Calibri"/>
              </a:rPr>
              <a:t>Question 3: Is it possible for students to be speaking for 45 minutes in a 60 minute class period?</a:t>
            </a:r>
            <a:endParaRPr sz="2800" b="1" i="0" dirty="0">
              <a:solidFill>
                <a:srgbClr val="002E5D"/>
              </a:solidFill>
              <a:latin typeface="Calibri"/>
              <a:ea typeface="Calibri"/>
              <a:cs typeface="Calibri"/>
            </a:endParaRPr>
          </a:p>
        </p:txBody>
      </p:sp>
    </p:spTree>
    <p:extLst>
      <p:ext uri="{BB962C8B-B14F-4D97-AF65-F5344CB8AC3E}">
        <p14:creationId xmlns:p14="http://schemas.microsoft.com/office/powerpoint/2010/main" val="3191746131"/>
      </p:ext>
    </p:extLst>
  </p:cSld>
  <p:clrMapOvr>
    <a:masterClrMapping/>
  </p:clrMapOvr>
  <mc:AlternateContent xmlns:mc="http://schemas.openxmlformats.org/markup-compatibility/2006" xmlns:p14="http://schemas.microsoft.com/office/powerpoint/2010/main">
    <mc:Choice Requires="p14">
      <p:transition spd="slow" p14:dur="2000" advTm="120000"/>
    </mc:Choice>
    <mc:Fallback xmlns="">
      <p:transition spd="slow" advTm="12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4A57A-7B0D-26EE-1306-12966690DD1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75501FC-71BF-A7D9-2138-1AA884D4FA9E}"/>
              </a:ext>
            </a:extLst>
          </p:cNvPr>
          <p:cNvPicPr>
            <a:picLocks noChangeAspect="1"/>
          </p:cNvPicPr>
          <p:nvPr/>
        </p:nvPicPr>
        <p:blipFill>
          <a:blip r:embed="rId3"/>
          <a:stretch>
            <a:fillRect/>
          </a:stretch>
        </p:blipFill>
        <p:spPr>
          <a:xfrm>
            <a:off x="409354" y="193214"/>
            <a:ext cx="7772400" cy="4374299"/>
          </a:xfrm>
          <a:prstGeom prst="rect">
            <a:avLst/>
          </a:prstGeom>
        </p:spPr>
      </p:pic>
    </p:spTree>
    <p:extLst>
      <p:ext uri="{BB962C8B-B14F-4D97-AF65-F5344CB8AC3E}">
        <p14:creationId xmlns:p14="http://schemas.microsoft.com/office/powerpoint/2010/main" val="349312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D20760-F285-D30F-EE17-9B7A3B16ABCE}"/>
              </a:ext>
            </a:extLst>
          </p:cNvPr>
          <p:cNvPicPr>
            <a:picLocks noChangeAspect="1"/>
          </p:cNvPicPr>
          <p:nvPr/>
        </p:nvPicPr>
        <p:blipFill>
          <a:blip r:embed="rId2"/>
          <a:stretch>
            <a:fillRect/>
          </a:stretch>
        </p:blipFill>
        <p:spPr>
          <a:xfrm>
            <a:off x="1143000" y="0"/>
            <a:ext cx="5991447" cy="4493585"/>
          </a:xfrm>
          <a:prstGeom prst="rect">
            <a:avLst/>
          </a:prstGeom>
        </p:spPr>
      </p:pic>
    </p:spTree>
    <p:extLst>
      <p:ext uri="{BB962C8B-B14F-4D97-AF65-F5344CB8AC3E}">
        <p14:creationId xmlns:p14="http://schemas.microsoft.com/office/powerpoint/2010/main" val="197000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4CE742-2543-514B-E58F-9E119A75FDB1}"/>
              </a:ext>
            </a:extLst>
          </p:cNvPr>
          <p:cNvPicPr>
            <a:picLocks noChangeAspect="1"/>
          </p:cNvPicPr>
          <p:nvPr/>
        </p:nvPicPr>
        <p:blipFill>
          <a:blip r:embed="rId2"/>
          <a:stretch>
            <a:fillRect/>
          </a:stretch>
        </p:blipFill>
        <p:spPr>
          <a:xfrm>
            <a:off x="2000250" y="0"/>
            <a:ext cx="5143500" cy="5143500"/>
          </a:xfrm>
          <a:prstGeom prst="rect">
            <a:avLst/>
          </a:prstGeom>
        </p:spPr>
      </p:pic>
      <p:sp>
        <p:nvSpPr>
          <p:cNvPr id="4" name="TextBox 3">
            <a:extLst>
              <a:ext uri="{FF2B5EF4-FFF2-40B4-BE49-F238E27FC236}">
                <a16:creationId xmlns:a16="http://schemas.microsoft.com/office/drawing/2014/main" id="{BBC15DD8-C1AF-F486-0ED3-9C75FE0BBEBD}"/>
              </a:ext>
            </a:extLst>
          </p:cNvPr>
          <p:cNvSpPr txBox="1"/>
          <p:nvPr/>
        </p:nvSpPr>
        <p:spPr>
          <a:xfrm>
            <a:off x="308345" y="308345"/>
            <a:ext cx="2016578" cy="646331"/>
          </a:xfrm>
          <a:prstGeom prst="rect">
            <a:avLst/>
          </a:prstGeom>
          <a:noFill/>
        </p:spPr>
        <p:txBody>
          <a:bodyPr wrap="none" rtlCol="0">
            <a:spAutoFit/>
          </a:bodyPr>
          <a:lstStyle/>
          <a:p>
            <a:r>
              <a:rPr lang="en-US" dirty="0"/>
              <a:t>Repetitions (Reps)</a:t>
            </a:r>
          </a:p>
          <a:p>
            <a:r>
              <a:rPr lang="en-US" dirty="0"/>
              <a:t>Hard lifts-the push</a:t>
            </a:r>
          </a:p>
        </p:txBody>
      </p:sp>
    </p:spTree>
    <p:extLst>
      <p:ext uri="{BB962C8B-B14F-4D97-AF65-F5344CB8AC3E}">
        <p14:creationId xmlns:p14="http://schemas.microsoft.com/office/powerpoint/2010/main" val="2942135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B40A14-0C44-AAF8-5623-04523DF6B294}"/>
              </a:ext>
            </a:extLst>
          </p:cNvPr>
          <p:cNvPicPr>
            <a:picLocks noChangeAspect="1"/>
          </p:cNvPicPr>
          <p:nvPr/>
        </p:nvPicPr>
        <p:blipFill>
          <a:blip r:embed="rId2"/>
          <a:stretch>
            <a:fillRect/>
          </a:stretch>
        </p:blipFill>
        <p:spPr>
          <a:xfrm>
            <a:off x="2000250" y="0"/>
            <a:ext cx="5143500" cy="5143500"/>
          </a:xfrm>
          <a:prstGeom prst="rect">
            <a:avLst/>
          </a:prstGeom>
        </p:spPr>
      </p:pic>
      <p:pic>
        <p:nvPicPr>
          <p:cNvPr id="3" name="Picture 2">
            <a:extLst>
              <a:ext uri="{FF2B5EF4-FFF2-40B4-BE49-F238E27FC236}">
                <a16:creationId xmlns:a16="http://schemas.microsoft.com/office/drawing/2014/main" id="{4B46AB29-64DE-0793-A896-160E990BAA2D}"/>
              </a:ext>
            </a:extLst>
          </p:cNvPr>
          <p:cNvPicPr>
            <a:picLocks noChangeAspect="1"/>
          </p:cNvPicPr>
          <p:nvPr/>
        </p:nvPicPr>
        <p:blipFill>
          <a:blip r:embed="rId3"/>
          <a:stretch>
            <a:fillRect/>
          </a:stretch>
        </p:blipFill>
        <p:spPr>
          <a:xfrm>
            <a:off x="3104706" y="-952944"/>
            <a:ext cx="6347638" cy="6347638"/>
          </a:xfrm>
          <a:prstGeom prst="rect">
            <a:avLst/>
          </a:prstGeom>
        </p:spPr>
      </p:pic>
    </p:spTree>
    <p:extLst>
      <p:ext uri="{BB962C8B-B14F-4D97-AF65-F5344CB8AC3E}">
        <p14:creationId xmlns:p14="http://schemas.microsoft.com/office/powerpoint/2010/main" val="3300391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4AB1-812C-6F93-AF17-34499A19A36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3C860E-6EBF-2F90-D6DE-0AAF21A3D210}"/>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AN HONEST QUESTION</a:t>
            </a:r>
            <a:endParaRPr sz="1200"/>
          </a:p>
        </p:txBody>
      </p:sp>
      <p:sp>
        <p:nvSpPr>
          <p:cNvPr id="3" name="Text 1">
            <a:extLst>
              <a:ext uri="{FF2B5EF4-FFF2-40B4-BE49-F238E27FC236}">
                <a16:creationId xmlns:a16="http://schemas.microsoft.com/office/drawing/2014/main" id="{5266606F-D49D-2680-72AA-7E624C77E6CC}"/>
              </a:ext>
            </a:extLst>
          </p:cNvPr>
          <p:cNvSpPr>
            <a:spLocks noGrp="1"/>
          </p:cNvSpPr>
          <p:nvPr/>
        </p:nvSpPr>
        <p:spPr>
          <a:xfrm>
            <a:off x="598612" y="787661"/>
            <a:ext cx="7705415" cy="2242618"/>
          </a:xfrm>
          <a:prstGeom prst="rect">
            <a:avLst/>
          </a:prstGeom>
          <a:noFill/>
        </p:spPr>
        <p:txBody>
          <a:bodyPr wrap="square" lIns="0" tIns="0" rIns="0" bIns="0" anchor="t"/>
          <a:lstStyle/>
          <a:p>
            <a:pPr marL="0" indent="0" algn="l">
              <a:buNone/>
            </a:pPr>
            <a:r>
              <a:rPr lang="en-US" sz="4000" b="1" dirty="0">
                <a:solidFill>
                  <a:srgbClr val="002E5D"/>
                </a:solidFill>
                <a:latin typeface="Calibri"/>
                <a:ea typeface="Calibri"/>
                <a:cs typeface="Calibri"/>
              </a:rPr>
              <a:t>CLASSROOM TIME:</a:t>
            </a:r>
            <a:br>
              <a:rPr lang="en-US" sz="4000" b="1" dirty="0">
                <a:solidFill>
                  <a:srgbClr val="002E5D"/>
                </a:solidFill>
                <a:latin typeface="Calibri"/>
                <a:ea typeface="Calibri"/>
                <a:cs typeface="Calibri"/>
              </a:rPr>
            </a:br>
            <a:r>
              <a:rPr sz="4000" b="1" dirty="0">
                <a:solidFill>
                  <a:srgbClr val="002E5D"/>
                </a:solidFill>
                <a:latin typeface="Calibri"/>
                <a:ea typeface="Calibri"/>
                <a:cs typeface="Calibri"/>
              </a:rPr>
              <a:t>In your last class, how many seconds did your quietest student speak?</a:t>
            </a:r>
            <a:endParaRPr lang="en-US" sz="4000" b="1" dirty="0">
              <a:solidFill>
                <a:srgbClr val="002E5D"/>
              </a:solidFill>
              <a:latin typeface="Calibri"/>
              <a:ea typeface="Calibri"/>
              <a:cs typeface="Calibri"/>
            </a:endParaRPr>
          </a:p>
          <a:p>
            <a:r>
              <a:rPr lang="az-Cyrl-AZ" sz="3200" dirty="0"/>
              <a:t>Өмнөх хичээлийн цагт танай ангийн хамгийн дуу цөөтэй сурагч хэдэн секунд ярьсан бэ?</a:t>
            </a:r>
            <a:endParaRPr sz="3200" dirty="0"/>
          </a:p>
        </p:txBody>
      </p:sp>
    </p:spTree>
    <p:extLst>
      <p:ext uri="{BB962C8B-B14F-4D97-AF65-F5344CB8AC3E}">
        <p14:creationId xmlns:p14="http://schemas.microsoft.com/office/powerpoint/2010/main" val="3801351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13B2CC2-F8C4-4CE3-9228-7B396C99621B}"/>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AN HONEST QUESTION</a:t>
            </a:r>
            <a:endParaRPr sz="1200"/>
          </a:p>
        </p:txBody>
      </p:sp>
      <p:sp>
        <p:nvSpPr>
          <p:cNvPr id="3" name="Text 1">
            <a:extLst>
              <a:ext uri="{FF2B5EF4-FFF2-40B4-BE49-F238E27FC236}">
                <a16:creationId xmlns:a16="http://schemas.microsoft.com/office/drawing/2014/main" id="{D7E6A618-4E76-4CC2-9F76-E954F2F97412}"/>
              </a:ext>
            </a:extLst>
          </p:cNvPr>
          <p:cNvSpPr>
            <a:spLocks noGrp="1"/>
          </p:cNvSpPr>
          <p:nvPr/>
        </p:nvSpPr>
        <p:spPr>
          <a:xfrm>
            <a:off x="502920" y="713232"/>
            <a:ext cx="5074920" cy="2194560"/>
          </a:xfrm>
          <a:prstGeom prst="rect">
            <a:avLst/>
          </a:prstGeom>
          <a:noFill/>
        </p:spPr>
        <p:txBody>
          <a:bodyPr wrap="square" lIns="0" tIns="0" rIns="0" bIns="0" anchor="t"/>
          <a:lstStyle/>
          <a:p>
            <a:pPr marL="0" indent="0" algn="l">
              <a:buNone/>
            </a:pPr>
            <a:r>
              <a:rPr sz="3000" b="1" dirty="0">
                <a:solidFill>
                  <a:srgbClr val="002E5D"/>
                </a:solidFill>
                <a:latin typeface="Calibri"/>
                <a:ea typeface="Calibri"/>
                <a:cs typeface="Calibri"/>
              </a:rPr>
              <a:t>In your last class, how many seconds did your quietest student speak?</a:t>
            </a:r>
            <a:endParaRPr sz="3000" dirty="0"/>
          </a:p>
        </p:txBody>
      </p:sp>
      <p:sp>
        <p:nvSpPr>
          <p:cNvPr id="5" name="Shape 3">
            <a:extLst>
              <a:ext uri="{FF2B5EF4-FFF2-40B4-BE49-F238E27FC236}">
                <a16:creationId xmlns:a16="http://schemas.microsoft.com/office/drawing/2014/main" id="{FCF0ECC2-532D-4327-ADCA-6A6AAB4EAA7C}"/>
              </a:ext>
            </a:extLst>
          </p:cNvPr>
          <p:cNvSpPr>
            <a:spLocks noGrp="1"/>
          </p:cNvSpPr>
          <p:nvPr/>
        </p:nvSpPr>
        <p:spPr>
          <a:xfrm>
            <a:off x="5989320" y="1417320"/>
            <a:ext cx="2651760" cy="2651760"/>
          </a:xfrm>
          <a:prstGeom prst="rect">
            <a:avLst/>
          </a:prstGeom>
          <a:solidFill>
            <a:srgbClr val="EEF1F5"/>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Text 4">
            <a:extLst>
              <a:ext uri="{FF2B5EF4-FFF2-40B4-BE49-F238E27FC236}">
                <a16:creationId xmlns:a16="http://schemas.microsoft.com/office/drawing/2014/main" id="{3585A395-64AB-481C-974A-D0E7E02DC4C7}"/>
              </a:ext>
            </a:extLst>
          </p:cNvPr>
          <p:cNvSpPr>
            <a:spLocks noGrp="1"/>
          </p:cNvSpPr>
          <p:nvPr/>
        </p:nvSpPr>
        <p:spPr>
          <a:xfrm>
            <a:off x="5989320" y="1783080"/>
            <a:ext cx="2651760" cy="1280160"/>
          </a:xfrm>
          <a:prstGeom prst="rect">
            <a:avLst/>
          </a:prstGeom>
          <a:noFill/>
        </p:spPr>
        <p:txBody>
          <a:bodyPr wrap="square" lIns="0" tIns="0" rIns="0" bIns="0" anchor="ctr"/>
          <a:lstStyle/>
          <a:p>
            <a:pPr marL="0" indent="0" algn="ctr">
              <a:buNone/>
            </a:pPr>
            <a:r>
              <a:rPr sz="6000" b="1">
                <a:solidFill>
                  <a:srgbClr val="0062B8"/>
                </a:solidFill>
                <a:latin typeface="Calibri"/>
                <a:ea typeface="Calibri"/>
                <a:cs typeface="Calibri"/>
              </a:rPr>
              <a:t>≈ 0</a:t>
            </a:r>
            <a:endParaRPr sz="6000"/>
          </a:p>
        </p:txBody>
      </p:sp>
      <p:sp>
        <p:nvSpPr>
          <p:cNvPr id="7" name="Text 5">
            <a:extLst>
              <a:ext uri="{FF2B5EF4-FFF2-40B4-BE49-F238E27FC236}">
                <a16:creationId xmlns:a16="http://schemas.microsoft.com/office/drawing/2014/main" id="{1E0A78CB-611D-4354-9F59-F077C9A9B094}"/>
              </a:ext>
            </a:extLst>
          </p:cNvPr>
          <p:cNvSpPr>
            <a:spLocks noGrp="1"/>
          </p:cNvSpPr>
          <p:nvPr/>
        </p:nvSpPr>
        <p:spPr>
          <a:xfrm>
            <a:off x="6126480" y="2971800"/>
            <a:ext cx="2377440" cy="914400"/>
          </a:xfrm>
          <a:prstGeom prst="rect">
            <a:avLst/>
          </a:prstGeom>
          <a:noFill/>
        </p:spPr>
        <p:txBody>
          <a:bodyPr wrap="square" lIns="0" tIns="0" rIns="0" bIns="0" anchor="t"/>
          <a:lstStyle/>
          <a:p>
            <a:pPr marL="0" indent="0" algn="ctr">
              <a:buNone/>
            </a:pPr>
            <a:r>
              <a:rPr sz="1300">
                <a:solidFill>
                  <a:srgbClr val="1F2937"/>
                </a:solidFill>
                <a:latin typeface="Cambria"/>
                <a:ea typeface="Cambria"/>
                <a:cs typeface="Cambria"/>
              </a:rPr>
              <a:t>seconds of English</a:t>
            </a:r>
            <a:endParaRPr sz="1300"/>
          </a:p>
          <a:p>
            <a:pPr marL="0" indent="0" algn="ctr">
              <a:buNone/>
            </a:pPr>
            <a:r>
              <a:rPr sz="1300">
                <a:solidFill>
                  <a:srgbClr val="1F2937"/>
                </a:solidFill>
                <a:latin typeface="Cambria"/>
                <a:ea typeface="Cambria"/>
                <a:cs typeface="Cambria"/>
              </a:rPr>
              <a:t>the quiet student </a:t>
            </a:r>
          </a:p>
          <a:p>
            <a:pPr marL="0" indent="0" algn="ctr">
              <a:buNone/>
            </a:pPr>
            <a:r>
              <a:rPr sz="1300">
                <a:solidFill>
                  <a:srgbClr val="1F2937"/>
                </a:solidFill>
                <a:latin typeface="Cambria"/>
                <a:ea typeface="Cambria"/>
                <a:cs typeface="Cambria"/>
              </a:rPr>
              <a:t>often produces</a:t>
            </a:r>
          </a:p>
          <a:p>
            <a:pPr marL="0" indent="0" algn="ctr">
              <a:buNone/>
            </a:pPr>
            <a:r>
              <a:rPr sz="1300">
                <a:solidFill>
                  <a:srgbClr val="1F2937"/>
                </a:solidFill>
                <a:latin typeface="Cambria"/>
                <a:ea typeface="Cambria"/>
                <a:cs typeface="Cambria"/>
              </a:rPr>
              <a:t>NOTHING</a:t>
            </a:r>
            <a:endParaRPr sz="1300"/>
          </a:p>
        </p:txBody>
      </p:sp>
    </p:spTree>
    <p:extLst>
      <p:ext uri="{BB962C8B-B14F-4D97-AF65-F5344CB8AC3E}">
        <p14:creationId xmlns:p14="http://schemas.microsoft.com/office/powerpoint/2010/main" val="3733081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2CC8BE-ECC2-468E-87CB-4F65F685B727}"/>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WHAT THE RESEARCH SAYS</a:t>
            </a:r>
          </a:p>
        </p:txBody>
      </p:sp>
      <p:sp>
        <p:nvSpPr>
          <p:cNvPr id="3" name="Rectangle 2">
            <a:extLst>
              <a:ext uri="{FF2B5EF4-FFF2-40B4-BE49-F238E27FC236}">
                <a16:creationId xmlns:a16="http://schemas.microsoft.com/office/drawing/2014/main" id="{AA92C5DC-6F69-4BE9-ABD9-9555590E4CA4}"/>
              </a:ext>
            </a:extLst>
          </p:cNvPr>
          <p:cNvSpPr>
            <a:spLocks noGrp="1"/>
          </p:cNvSpPr>
          <p:nvPr/>
        </p:nvSpPr>
        <p:spPr>
          <a:xfrm>
            <a:off x="502920" y="583795"/>
            <a:ext cx="7981861" cy="840486"/>
          </a:xfrm>
          <a:prstGeom prst="rect">
            <a:avLst/>
          </a:prstGeom>
          <a:noFill/>
          <a:ln w="0">
            <a:noFill/>
          </a:ln>
        </p:spPr>
        <p:txBody>
          <a:bodyPr/>
          <a:lstStyle/>
          <a:p>
            <a:pPr algn="l">
              <a:defRPr sz="3150" b="1" i="0">
                <a:solidFill>
                  <a:srgbClr val="002E5D"/>
                </a:solidFill>
                <a:latin typeface="Calibri"/>
                <a:ea typeface="Calibri"/>
                <a:cs typeface="Calibri"/>
              </a:defRPr>
            </a:pPr>
            <a:r>
              <a:rPr sz="2800" b="1" i="0" dirty="0">
                <a:solidFill>
                  <a:srgbClr val="002E5D"/>
                </a:solidFill>
                <a:latin typeface="Calibri"/>
                <a:ea typeface="Calibri"/>
                <a:cs typeface="Calibri"/>
              </a:rPr>
              <a:t>Research shows that speaking </a:t>
            </a:r>
            <a:r>
              <a:rPr lang="en-US" sz="2800" b="1" i="0" dirty="0">
                <a:solidFill>
                  <a:srgbClr val="002E5D"/>
                </a:solidFill>
                <a:latin typeface="Calibri"/>
                <a:ea typeface="Calibri"/>
                <a:cs typeface="Calibri"/>
              </a:rPr>
              <a:t>leads to</a:t>
            </a:r>
            <a:r>
              <a:rPr sz="2800" b="1" i="0" dirty="0">
                <a:solidFill>
                  <a:srgbClr val="002E5D"/>
                </a:solidFill>
                <a:latin typeface="Calibri"/>
                <a:ea typeface="Calibri"/>
                <a:cs typeface="Calibri"/>
              </a:rPr>
              <a:t> learning</a:t>
            </a:r>
            <a:endParaRPr lang="en-US" sz="2800" b="1" i="0" dirty="0">
              <a:solidFill>
                <a:srgbClr val="002E5D"/>
              </a:solidFill>
              <a:latin typeface="Calibri"/>
              <a:ea typeface="Calibri"/>
              <a:cs typeface="Calibri"/>
            </a:endParaRPr>
          </a:p>
          <a:p>
            <a:pPr algn="l">
              <a:defRPr sz="3150" b="1" i="0">
                <a:solidFill>
                  <a:srgbClr val="002E5D"/>
                </a:solidFill>
                <a:latin typeface="Calibri"/>
                <a:ea typeface="Calibri"/>
                <a:cs typeface="Calibri"/>
              </a:defRPr>
            </a:pPr>
            <a:r>
              <a:rPr lang="en-US" sz="2800" b="1" dirty="0">
                <a:solidFill>
                  <a:srgbClr val="002E5D"/>
                </a:solidFill>
                <a:latin typeface="Calibri"/>
                <a:ea typeface="Calibri"/>
                <a:cs typeface="Calibri"/>
              </a:rPr>
              <a:t>Listening alone is not enough.</a:t>
            </a:r>
            <a:endParaRPr sz="2800" b="1" i="0" dirty="0">
              <a:solidFill>
                <a:srgbClr val="002E5D"/>
              </a:solidFill>
              <a:latin typeface="Calibri"/>
              <a:ea typeface="Calibri"/>
              <a:cs typeface="Calibri"/>
            </a:endParaRPr>
          </a:p>
        </p:txBody>
      </p:sp>
      <p:sp>
        <p:nvSpPr>
          <p:cNvPr id="5" name="Rectangle 4">
            <a:extLst>
              <a:ext uri="{FF2B5EF4-FFF2-40B4-BE49-F238E27FC236}">
                <a16:creationId xmlns:a16="http://schemas.microsoft.com/office/drawing/2014/main" id="{D886C97C-8C08-4A4C-ADC2-ADC3121FD768}"/>
              </a:ext>
            </a:extLst>
          </p:cNvPr>
          <p:cNvSpPr>
            <a:spLocks noGrp="1"/>
          </p:cNvSpPr>
          <p:nvPr/>
        </p:nvSpPr>
        <p:spPr>
          <a:xfrm>
            <a:off x="502920" y="1901791"/>
            <a:ext cx="2400300" cy="1952625"/>
          </a:xfrm>
          <a:prstGeom prst="rect">
            <a:avLst/>
          </a:prstGeom>
          <a:solidFill>
            <a:srgbClr val="E6EFF9"/>
          </a:solidFill>
          <a:ln w="12700">
            <a:solidFill>
              <a:srgbClr val="002E5D"/>
            </a:solidFill>
          </a:ln>
        </p:spPr>
        <p:txBody>
          <a:bodyPr/>
          <a:lstStyle/>
          <a:p>
            <a:endParaRPr lang="en-US"/>
          </a:p>
        </p:txBody>
      </p:sp>
      <p:sp>
        <p:nvSpPr>
          <p:cNvPr id="6" name="Oval 5">
            <a:extLst>
              <a:ext uri="{FF2B5EF4-FFF2-40B4-BE49-F238E27FC236}">
                <a16:creationId xmlns:a16="http://schemas.microsoft.com/office/drawing/2014/main" id="{657C74BF-999D-448F-952B-49B714ECC469}"/>
              </a:ext>
            </a:extLst>
          </p:cNvPr>
          <p:cNvSpPr>
            <a:spLocks noGrp="1"/>
          </p:cNvSpPr>
          <p:nvPr/>
        </p:nvSpPr>
        <p:spPr>
          <a:xfrm>
            <a:off x="723900" y="2130391"/>
            <a:ext cx="495300" cy="495300"/>
          </a:xfrm>
          <a:prstGeom prst="ellipse">
            <a:avLst/>
          </a:prstGeom>
          <a:solidFill>
            <a:srgbClr val="0062B8"/>
          </a:solidFill>
          <a:ln w="12700">
            <a:solidFill>
              <a:srgbClr val="002E5D"/>
            </a:solidFill>
          </a:ln>
        </p:spPr>
        <p:txBody>
          <a:bodyPr/>
          <a:lstStyle/>
          <a:p>
            <a:endParaRPr lang="en-US"/>
          </a:p>
        </p:txBody>
      </p:sp>
      <p:sp>
        <p:nvSpPr>
          <p:cNvPr id="7" name="Rectangle 6">
            <a:extLst>
              <a:ext uri="{FF2B5EF4-FFF2-40B4-BE49-F238E27FC236}">
                <a16:creationId xmlns:a16="http://schemas.microsoft.com/office/drawing/2014/main" id="{06382C52-9661-4544-B455-F49D203CE646}"/>
              </a:ext>
            </a:extLst>
          </p:cNvPr>
          <p:cNvSpPr>
            <a:spLocks noGrp="1"/>
          </p:cNvSpPr>
          <p:nvPr/>
        </p:nvSpPr>
        <p:spPr>
          <a:xfrm>
            <a:off x="723900" y="2216116"/>
            <a:ext cx="495300" cy="285750"/>
          </a:xfrm>
          <a:prstGeom prst="rect">
            <a:avLst/>
          </a:prstGeom>
          <a:noFill/>
          <a:ln w="0">
            <a:noFill/>
          </a:ln>
        </p:spPr>
        <p:txBody>
          <a:bodyPr/>
          <a:lstStyle/>
          <a:p>
            <a:pPr algn="ctr">
              <a:defRPr sz="1200" b="1" i="0">
                <a:solidFill>
                  <a:srgbClr val="FFFFFF"/>
                </a:solidFill>
                <a:latin typeface="Calibri"/>
                <a:ea typeface="Calibri"/>
                <a:cs typeface="Calibri"/>
              </a:defRPr>
            </a:pPr>
            <a:r>
              <a:rPr sz="1200" b="1" i="0">
                <a:solidFill>
                  <a:srgbClr val="FFFFFF"/>
                </a:solidFill>
                <a:latin typeface="Calibri"/>
                <a:ea typeface="Calibri"/>
                <a:cs typeface="Calibri"/>
              </a:rPr>
              <a:t>01</a:t>
            </a:r>
          </a:p>
        </p:txBody>
      </p:sp>
      <p:sp>
        <p:nvSpPr>
          <p:cNvPr id="8" name="Rectangle 7">
            <a:extLst>
              <a:ext uri="{FF2B5EF4-FFF2-40B4-BE49-F238E27FC236}">
                <a16:creationId xmlns:a16="http://schemas.microsoft.com/office/drawing/2014/main" id="{37953C0F-21B4-4150-8A26-67788912A08B}"/>
              </a:ext>
            </a:extLst>
          </p:cNvPr>
          <p:cNvSpPr>
            <a:spLocks noGrp="1"/>
          </p:cNvSpPr>
          <p:nvPr/>
        </p:nvSpPr>
        <p:spPr>
          <a:xfrm>
            <a:off x="723900" y="2797141"/>
            <a:ext cx="1885950" cy="457200"/>
          </a:xfrm>
          <a:prstGeom prst="rect">
            <a:avLst/>
          </a:prstGeom>
          <a:noFill/>
          <a:ln w="0">
            <a:noFill/>
          </a:ln>
        </p:spPr>
        <p:txBody>
          <a:bodyPr/>
          <a:lstStyle/>
          <a:p>
            <a:pPr algn="l">
              <a:defRPr sz="1450" b="1" i="0">
                <a:solidFill>
                  <a:srgbClr val="1F2937"/>
                </a:solidFill>
                <a:latin typeface="Calibri"/>
                <a:ea typeface="Calibri"/>
                <a:cs typeface="Calibri"/>
              </a:defRPr>
            </a:pPr>
            <a:r>
              <a:rPr sz="1450" b="1" i="0" dirty="0">
                <a:solidFill>
                  <a:srgbClr val="1F2937"/>
                </a:solidFill>
                <a:latin typeface="Calibri"/>
                <a:ea typeface="Calibri"/>
                <a:cs typeface="Calibri"/>
              </a:rPr>
              <a:t>Speaking practice</a:t>
            </a:r>
            <a:r>
              <a:rPr lang="en-US" sz="1450" b="1" i="0" dirty="0">
                <a:solidFill>
                  <a:srgbClr val="1F2937"/>
                </a:solidFill>
                <a:latin typeface="Calibri"/>
                <a:ea typeface="Calibri"/>
                <a:cs typeface="Calibri"/>
              </a:rPr>
              <a:t> leads to gains-reps</a:t>
            </a:r>
            <a:endParaRPr sz="1450" b="1" i="0" dirty="0">
              <a:solidFill>
                <a:srgbClr val="1F2937"/>
              </a:solidFill>
              <a:latin typeface="Calibri"/>
              <a:ea typeface="Calibri"/>
              <a:cs typeface="Calibri"/>
            </a:endParaRPr>
          </a:p>
        </p:txBody>
      </p:sp>
      <p:sp>
        <p:nvSpPr>
          <p:cNvPr id="10" name="Rectangle 9">
            <a:extLst>
              <a:ext uri="{FF2B5EF4-FFF2-40B4-BE49-F238E27FC236}">
                <a16:creationId xmlns:a16="http://schemas.microsoft.com/office/drawing/2014/main" id="{41B20A88-8C40-4E9B-B494-1680AB5CF234}"/>
              </a:ext>
            </a:extLst>
          </p:cNvPr>
          <p:cNvSpPr>
            <a:spLocks noGrp="1"/>
          </p:cNvSpPr>
          <p:nvPr/>
        </p:nvSpPr>
        <p:spPr>
          <a:xfrm>
            <a:off x="3143250" y="1901791"/>
            <a:ext cx="2400300" cy="1952625"/>
          </a:xfrm>
          <a:prstGeom prst="rect">
            <a:avLst/>
          </a:prstGeom>
          <a:solidFill>
            <a:srgbClr val="EEF1F5"/>
          </a:solidFill>
          <a:ln w="12700">
            <a:solidFill>
              <a:srgbClr val="002E5D"/>
            </a:solidFill>
          </a:ln>
        </p:spPr>
        <p:txBody>
          <a:bodyPr/>
          <a:lstStyle/>
          <a:p>
            <a:endParaRPr lang="en-US"/>
          </a:p>
        </p:txBody>
      </p:sp>
      <p:sp>
        <p:nvSpPr>
          <p:cNvPr id="11" name="Oval 10">
            <a:extLst>
              <a:ext uri="{FF2B5EF4-FFF2-40B4-BE49-F238E27FC236}">
                <a16:creationId xmlns:a16="http://schemas.microsoft.com/office/drawing/2014/main" id="{182FEFA2-9ECB-47CE-A113-3E3212B7730C}"/>
              </a:ext>
            </a:extLst>
          </p:cNvPr>
          <p:cNvSpPr>
            <a:spLocks noGrp="1"/>
          </p:cNvSpPr>
          <p:nvPr/>
        </p:nvSpPr>
        <p:spPr>
          <a:xfrm>
            <a:off x="3362325" y="2130391"/>
            <a:ext cx="495300" cy="495300"/>
          </a:xfrm>
          <a:prstGeom prst="ellipse">
            <a:avLst/>
          </a:prstGeom>
          <a:solidFill>
            <a:srgbClr val="002E5D"/>
          </a:solidFill>
          <a:ln w="12700">
            <a:solidFill>
              <a:srgbClr val="002E5D"/>
            </a:solidFill>
          </a:ln>
        </p:spPr>
        <p:txBody>
          <a:bodyPr/>
          <a:lstStyle/>
          <a:p>
            <a:endParaRPr lang="en-US"/>
          </a:p>
        </p:txBody>
      </p:sp>
      <p:sp>
        <p:nvSpPr>
          <p:cNvPr id="12" name="Rectangle 11">
            <a:extLst>
              <a:ext uri="{FF2B5EF4-FFF2-40B4-BE49-F238E27FC236}">
                <a16:creationId xmlns:a16="http://schemas.microsoft.com/office/drawing/2014/main" id="{5B60A9B1-2A00-414F-8850-CD49ABDF233D}"/>
              </a:ext>
            </a:extLst>
          </p:cNvPr>
          <p:cNvSpPr>
            <a:spLocks noGrp="1"/>
          </p:cNvSpPr>
          <p:nvPr/>
        </p:nvSpPr>
        <p:spPr>
          <a:xfrm>
            <a:off x="3362325" y="2216116"/>
            <a:ext cx="495300" cy="285750"/>
          </a:xfrm>
          <a:prstGeom prst="rect">
            <a:avLst/>
          </a:prstGeom>
          <a:noFill/>
          <a:ln w="0">
            <a:noFill/>
          </a:ln>
        </p:spPr>
        <p:txBody>
          <a:bodyPr/>
          <a:lstStyle/>
          <a:p>
            <a:pPr algn="ctr">
              <a:defRPr sz="1200" b="1" i="0">
                <a:solidFill>
                  <a:srgbClr val="FFFFFF"/>
                </a:solidFill>
                <a:latin typeface="Calibri"/>
                <a:ea typeface="Calibri"/>
                <a:cs typeface="Calibri"/>
              </a:defRPr>
            </a:pPr>
            <a:r>
              <a:rPr sz="1200" b="1" i="0">
                <a:solidFill>
                  <a:srgbClr val="FFFFFF"/>
                </a:solidFill>
                <a:latin typeface="Calibri"/>
                <a:ea typeface="Calibri"/>
                <a:cs typeface="Calibri"/>
              </a:rPr>
              <a:t>02</a:t>
            </a:r>
          </a:p>
        </p:txBody>
      </p:sp>
      <p:sp>
        <p:nvSpPr>
          <p:cNvPr id="13" name="Rectangle 12">
            <a:extLst>
              <a:ext uri="{FF2B5EF4-FFF2-40B4-BE49-F238E27FC236}">
                <a16:creationId xmlns:a16="http://schemas.microsoft.com/office/drawing/2014/main" id="{C1787575-1805-4D35-9231-6B5C9FA8501A}"/>
              </a:ext>
            </a:extLst>
          </p:cNvPr>
          <p:cNvSpPr>
            <a:spLocks noGrp="1"/>
          </p:cNvSpPr>
          <p:nvPr/>
        </p:nvSpPr>
        <p:spPr>
          <a:xfrm>
            <a:off x="3362325" y="2797141"/>
            <a:ext cx="1885950" cy="457200"/>
          </a:xfrm>
          <a:prstGeom prst="rect">
            <a:avLst/>
          </a:prstGeom>
          <a:noFill/>
          <a:ln w="0">
            <a:noFill/>
          </a:ln>
        </p:spPr>
        <p:txBody>
          <a:bodyPr/>
          <a:lstStyle/>
          <a:p>
            <a:pPr algn="l">
              <a:defRPr sz="1450" b="1" i="0">
                <a:solidFill>
                  <a:srgbClr val="1F2937"/>
                </a:solidFill>
                <a:latin typeface="Calibri"/>
                <a:ea typeface="Calibri"/>
                <a:cs typeface="Calibri"/>
              </a:defRPr>
            </a:pPr>
            <a:r>
              <a:rPr lang="en-US" sz="1450" b="1" i="0" dirty="0">
                <a:solidFill>
                  <a:srgbClr val="1F2937"/>
                </a:solidFill>
                <a:latin typeface="Calibri"/>
                <a:ea typeface="Calibri"/>
                <a:cs typeface="Calibri"/>
              </a:rPr>
              <a:t>Being pushed</a:t>
            </a:r>
            <a:r>
              <a:rPr sz="1450" b="1" i="0" dirty="0">
                <a:solidFill>
                  <a:srgbClr val="1F2937"/>
                </a:solidFill>
                <a:latin typeface="Calibri"/>
                <a:ea typeface="Calibri"/>
                <a:cs typeface="Calibri"/>
              </a:rPr>
              <a:t> shows the gaps</a:t>
            </a:r>
          </a:p>
        </p:txBody>
      </p:sp>
      <p:sp>
        <p:nvSpPr>
          <p:cNvPr id="20" name="Rectangle 19">
            <a:extLst>
              <a:ext uri="{FF2B5EF4-FFF2-40B4-BE49-F238E27FC236}">
                <a16:creationId xmlns:a16="http://schemas.microsoft.com/office/drawing/2014/main" id="{D1F80D43-08B2-478C-8C2C-CDAC86459567}"/>
              </a:ext>
            </a:extLst>
          </p:cNvPr>
          <p:cNvSpPr>
            <a:spLocks noGrp="1"/>
          </p:cNvSpPr>
          <p:nvPr/>
        </p:nvSpPr>
        <p:spPr>
          <a:xfrm>
            <a:off x="502920" y="4400550"/>
            <a:ext cx="8138160" cy="361950"/>
          </a:xfrm>
          <a:prstGeom prst="rect">
            <a:avLst/>
          </a:prstGeom>
          <a:noFill/>
          <a:ln w="0">
            <a:noFill/>
          </a:ln>
        </p:spPr>
        <p:txBody>
          <a:bodyPr/>
          <a:lstStyle/>
          <a:p>
            <a:pPr algn="l">
              <a:defRPr sz="788" b="0" i="0">
                <a:solidFill>
                  <a:srgbClr val="4B5563"/>
                </a:solidFill>
                <a:latin typeface="Calibri"/>
                <a:ea typeface="Calibri"/>
                <a:cs typeface="Calibri"/>
              </a:defRPr>
            </a:pPr>
            <a:r>
              <a:rPr sz="788" b="0" i="0" dirty="0">
                <a:solidFill>
                  <a:srgbClr val="4B5563"/>
                </a:solidFill>
                <a:latin typeface="Calibri"/>
                <a:ea typeface="Calibri"/>
                <a:cs typeface="Calibri"/>
              </a:rPr>
              <a:t>Swain, 1985; Izumi, 2003; DeKeyser &amp; Sokalski, 1996; Mackey, 1999; Freed, </a:t>
            </a:r>
            <a:r>
              <a:rPr sz="788" b="0" i="0" dirty="0" err="1">
                <a:solidFill>
                  <a:srgbClr val="4B5563"/>
                </a:solidFill>
                <a:latin typeface="Calibri"/>
                <a:ea typeface="Calibri"/>
                <a:cs typeface="Calibri"/>
              </a:rPr>
              <a:t>Segalowitz</a:t>
            </a:r>
            <a:r>
              <a:rPr sz="788" b="0" i="0" dirty="0">
                <a:solidFill>
                  <a:srgbClr val="4B5563"/>
                </a:solidFill>
                <a:latin typeface="Calibri"/>
                <a:ea typeface="Calibri"/>
                <a:cs typeface="Calibri"/>
              </a:rPr>
              <a:t>, &amp; Dewey, 2004; Hanzawa, 2024; Abdi Tabari, Zhuang, &amp; </a:t>
            </a:r>
            <a:r>
              <a:rPr sz="788" b="0" i="0" dirty="0" err="1">
                <a:solidFill>
                  <a:srgbClr val="4B5563"/>
                </a:solidFill>
                <a:latin typeface="Calibri"/>
                <a:ea typeface="Calibri"/>
                <a:cs typeface="Calibri"/>
              </a:rPr>
              <a:t>Farahanynia</a:t>
            </a:r>
            <a:r>
              <a:rPr sz="788" b="0" i="0" dirty="0">
                <a:solidFill>
                  <a:srgbClr val="4B5563"/>
                </a:solidFill>
                <a:latin typeface="Calibri"/>
                <a:ea typeface="Calibri"/>
                <a:cs typeface="Calibri"/>
              </a:rPr>
              <a:t>, 2025</a:t>
            </a:r>
          </a:p>
        </p:txBody>
      </p:sp>
      <p:pic>
        <p:nvPicPr>
          <p:cNvPr id="22" name="Picture 21">
            <a:extLst>
              <a:ext uri="{FF2B5EF4-FFF2-40B4-BE49-F238E27FC236}">
                <a16:creationId xmlns:a16="http://schemas.microsoft.com/office/drawing/2014/main" id="{069825FA-61FB-7CEB-21FC-09CC1EAD827A}"/>
              </a:ext>
            </a:extLst>
          </p:cNvPr>
          <p:cNvPicPr>
            <a:picLocks noChangeAspect="1"/>
          </p:cNvPicPr>
          <p:nvPr/>
        </p:nvPicPr>
        <p:blipFill>
          <a:blip r:embed="rId3"/>
          <a:stretch>
            <a:fillRect/>
          </a:stretch>
        </p:blipFill>
        <p:spPr>
          <a:xfrm>
            <a:off x="1507880" y="1992161"/>
            <a:ext cx="782882" cy="782882"/>
          </a:xfrm>
          <a:prstGeom prst="rect">
            <a:avLst/>
          </a:prstGeom>
        </p:spPr>
      </p:pic>
      <p:pic>
        <p:nvPicPr>
          <p:cNvPr id="25" name="Picture 24">
            <a:extLst>
              <a:ext uri="{FF2B5EF4-FFF2-40B4-BE49-F238E27FC236}">
                <a16:creationId xmlns:a16="http://schemas.microsoft.com/office/drawing/2014/main" id="{6D53608E-43E1-33D3-C844-FF123DF59836}"/>
              </a:ext>
            </a:extLst>
          </p:cNvPr>
          <p:cNvPicPr>
            <a:picLocks noChangeAspect="1"/>
          </p:cNvPicPr>
          <p:nvPr/>
        </p:nvPicPr>
        <p:blipFill>
          <a:blip r:embed="rId4"/>
          <a:stretch>
            <a:fillRect/>
          </a:stretch>
        </p:blipFill>
        <p:spPr>
          <a:xfrm>
            <a:off x="4369117" y="1890232"/>
            <a:ext cx="916305" cy="916305"/>
          </a:xfrm>
          <a:prstGeom prst="rect">
            <a:avLst/>
          </a:prstGeom>
        </p:spPr>
      </p:pic>
    </p:spTree>
    <p:extLst>
      <p:ext uri="{BB962C8B-B14F-4D97-AF65-F5344CB8AC3E}">
        <p14:creationId xmlns:p14="http://schemas.microsoft.com/office/powerpoint/2010/main" val="455538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DD4745-932D-C2F6-1387-B79F6BBF42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8259A18-7EB9-8C39-C526-E5682F61EB28}"/>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WHAT THE RESEARCH SAYS</a:t>
            </a:r>
          </a:p>
        </p:txBody>
      </p:sp>
      <p:sp>
        <p:nvSpPr>
          <p:cNvPr id="3" name="Rectangle 2">
            <a:extLst>
              <a:ext uri="{FF2B5EF4-FFF2-40B4-BE49-F238E27FC236}">
                <a16:creationId xmlns:a16="http://schemas.microsoft.com/office/drawing/2014/main" id="{7B28DC73-300A-467D-ED6D-7FE2D86D4955}"/>
              </a:ext>
            </a:extLst>
          </p:cNvPr>
          <p:cNvSpPr>
            <a:spLocks noGrp="1"/>
          </p:cNvSpPr>
          <p:nvPr/>
        </p:nvSpPr>
        <p:spPr>
          <a:xfrm>
            <a:off x="502920" y="583795"/>
            <a:ext cx="6759117" cy="3020642"/>
          </a:xfrm>
          <a:prstGeom prst="rect">
            <a:avLst/>
          </a:prstGeom>
          <a:noFill/>
          <a:ln w="0">
            <a:noFill/>
          </a:ln>
        </p:spPr>
        <p:txBody>
          <a:bodyPr/>
          <a:lstStyle/>
          <a:p>
            <a:pPr algn="l">
              <a:defRPr sz="3150" b="1" i="0">
                <a:solidFill>
                  <a:srgbClr val="002E5D"/>
                </a:solidFill>
                <a:latin typeface="Calibri"/>
                <a:ea typeface="Calibri"/>
                <a:cs typeface="Calibri"/>
              </a:defRPr>
            </a:pPr>
            <a:r>
              <a:rPr lang="en-US" sz="3600" b="1" i="0" dirty="0">
                <a:solidFill>
                  <a:srgbClr val="002E5D"/>
                </a:solidFill>
                <a:latin typeface="Calibri"/>
                <a:ea typeface="Calibri"/>
                <a:cs typeface="Calibri"/>
              </a:rPr>
              <a:t>Student talk is considerably more effective than teacher talk.</a:t>
            </a:r>
          </a:p>
          <a:p>
            <a:pPr algn="l">
              <a:defRPr sz="3150" b="1" i="0">
                <a:solidFill>
                  <a:srgbClr val="002E5D"/>
                </a:solidFill>
                <a:latin typeface="Calibri"/>
                <a:ea typeface="Calibri"/>
                <a:cs typeface="Calibri"/>
              </a:defRPr>
            </a:pPr>
            <a:endParaRPr lang="en-US" sz="3600" b="1" dirty="0">
              <a:solidFill>
                <a:srgbClr val="002E5D"/>
              </a:solidFill>
              <a:latin typeface="Calibri"/>
              <a:ea typeface="Calibri"/>
              <a:cs typeface="Calibri"/>
            </a:endParaRPr>
          </a:p>
          <a:p>
            <a:pPr algn="l">
              <a:defRPr sz="3150" b="1" i="0">
                <a:solidFill>
                  <a:srgbClr val="002E5D"/>
                </a:solidFill>
                <a:latin typeface="Calibri"/>
                <a:ea typeface="Calibri"/>
                <a:cs typeface="Calibri"/>
              </a:defRPr>
            </a:pPr>
            <a:r>
              <a:rPr lang="en-US" sz="3600" i="1" dirty="0">
                <a:solidFill>
                  <a:srgbClr val="002E5D"/>
                </a:solidFill>
                <a:latin typeface="Calibri"/>
                <a:ea typeface="Calibri"/>
                <a:cs typeface="Calibri"/>
              </a:rPr>
              <a:t>Doing</a:t>
            </a:r>
            <a:r>
              <a:rPr lang="en-US" sz="3600" b="1" i="0" dirty="0">
                <a:solidFill>
                  <a:srgbClr val="002E5D"/>
                </a:solidFill>
                <a:latin typeface="Calibri"/>
                <a:ea typeface="Calibri"/>
                <a:cs typeface="Calibri"/>
              </a:rPr>
              <a:t> is better tha</a:t>
            </a:r>
            <a:r>
              <a:rPr lang="en-US" sz="3600" b="1" dirty="0">
                <a:solidFill>
                  <a:srgbClr val="002E5D"/>
                </a:solidFill>
                <a:latin typeface="Calibri"/>
                <a:ea typeface="Calibri"/>
                <a:cs typeface="Calibri"/>
              </a:rPr>
              <a:t>n hearing.</a:t>
            </a:r>
            <a:endParaRPr sz="3600" b="1" i="0" dirty="0">
              <a:solidFill>
                <a:srgbClr val="002E5D"/>
              </a:solidFill>
              <a:latin typeface="Calibri"/>
              <a:ea typeface="Calibri"/>
              <a:cs typeface="Calibri"/>
            </a:endParaRPr>
          </a:p>
        </p:txBody>
      </p:sp>
      <p:sp>
        <p:nvSpPr>
          <p:cNvPr id="20" name="Rectangle 19">
            <a:extLst>
              <a:ext uri="{FF2B5EF4-FFF2-40B4-BE49-F238E27FC236}">
                <a16:creationId xmlns:a16="http://schemas.microsoft.com/office/drawing/2014/main" id="{1A9D8D7F-C41B-257B-DA70-4C72099D46B8}"/>
              </a:ext>
            </a:extLst>
          </p:cNvPr>
          <p:cNvSpPr>
            <a:spLocks noGrp="1"/>
          </p:cNvSpPr>
          <p:nvPr/>
        </p:nvSpPr>
        <p:spPr>
          <a:xfrm>
            <a:off x="502920" y="4400550"/>
            <a:ext cx="8138160" cy="361950"/>
          </a:xfrm>
          <a:prstGeom prst="rect">
            <a:avLst/>
          </a:prstGeom>
          <a:noFill/>
          <a:ln w="0">
            <a:noFill/>
          </a:ln>
        </p:spPr>
        <p:txBody>
          <a:bodyPr/>
          <a:lstStyle/>
          <a:p>
            <a:pPr algn="l">
              <a:defRPr sz="788" b="0" i="0">
                <a:solidFill>
                  <a:srgbClr val="4B5563"/>
                </a:solidFill>
                <a:latin typeface="Calibri"/>
                <a:ea typeface="Calibri"/>
                <a:cs typeface="Calibri"/>
              </a:defRPr>
            </a:pPr>
            <a:r>
              <a:rPr sz="788" b="0" i="0">
                <a:solidFill>
                  <a:srgbClr val="4B5563"/>
                </a:solidFill>
                <a:latin typeface="Calibri"/>
                <a:ea typeface="Calibri"/>
                <a:cs typeface="Calibri"/>
              </a:rPr>
              <a:t>Swain, 1985; Izumi, 2003; DeKeyser &amp; Sokalski, 1996; Mackey, 1999; Freed, Segalowitz, &amp; Dewey, 2004; Hanzawa, 2024; Abdi Tabari, Zhuang, &amp; Farahanynia, 2025</a:t>
            </a:r>
          </a:p>
        </p:txBody>
      </p:sp>
    </p:spTree>
    <p:extLst>
      <p:ext uri="{BB962C8B-B14F-4D97-AF65-F5344CB8AC3E}">
        <p14:creationId xmlns:p14="http://schemas.microsoft.com/office/powerpoint/2010/main" val="315799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BDB9DB-6877-4639-B780-C8E994F6A579}"/>
              </a:ext>
            </a:extLst>
          </p:cNvPr>
          <p:cNvSpPr>
            <a:spLocks noGrp="1"/>
          </p:cNvSpPr>
          <p:nvPr/>
        </p:nvSpPr>
        <p:spPr>
          <a:xfrm>
            <a:off x="502920" y="9695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dirty="0">
                <a:solidFill>
                  <a:srgbClr val="0062B8"/>
                </a:solidFill>
                <a:latin typeface="Calibri"/>
                <a:ea typeface="Calibri"/>
                <a:cs typeface="Calibri"/>
              </a:rPr>
              <a:t>HOW IT WORKS</a:t>
            </a:r>
          </a:p>
        </p:txBody>
      </p:sp>
      <p:sp>
        <p:nvSpPr>
          <p:cNvPr id="3" name="Rectangle 2">
            <a:extLst>
              <a:ext uri="{FF2B5EF4-FFF2-40B4-BE49-F238E27FC236}">
                <a16:creationId xmlns:a16="http://schemas.microsoft.com/office/drawing/2014/main" id="{D2607256-EA97-415A-ACCF-8320E7C0CDB5}"/>
              </a:ext>
            </a:extLst>
          </p:cNvPr>
          <p:cNvSpPr>
            <a:spLocks noGrp="1"/>
          </p:cNvSpPr>
          <p:nvPr/>
        </p:nvSpPr>
        <p:spPr>
          <a:xfrm>
            <a:off x="666550" y="2311506"/>
            <a:ext cx="8229600" cy="2318246"/>
          </a:xfrm>
          <a:prstGeom prst="rect">
            <a:avLst/>
          </a:prstGeom>
          <a:noFill/>
          <a:ln w="0">
            <a:noFill/>
          </a:ln>
        </p:spPr>
        <p:txBody>
          <a:bodyPr/>
          <a:lstStyle/>
          <a:p>
            <a:pPr algn="l">
              <a:defRPr sz="3150" b="1" i="0">
                <a:solidFill>
                  <a:srgbClr val="002E5D"/>
                </a:solidFill>
                <a:latin typeface="Calibri"/>
                <a:ea typeface="Calibri"/>
                <a:cs typeface="Calibri"/>
              </a:defRPr>
            </a:pPr>
            <a:r>
              <a:rPr lang="en-US" sz="2400" b="1" i="0" dirty="0">
                <a:solidFill>
                  <a:srgbClr val="002E5D"/>
                </a:solidFill>
                <a:latin typeface="Calibri"/>
                <a:ea typeface="Calibri"/>
                <a:cs typeface="Calibri"/>
              </a:rPr>
              <a:t>Give them time to: </a:t>
            </a:r>
          </a:p>
          <a:p>
            <a:pPr marL="971550" lvl="1" indent="-514350">
              <a:buAutoNum type="arabicParenR"/>
              <a:defRPr sz="3150" b="1" i="0">
                <a:solidFill>
                  <a:srgbClr val="002E5D"/>
                </a:solidFill>
                <a:latin typeface="Calibri"/>
                <a:ea typeface="Calibri"/>
                <a:cs typeface="Calibri"/>
              </a:defRPr>
            </a:pPr>
            <a:r>
              <a:rPr lang="en-US" sz="2400" b="1" i="0" dirty="0">
                <a:solidFill>
                  <a:srgbClr val="002E5D"/>
                </a:solidFill>
                <a:latin typeface="Calibri"/>
                <a:ea typeface="Calibri"/>
                <a:cs typeface="Calibri"/>
              </a:rPr>
              <a:t>prepar</a:t>
            </a:r>
            <a:r>
              <a:rPr lang="en-US" sz="2400" b="1" dirty="0">
                <a:solidFill>
                  <a:srgbClr val="002E5D"/>
                </a:solidFill>
                <a:latin typeface="Calibri"/>
                <a:ea typeface="Calibri"/>
                <a:cs typeface="Calibri"/>
              </a:rPr>
              <a:t>e/think about it</a:t>
            </a:r>
          </a:p>
          <a:p>
            <a:pPr marL="971550" lvl="1" indent="-514350">
              <a:buAutoNum type="arabicParenR"/>
              <a:defRPr sz="3150" b="1" i="0">
                <a:solidFill>
                  <a:srgbClr val="002E5D"/>
                </a:solidFill>
                <a:latin typeface="Calibri"/>
                <a:ea typeface="Calibri"/>
                <a:cs typeface="Calibri"/>
              </a:defRPr>
            </a:pPr>
            <a:r>
              <a:rPr lang="en-US" sz="2400" b="1" i="0" dirty="0">
                <a:solidFill>
                  <a:srgbClr val="002E5D"/>
                </a:solidFill>
                <a:latin typeface="Calibri"/>
                <a:ea typeface="Calibri"/>
                <a:cs typeface="Calibri"/>
              </a:rPr>
              <a:t>Say what they want to say</a:t>
            </a:r>
            <a:endParaRPr lang="en-US" sz="2400" b="1" dirty="0">
              <a:solidFill>
                <a:srgbClr val="002E5D"/>
              </a:solidFill>
              <a:latin typeface="Calibri"/>
              <a:ea typeface="Calibri"/>
              <a:cs typeface="Calibri"/>
            </a:endParaRPr>
          </a:p>
          <a:p>
            <a:pPr marL="971550" lvl="1" indent="-514350">
              <a:buAutoNum type="arabicParenR"/>
              <a:defRPr sz="3150" b="1" i="0">
                <a:solidFill>
                  <a:srgbClr val="002E5D"/>
                </a:solidFill>
                <a:latin typeface="Calibri"/>
                <a:ea typeface="Calibri"/>
                <a:cs typeface="Calibri"/>
              </a:defRPr>
            </a:pPr>
            <a:r>
              <a:rPr lang="en-US" sz="2400" b="1" i="0" dirty="0">
                <a:solidFill>
                  <a:srgbClr val="002E5D"/>
                </a:solidFill>
                <a:latin typeface="Calibri"/>
                <a:ea typeface="Calibri"/>
                <a:cs typeface="Calibri"/>
              </a:rPr>
              <a:t>Reflect on what they could do better</a:t>
            </a:r>
          </a:p>
          <a:p>
            <a:pPr marL="971550" lvl="1" indent="-514350">
              <a:buAutoNum type="arabicParenR"/>
              <a:defRPr sz="3150" b="1" i="0">
                <a:solidFill>
                  <a:srgbClr val="002E5D"/>
                </a:solidFill>
                <a:latin typeface="Calibri"/>
                <a:ea typeface="Calibri"/>
                <a:cs typeface="Calibri"/>
              </a:defRPr>
            </a:pPr>
            <a:r>
              <a:rPr lang="en-US" sz="2400" b="1" dirty="0">
                <a:solidFill>
                  <a:srgbClr val="002E5D"/>
                </a:solidFill>
                <a:latin typeface="Calibri"/>
                <a:ea typeface="Calibri"/>
                <a:cs typeface="Calibri"/>
              </a:rPr>
              <a:t>Try again</a:t>
            </a:r>
            <a:endParaRPr lang="en-US" sz="2400" b="1" i="0" dirty="0">
              <a:solidFill>
                <a:srgbClr val="002E5D"/>
              </a:solidFill>
              <a:latin typeface="Calibri"/>
              <a:ea typeface="Calibri"/>
              <a:cs typeface="Calibri"/>
            </a:endParaRPr>
          </a:p>
        </p:txBody>
      </p:sp>
      <p:pic>
        <p:nvPicPr>
          <p:cNvPr id="32" name="Picture 31">
            <a:extLst>
              <a:ext uri="{FF2B5EF4-FFF2-40B4-BE49-F238E27FC236}">
                <a16:creationId xmlns:a16="http://schemas.microsoft.com/office/drawing/2014/main" id="{2A051344-0EF5-1D03-E5BB-E52ECB962010}"/>
              </a:ext>
            </a:extLst>
          </p:cNvPr>
          <p:cNvPicPr>
            <a:picLocks noChangeAspect="1"/>
          </p:cNvPicPr>
          <p:nvPr/>
        </p:nvPicPr>
        <p:blipFill>
          <a:blip r:embed="rId3"/>
          <a:stretch>
            <a:fillRect/>
          </a:stretch>
        </p:blipFill>
        <p:spPr>
          <a:xfrm>
            <a:off x="833771" y="426141"/>
            <a:ext cx="6427380" cy="1885365"/>
          </a:xfrm>
          <a:prstGeom prst="rect">
            <a:avLst/>
          </a:prstGeom>
        </p:spPr>
      </p:pic>
    </p:spTree>
    <p:extLst>
      <p:ext uri="{BB962C8B-B14F-4D97-AF65-F5344CB8AC3E}">
        <p14:creationId xmlns:p14="http://schemas.microsoft.com/office/powerpoint/2010/main" val="8449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A77C15-0C5C-FDAE-2097-56F60B2CBEE2}"/>
              </a:ext>
            </a:extLst>
          </p:cNvPr>
          <p:cNvSpPr txBox="1"/>
          <p:nvPr/>
        </p:nvSpPr>
        <p:spPr>
          <a:xfrm>
            <a:off x="1031535" y="1357848"/>
            <a:ext cx="6537960" cy="3785652"/>
          </a:xfrm>
          <a:prstGeom prst="rect">
            <a:avLst/>
          </a:prstGeom>
          <a:noFill/>
        </p:spPr>
        <p:txBody>
          <a:bodyPr wrap="square" rtlCol="0">
            <a:spAutoFit/>
          </a:bodyPr>
          <a:lstStyle/>
          <a:p>
            <a:r>
              <a:rPr lang="en-US" sz="2400" b="1" dirty="0"/>
              <a:t>Prompt</a:t>
            </a:r>
            <a:r>
              <a:rPr lang="en-US" sz="2400" dirty="0"/>
              <a:t>: Talk about a skill that was difficult for you to learn at first (like riding a bicycle, driving, or cooking). How did you learn it?”</a:t>
            </a:r>
          </a:p>
          <a:p>
            <a:endParaRPr lang="en-US" sz="2400" dirty="0"/>
          </a:p>
          <a:p>
            <a:r>
              <a:rPr lang="en-US" sz="2400" b="1" dirty="0"/>
              <a:t>Answer</a:t>
            </a:r>
            <a:r>
              <a:rPr lang="en-US" sz="2400" dirty="0"/>
              <a:t>: I did not played sports well when I was a child. I kicked the ball very bad. I </a:t>
            </a:r>
            <a:r>
              <a:rPr lang="en-US" sz="2400" dirty="0" err="1"/>
              <a:t>hitted</a:t>
            </a:r>
            <a:r>
              <a:rPr lang="en-US" sz="2400" dirty="0"/>
              <a:t> the ball in the wrong place. I cannot throw the ball good. But I ran very fast!</a:t>
            </a:r>
          </a:p>
          <a:p>
            <a:endParaRPr lang="en-US" sz="2400" dirty="0"/>
          </a:p>
          <a:p>
            <a:endParaRPr lang="en-US" sz="2400" dirty="0"/>
          </a:p>
        </p:txBody>
      </p:sp>
      <p:sp>
        <p:nvSpPr>
          <p:cNvPr id="3" name="TextBox 2">
            <a:extLst>
              <a:ext uri="{FF2B5EF4-FFF2-40B4-BE49-F238E27FC236}">
                <a16:creationId xmlns:a16="http://schemas.microsoft.com/office/drawing/2014/main" id="{BF307D55-3285-8249-6FCC-5945D38EADED}"/>
              </a:ext>
            </a:extLst>
          </p:cNvPr>
          <p:cNvSpPr txBox="1"/>
          <p:nvPr/>
        </p:nvSpPr>
        <p:spPr>
          <a:xfrm>
            <a:off x="457200" y="552893"/>
            <a:ext cx="7464031" cy="523220"/>
          </a:xfrm>
          <a:prstGeom prst="rect">
            <a:avLst/>
          </a:prstGeom>
          <a:noFill/>
        </p:spPr>
        <p:txBody>
          <a:bodyPr wrap="none" rtlCol="0">
            <a:spAutoFit/>
          </a:bodyPr>
          <a:lstStyle/>
          <a:p>
            <a:r>
              <a:rPr lang="en-US" sz="2800" dirty="0">
                <a:solidFill>
                  <a:schemeClr val="accent1">
                    <a:lumMod val="75000"/>
                  </a:schemeClr>
                </a:solidFill>
              </a:rPr>
              <a:t>What kind of feedback do you give this student?</a:t>
            </a:r>
          </a:p>
        </p:txBody>
      </p:sp>
    </p:spTree>
    <p:extLst>
      <p:ext uri="{BB962C8B-B14F-4D97-AF65-F5344CB8AC3E}">
        <p14:creationId xmlns:p14="http://schemas.microsoft.com/office/powerpoint/2010/main" val="2184412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9C602-1F50-C240-F02C-1B65DCA11189}"/>
              </a:ext>
            </a:extLst>
          </p:cNvPr>
          <p:cNvSpPr txBox="1"/>
          <p:nvPr/>
        </p:nvSpPr>
        <p:spPr>
          <a:xfrm>
            <a:off x="457200" y="552893"/>
            <a:ext cx="7293935" cy="3908762"/>
          </a:xfrm>
          <a:prstGeom prst="rect">
            <a:avLst/>
          </a:prstGeom>
          <a:noFill/>
        </p:spPr>
        <p:txBody>
          <a:bodyPr wrap="square" rtlCol="0">
            <a:spAutoFit/>
          </a:bodyPr>
          <a:lstStyle/>
          <a:p>
            <a:r>
              <a:rPr lang="en-US" sz="2400" dirty="0">
                <a:solidFill>
                  <a:schemeClr val="accent1">
                    <a:lumMod val="75000"/>
                  </a:schemeClr>
                </a:solidFill>
              </a:rPr>
              <a:t>Focus on 1-2 things—help them notice but don’t overwhelm them. If you give too much, they can’t usually process it well.</a:t>
            </a:r>
          </a:p>
          <a:p>
            <a:endParaRPr lang="en-US" sz="2400" dirty="0">
              <a:solidFill>
                <a:schemeClr val="accent1">
                  <a:lumMod val="75000"/>
                </a:schemeClr>
              </a:solidFill>
            </a:endParaRPr>
          </a:p>
          <a:p>
            <a:r>
              <a:rPr lang="en-US" sz="2400" dirty="0">
                <a:solidFill>
                  <a:schemeClr val="accent1">
                    <a:lumMod val="75000"/>
                  </a:schemeClr>
                </a:solidFill>
              </a:rPr>
              <a:t>You might let them look up words they had a hard time with or ask you questions.</a:t>
            </a:r>
          </a:p>
          <a:p>
            <a:endParaRPr lang="en-US" sz="2400" dirty="0">
              <a:solidFill>
                <a:schemeClr val="accent1">
                  <a:lumMod val="75000"/>
                </a:schemeClr>
              </a:solidFill>
            </a:endParaRPr>
          </a:p>
          <a:p>
            <a:r>
              <a:rPr lang="az-Cyrl-AZ" sz="2000" dirty="0"/>
              <a:t>Нэг эсвэл хоёр зүйлд л анхаарлаа хандуулаарай; тэдэнд анзаарах боломж олгох хэрэгтэй ч хэт их мэдээллээр бүү ачааллаарай. Хэт ихийг өгвөл тэд ихэвчлэн түүнийг сайн боловсруулж чаддаггүй.</a:t>
            </a:r>
            <a:endParaRPr lang="en-US" sz="2000" dirty="0"/>
          </a:p>
        </p:txBody>
      </p:sp>
    </p:spTree>
    <p:extLst>
      <p:ext uri="{BB962C8B-B14F-4D97-AF65-F5344CB8AC3E}">
        <p14:creationId xmlns:p14="http://schemas.microsoft.com/office/powerpoint/2010/main" val="703851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D77F0C-D147-350A-DD61-8A772F7D5C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5E2EC6-8404-1DE6-8B41-DE0203F085BC}"/>
              </a:ext>
            </a:extLst>
          </p:cNvPr>
          <p:cNvSpPr>
            <a:spLocks noGrp="1"/>
          </p:cNvSpPr>
          <p:nvPr/>
        </p:nvSpPr>
        <p:spPr>
          <a:xfrm>
            <a:off x="502920" y="9695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dirty="0">
                <a:solidFill>
                  <a:srgbClr val="0062B8"/>
                </a:solidFill>
                <a:latin typeface="Calibri"/>
                <a:ea typeface="Calibri"/>
                <a:cs typeface="Calibri"/>
              </a:rPr>
              <a:t>HOW IT WORKS</a:t>
            </a:r>
          </a:p>
        </p:txBody>
      </p:sp>
      <p:pic>
        <p:nvPicPr>
          <p:cNvPr id="32" name="Picture 31">
            <a:extLst>
              <a:ext uri="{FF2B5EF4-FFF2-40B4-BE49-F238E27FC236}">
                <a16:creationId xmlns:a16="http://schemas.microsoft.com/office/drawing/2014/main" id="{7650C29D-0691-301F-565E-EEED2621E01B}"/>
              </a:ext>
            </a:extLst>
          </p:cNvPr>
          <p:cNvPicPr>
            <a:picLocks noChangeAspect="1"/>
          </p:cNvPicPr>
          <p:nvPr/>
        </p:nvPicPr>
        <p:blipFill>
          <a:blip r:embed="rId3"/>
          <a:stretch>
            <a:fillRect/>
          </a:stretch>
        </p:blipFill>
        <p:spPr>
          <a:xfrm>
            <a:off x="468010" y="1779517"/>
            <a:ext cx="6427380" cy="1885365"/>
          </a:xfrm>
          <a:prstGeom prst="rect">
            <a:avLst/>
          </a:prstGeom>
        </p:spPr>
      </p:pic>
      <p:sp>
        <p:nvSpPr>
          <p:cNvPr id="4" name="TextBox 3">
            <a:extLst>
              <a:ext uri="{FF2B5EF4-FFF2-40B4-BE49-F238E27FC236}">
                <a16:creationId xmlns:a16="http://schemas.microsoft.com/office/drawing/2014/main" id="{B60C7123-E9C9-E4DF-45AC-49D1F806607A}"/>
              </a:ext>
            </a:extLst>
          </p:cNvPr>
          <p:cNvSpPr txBox="1"/>
          <p:nvPr/>
        </p:nvSpPr>
        <p:spPr>
          <a:xfrm>
            <a:off x="2687768" y="3664882"/>
            <a:ext cx="3859903" cy="369332"/>
          </a:xfrm>
          <a:prstGeom prst="rect">
            <a:avLst/>
          </a:prstGeom>
          <a:noFill/>
        </p:spPr>
        <p:txBody>
          <a:bodyPr wrap="none" rtlCol="0">
            <a:spAutoFit/>
          </a:bodyPr>
          <a:lstStyle/>
          <a:p>
            <a:r>
              <a:rPr lang="en-US" dirty="0"/>
              <a:t>Notice with teacher and peer support</a:t>
            </a:r>
          </a:p>
        </p:txBody>
      </p:sp>
    </p:spTree>
    <p:extLst>
      <p:ext uri="{BB962C8B-B14F-4D97-AF65-F5344CB8AC3E}">
        <p14:creationId xmlns:p14="http://schemas.microsoft.com/office/powerpoint/2010/main" val="2627039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2D3AB8-EF5A-4D04-84FC-10A47ADF2AC3}"/>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A RESEARCH STUDY</a:t>
            </a:r>
          </a:p>
        </p:txBody>
      </p:sp>
      <p:sp>
        <p:nvSpPr>
          <p:cNvPr id="3" name="Rectangle 2">
            <a:extLst>
              <a:ext uri="{FF2B5EF4-FFF2-40B4-BE49-F238E27FC236}">
                <a16:creationId xmlns:a16="http://schemas.microsoft.com/office/drawing/2014/main" id="{1EDEA403-6EF5-486B-91F2-3C087423B8E0}"/>
              </a:ext>
            </a:extLst>
          </p:cNvPr>
          <p:cNvSpPr>
            <a:spLocks noGrp="1"/>
          </p:cNvSpPr>
          <p:nvPr/>
        </p:nvSpPr>
        <p:spPr>
          <a:xfrm>
            <a:off x="502920" y="713232"/>
            <a:ext cx="8229600" cy="800100"/>
          </a:xfrm>
          <a:prstGeom prst="rect">
            <a:avLst/>
          </a:prstGeom>
          <a:noFill/>
          <a:ln w="0">
            <a:noFill/>
          </a:ln>
        </p:spPr>
        <p:txBody>
          <a:bodyPr/>
          <a:lstStyle/>
          <a:p>
            <a:pPr algn="l">
              <a:defRPr sz="3150" b="1" i="0">
                <a:solidFill>
                  <a:srgbClr val="002E5D"/>
                </a:solidFill>
                <a:latin typeface="Calibri"/>
                <a:ea typeface="Calibri"/>
                <a:cs typeface="Calibri"/>
              </a:defRPr>
            </a:pPr>
            <a:r>
              <a:rPr sz="3150" b="1" i="0">
                <a:solidFill>
                  <a:srgbClr val="002E5D"/>
                </a:solidFill>
                <a:latin typeface="Calibri"/>
                <a:ea typeface="Calibri"/>
                <a:cs typeface="Calibri"/>
              </a:rPr>
              <a:t>Students get better at the skill they practice</a:t>
            </a:r>
          </a:p>
        </p:txBody>
      </p:sp>
      <p:sp>
        <p:nvSpPr>
          <p:cNvPr id="4" name="Rectangle 3">
            <a:extLst>
              <a:ext uri="{FF2B5EF4-FFF2-40B4-BE49-F238E27FC236}">
                <a16:creationId xmlns:a16="http://schemas.microsoft.com/office/drawing/2014/main" id="{127E9BEA-9FFE-4690-9916-238BF7ACF4E9}"/>
              </a:ext>
            </a:extLst>
          </p:cNvPr>
          <p:cNvSpPr>
            <a:spLocks noGrp="1"/>
          </p:cNvSpPr>
          <p:nvPr/>
        </p:nvSpPr>
        <p:spPr>
          <a:xfrm>
            <a:off x="502920" y="1532382"/>
            <a:ext cx="7810500" cy="400050"/>
          </a:xfrm>
          <a:prstGeom prst="rect">
            <a:avLst/>
          </a:prstGeom>
          <a:noFill/>
          <a:ln w="0">
            <a:noFill/>
          </a:ln>
        </p:spPr>
        <p:txBody>
          <a:bodyPr/>
          <a:lstStyle/>
          <a:p>
            <a:pPr algn="l">
              <a:defRPr sz="1425" b="0" i="0">
                <a:solidFill>
                  <a:srgbClr val="4B5563"/>
                </a:solidFill>
                <a:latin typeface="Cambria"/>
                <a:ea typeface="Cambria"/>
                <a:cs typeface="Cambria"/>
              </a:defRPr>
            </a:pPr>
            <a:r>
              <a:rPr sz="1425" b="0" i="0" dirty="0">
                <a:solidFill>
                  <a:srgbClr val="4B5563"/>
                </a:solidFill>
                <a:latin typeface="Cambria"/>
                <a:ea typeface="Cambria"/>
                <a:cs typeface="Cambria"/>
              </a:rPr>
              <a:t>DeKeyser and Sokalski compared two kinds of practice with learners of Spanish:</a:t>
            </a:r>
          </a:p>
        </p:txBody>
      </p:sp>
      <p:sp>
        <p:nvSpPr>
          <p:cNvPr id="5" name="Rectangle 4">
            <a:extLst>
              <a:ext uri="{FF2B5EF4-FFF2-40B4-BE49-F238E27FC236}">
                <a16:creationId xmlns:a16="http://schemas.microsoft.com/office/drawing/2014/main" id="{35FA15B2-8C38-4B52-8E4D-A2602B3D6BCD}"/>
              </a:ext>
            </a:extLst>
          </p:cNvPr>
          <p:cNvSpPr>
            <a:spLocks noGrp="1"/>
          </p:cNvSpPr>
          <p:nvPr/>
        </p:nvSpPr>
        <p:spPr>
          <a:xfrm>
            <a:off x="502920" y="2247900"/>
            <a:ext cx="3714750" cy="1657350"/>
          </a:xfrm>
          <a:prstGeom prst="rect">
            <a:avLst/>
          </a:prstGeom>
          <a:solidFill>
            <a:srgbClr val="E6EFF9"/>
          </a:solidFill>
          <a:ln w="12700">
            <a:solidFill>
              <a:srgbClr val="002E5D"/>
            </a:solidFill>
          </a:ln>
        </p:spPr>
        <p:txBody>
          <a:bodyPr/>
          <a:lstStyle/>
          <a:p>
            <a:endParaRPr lang="en-US"/>
          </a:p>
        </p:txBody>
      </p:sp>
      <p:sp>
        <p:nvSpPr>
          <p:cNvPr id="6" name="Rectangle 5">
            <a:extLst>
              <a:ext uri="{FF2B5EF4-FFF2-40B4-BE49-F238E27FC236}">
                <a16:creationId xmlns:a16="http://schemas.microsoft.com/office/drawing/2014/main" id="{FE513CBD-0E44-4DAC-808B-E151F391C625}"/>
              </a:ext>
            </a:extLst>
          </p:cNvPr>
          <p:cNvSpPr>
            <a:spLocks noGrp="1"/>
          </p:cNvSpPr>
          <p:nvPr/>
        </p:nvSpPr>
        <p:spPr>
          <a:xfrm>
            <a:off x="742950" y="2476500"/>
            <a:ext cx="3143250" cy="209550"/>
          </a:xfrm>
          <a:prstGeom prst="rect">
            <a:avLst/>
          </a:prstGeom>
          <a:noFill/>
          <a:ln w="0">
            <a:noFill/>
          </a:ln>
        </p:spPr>
        <p:txBody>
          <a:bodyPr/>
          <a:lstStyle/>
          <a:p>
            <a:pPr algn="l">
              <a:defRPr sz="1050" b="1" i="0">
                <a:solidFill>
                  <a:srgbClr val="0062B8"/>
                </a:solidFill>
                <a:latin typeface="Calibri"/>
                <a:ea typeface="Calibri"/>
                <a:cs typeface="Calibri"/>
              </a:defRPr>
            </a:pPr>
            <a:r>
              <a:rPr sz="1050" b="1" i="0">
                <a:solidFill>
                  <a:srgbClr val="0062B8"/>
                </a:solidFill>
                <a:latin typeface="Calibri"/>
                <a:ea typeface="Calibri"/>
                <a:cs typeface="Calibri"/>
              </a:rPr>
              <a:t>INPUT PRACTICE</a:t>
            </a:r>
          </a:p>
        </p:txBody>
      </p:sp>
      <p:sp>
        <p:nvSpPr>
          <p:cNvPr id="7" name="Rectangle 6">
            <a:extLst>
              <a:ext uri="{FF2B5EF4-FFF2-40B4-BE49-F238E27FC236}">
                <a16:creationId xmlns:a16="http://schemas.microsoft.com/office/drawing/2014/main" id="{B51F5B4B-5817-45BE-81DD-31B6BD09D394}"/>
              </a:ext>
            </a:extLst>
          </p:cNvPr>
          <p:cNvSpPr>
            <a:spLocks noGrp="1"/>
          </p:cNvSpPr>
          <p:nvPr/>
        </p:nvSpPr>
        <p:spPr>
          <a:xfrm>
            <a:off x="742950" y="2819400"/>
            <a:ext cx="2952750" cy="590550"/>
          </a:xfrm>
          <a:prstGeom prst="rect">
            <a:avLst/>
          </a:prstGeom>
          <a:noFill/>
          <a:ln w="0">
            <a:noFill/>
          </a:ln>
        </p:spPr>
        <p:txBody>
          <a:bodyPr/>
          <a:lstStyle/>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Better for</a:t>
            </a:r>
          </a:p>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understanding</a:t>
            </a:r>
          </a:p>
        </p:txBody>
      </p:sp>
      <p:sp>
        <p:nvSpPr>
          <p:cNvPr id="8" name="Rectangle 7">
            <a:extLst>
              <a:ext uri="{FF2B5EF4-FFF2-40B4-BE49-F238E27FC236}">
                <a16:creationId xmlns:a16="http://schemas.microsoft.com/office/drawing/2014/main" id="{6EC6C387-C5D7-4238-82CA-69ABBF72CD84}"/>
              </a:ext>
            </a:extLst>
          </p:cNvPr>
          <p:cNvSpPr>
            <a:spLocks noGrp="1"/>
          </p:cNvSpPr>
          <p:nvPr/>
        </p:nvSpPr>
        <p:spPr>
          <a:xfrm>
            <a:off x="742950" y="3401568"/>
            <a:ext cx="2952750" cy="411480"/>
          </a:xfrm>
          <a:prstGeom prst="rect">
            <a:avLst/>
          </a:prstGeom>
          <a:noFill/>
          <a:ln w="0">
            <a:noFill/>
          </a:ln>
        </p:spPr>
        <p:txBody>
          <a:bodyPr/>
          <a:lstStyle/>
          <a:p>
            <a:pPr algn="l">
              <a:defRPr sz="1050" b="0" i="0">
                <a:solidFill>
                  <a:srgbClr val="4B5563"/>
                </a:solidFill>
                <a:latin typeface="Cambria"/>
                <a:ea typeface="Cambria"/>
                <a:cs typeface="Cambria"/>
              </a:defRPr>
            </a:pPr>
            <a:r>
              <a:rPr sz="1050" b="0" i="0">
                <a:solidFill>
                  <a:srgbClr val="4B5563"/>
                </a:solidFill>
                <a:latin typeface="Cambria"/>
                <a:ea typeface="Cambria"/>
                <a:cs typeface="Cambria"/>
              </a:rPr>
              <a:t>Students practiced understanding grammar forms.</a:t>
            </a:r>
          </a:p>
        </p:txBody>
      </p:sp>
      <p:sp>
        <p:nvSpPr>
          <p:cNvPr id="9" name="Rectangle 8">
            <a:extLst>
              <a:ext uri="{FF2B5EF4-FFF2-40B4-BE49-F238E27FC236}">
                <a16:creationId xmlns:a16="http://schemas.microsoft.com/office/drawing/2014/main" id="{8552CFD1-775F-45AF-A521-D7D777BB1ACE}"/>
              </a:ext>
            </a:extLst>
          </p:cNvPr>
          <p:cNvSpPr>
            <a:spLocks noGrp="1"/>
          </p:cNvSpPr>
          <p:nvPr/>
        </p:nvSpPr>
        <p:spPr>
          <a:xfrm>
            <a:off x="4343400" y="2809875"/>
            <a:ext cx="457200" cy="285750"/>
          </a:xfrm>
          <a:prstGeom prst="rect">
            <a:avLst/>
          </a:prstGeom>
          <a:noFill/>
          <a:ln w="0">
            <a:noFill/>
          </a:ln>
        </p:spPr>
        <p:txBody>
          <a:bodyPr/>
          <a:lstStyle/>
          <a:p>
            <a:pPr algn="ctr">
              <a:defRPr sz="975" b="1" i="0">
                <a:solidFill>
                  <a:srgbClr val="0062B8"/>
                </a:solidFill>
                <a:latin typeface="Calibri"/>
                <a:ea typeface="Calibri"/>
                <a:cs typeface="Calibri"/>
              </a:defRPr>
            </a:pPr>
            <a:r>
              <a:rPr sz="975" b="1" i="0">
                <a:solidFill>
                  <a:srgbClr val="0062B8"/>
                </a:solidFill>
                <a:latin typeface="Calibri"/>
                <a:ea typeface="Calibri"/>
                <a:cs typeface="Calibri"/>
              </a:rPr>
              <a:t>OR</a:t>
            </a:r>
          </a:p>
        </p:txBody>
      </p:sp>
      <p:sp>
        <p:nvSpPr>
          <p:cNvPr id="10" name="Rectangle 9">
            <a:extLst>
              <a:ext uri="{FF2B5EF4-FFF2-40B4-BE49-F238E27FC236}">
                <a16:creationId xmlns:a16="http://schemas.microsoft.com/office/drawing/2014/main" id="{5AF44F27-D163-4D38-AF32-64F36E7E8BBD}"/>
              </a:ext>
            </a:extLst>
          </p:cNvPr>
          <p:cNvSpPr>
            <a:spLocks noGrp="1"/>
          </p:cNvSpPr>
          <p:nvPr/>
        </p:nvSpPr>
        <p:spPr>
          <a:xfrm>
            <a:off x="4933950" y="2247900"/>
            <a:ext cx="3714750" cy="1657350"/>
          </a:xfrm>
          <a:prstGeom prst="rect">
            <a:avLst/>
          </a:prstGeom>
          <a:solidFill>
            <a:srgbClr val="EEF1F5"/>
          </a:solidFill>
          <a:ln w="12700">
            <a:solidFill>
              <a:srgbClr val="002E5D"/>
            </a:solidFill>
          </a:ln>
        </p:spPr>
        <p:txBody>
          <a:bodyPr/>
          <a:lstStyle/>
          <a:p>
            <a:endParaRPr lang="en-US"/>
          </a:p>
        </p:txBody>
      </p:sp>
      <p:sp>
        <p:nvSpPr>
          <p:cNvPr id="11" name="Rectangle 10">
            <a:extLst>
              <a:ext uri="{FF2B5EF4-FFF2-40B4-BE49-F238E27FC236}">
                <a16:creationId xmlns:a16="http://schemas.microsoft.com/office/drawing/2014/main" id="{73B9CAB8-C027-44CF-A6DC-67DC7570DCA6}"/>
              </a:ext>
            </a:extLst>
          </p:cNvPr>
          <p:cNvSpPr>
            <a:spLocks noGrp="1"/>
          </p:cNvSpPr>
          <p:nvPr/>
        </p:nvSpPr>
        <p:spPr>
          <a:xfrm>
            <a:off x="5181600" y="2476500"/>
            <a:ext cx="3143250" cy="209550"/>
          </a:xfrm>
          <a:prstGeom prst="rect">
            <a:avLst/>
          </a:prstGeom>
          <a:noFill/>
          <a:ln w="0">
            <a:noFill/>
          </a:ln>
        </p:spPr>
        <p:txBody>
          <a:bodyPr/>
          <a:lstStyle/>
          <a:p>
            <a:pPr algn="l">
              <a:defRPr sz="1050" b="1" i="0">
                <a:solidFill>
                  <a:srgbClr val="0062B8"/>
                </a:solidFill>
                <a:latin typeface="Calibri"/>
                <a:ea typeface="Calibri"/>
                <a:cs typeface="Calibri"/>
              </a:defRPr>
            </a:pPr>
            <a:r>
              <a:rPr sz="1050" b="1" i="0">
                <a:solidFill>
                  <a:srgbClr val="0062B8"/>
                </a:solidFill>
                <a:latin typeface="Calibri"/>
                <a:ea typeface="Calibri"/>
                <a:cs typeface="Calibri"/>
              </a:rPr>
              <a:t>OUTPUT PRACTICE</a:t>
            </a:r>
          </a:p>
        </p:txBody>
      </p:sp>
      <p:sp>
        <p:nvSpPr>
          <p:cNvPr id="12" name="Rectangle 11">
            <a:extLst>
              <a:ext uri="{FF2B5EF4-FFF2-40B4-BE49-F238E27FC236}">
                <a16:creationId xmlns:a16="http://schemas.microsoft.com/office/drawing/2014/main" id="{0FF5456F-D934-44C7-9155-AC266A1B20C5}"/>
              </a:ext>
            </a:extLst>
          </p:cNvPr>
          <p:cNvSpPr>
            <a:spLocks noGrp="1"/>
          </p:cNvSpPr>
          <p:nvPr/>
        </p:nvSpPr>
        <p:spPr>
          <a:xfrm>
            <a:off x="5181600" y="2819400"/>
            <a:ext cx="2952750" cy="590550"/>
          </a:xfrm>
          <a:prstGeom prst="rect">
            <a:avLst/>
          </a:prstGeom>
          <a:noFill/>
          <a:ln w="0">
            <a:noFill/>
          </a:ln>
        </p:spPr>
        <p:txBody>
          <a:bodyPr/>
          <a:lstStyle/>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Better for</a:t>
            </a:r>
          </a:p>
          <a:p>
            <a:pPr algn="l">
              <a:defRPr sz="1650" b="1" i="0">
                <a:solidFill>
                  <a:srgbClr val="1F2937"/>
                </a:solidFill>
                <a:latin typeface="Calibri"/>
                <a:ea typeface="Calibri"/>
                <a:cs typeface="Calibri"/>
              </a:defRPr>
            </a:pPr>
            <a:r>
              <a:rPr sz="1650" b="1" i="0">
                <a:solidFill>
                  <a:srgbClr val="1F2937"/>
                </a:solidFill>
                <a:latin typeface="Calibri"/>
                <a:ea typeface="Calibri"/>
                <a:cs typeface="Calibri"/>
              </a:rPr>
              <a:t>speaking</a:t>
            </a:r>
          </a:p>
        </p:txBody>
      </p:sp>
      <p:sp>
        <p:nvSpPr>
          <p:cNvPr id="13" name="Rectangle 12">
            <a:extLst>
              <a:ext uri="{FF2B5EF4-FFF2-40B4-BE49-F238E27FC236}">
                <a16:creationId xmlns:a16="http://schemas.microsoft.com/office/drawing/2014/main" id="{371DFACA-4C20-4D32-A982-013DDB38008E}"/>
              </a:ext>
            </a:extLst>
          </p:cNvPr>
          <p:cNvSpPr>
            <a:spLocks noGrp="1"/>
          </p:cNvSpPr>
          <p:nvPr/>
        </p:nvSpPr>
        <p:spPr>
          <a:xfrm>
            <a:off x="5181600" y="3401568"/>
            <a:ext cx="2952750" cy="411480"/>
          </a:xfrm>
          <a:prstGeom prst="rect">
            <a:avLst/>
          </a:prstGeom>
          <a:noFill/>
          <a:ln w="0">
            <a:noFill/>
          </a:ln>
        </p:spPr>
        <p:txBody>
          <a:bodyPr/>
          <a:lstStyle/>
          <a:p>
            <a:pPr algn="l">
              <a:defRPr sz="1050" b="0" i="0">
                <a:solidFill>
                  <a:srgbClr val="4B5563"/>
                </a:solidFill>
                <a:latin typeface="Cambria"/>
                <a:ea typeface="Cambria"/>
                <a:cs typeface="Cambria"/>
              </a:defRPr>
            </a:pPr>
            <a:r>
              <a:rPr sz="1050" b="0" i="0">
                <a:solidFill>
                  <a:srgbClr val="4B5563"/>
                </a:solidFill>
                <a:latin typeface="Cambria"/>
                <a:ea typeface="Cambria"/>
                <a:cs typeface="Cambria"/>
              </a:rPr>
              <a:t>Students practiced finding and using grammar forms to speak.</a:t>
            </a:r>
          </a:p>
        </p:txBody>
      </p:sp>
      <p:sp>
        <p:nvSpPr>
          <p:cNvPr id="14" name="Rectangle 13">
            <a:extLst>
              <a:ext uri="{FF2B5EF4-FFF2-40B4-BE49-F238E27FC236}">
                <a16:creationId xmlns:a16="http://schemas.microsoft.com/office/drawing/2014/main" id="{D7418BF4-3092-4720-A876-87EF4302A9F7}"/>
              </a:ext>
            </a:extLst>
          </p:cNvPr>
          <p:cNvSpPr>
            <a:spLocks noGrp="1"/>
          </p:cNvSpPr>
          <p:nvPr/>
        </p:nvSpPr>
        <p:spPr>
          <a:xfrm>
            <a:off x="502920" y="4105275"/>
            <a:ext cx="8145780" cy="419100"/>
          </a:xfrm>
          <a:prstGeom prst="rect">
            <a:avLst/>
          </a:prstGeom>
          <a:solidFill>
            <a:srgbClr val="FFFFFF"/>
          </a:solidFill>
          <a:ln w="12700">
            <a:solidFill>
              <a:srgbClr val="002E5D"/>
            </a:solidFill>
          </a:ln>
        </p:spPr>
        <p:txBody>
          <a:bodyPr/>
          <a:lstStyle/>
          <a:p>
            <a:endParaRPr lang="en-US"/>
          </a:p>
        </p:txBody>
      </p:sp>
      <p:sp>
        <p:nvSpPr>
          <p:cNvPr id="15" name="Rectangle 14">
            <a:extLst>
              <a:ext uri="{FF2B5EF4-FFF2-40B4-BE49-F238E27FC236}">
                <a16:creationId xmlns:a16="http://schemas.microsoft.com/office/drawing/2014/main" id="{EE349DD3-5414-4E5A-9DB0-113818F13140}"/>
              </a:ext>
            </a:extLst>
          </p:cNvPr>
          <p:cNvSpPr>
            <a:spLocks noGrp="1"/>
          </p:cNvSpPr>
          <p:nvPr/>
        </p:nvSpPr>
        <p:spPr>
          <a:xfrm>
            <a:off x="723900" y="4169664"/>
            <a:ext cx="7715250" cy="292608"/>
          </a:xfrm>
          <a:prstGeom prst="rect">
            <a:avLst/>
          </a:prstGeom>
          <a:noFill/>
          <a:ln w="0">
            <a:noFill/>
          </a:ln>
        </p:spPr>
        <p:txBody>
          <a:bodyPr/>
          <a:lstStyle/>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Note: results also depended on how hard the grammar was and when students were tested.</a:t>
            </a:r>
          </a:p>
        </p:txBody>
      </p:sp>
      <p:sp>
        <p:nvSpPr>
          <p:cNvPr id="16" name="Rectangle 15">
            <a:extLst>
              <a:ext uri="{FF2B5EF4-FFF2-40B4-BE49-F238E27FC236}">
                <a16:creationId xmlns:a16="http://schemas.microsoft.com/office/drawing/2014/main" id="{E71370FE-5CA6-49FC-8C80-A29A16A3BB11}"/>
              </a:ext>
            </a:extLst>
          </p:cNvPr>
          <p:cNvSpPr>
            <a:spLocks noGrp="1"/>
          </p:cNvSpPr>
          <p:nvPr/>
        </p:nvSpPr>
        <p:spPr>
          <a:xfrm>
            <a:off x="502920" y="4733925"/>
            <a:ext cx="8138160" cy="171450"/>
          </a:xfrm>
          <a:prstGeom prst="rect">
            <a:avLst/>
          </a:prstGeom>
          <a:noFill/>
          <a:ln w="0">
            <a:noFill/>
          </a:ln>
        </p:spPr>
        <p:txBody>
          <a:bodyPr/>
          <a:lstStyle/>
          <a:p>
            <a:pPr algn="l">
              <a:defRPr sz="788" b="0" i="0">
                <a:solidFill>
                  <a:srgbClr val="4B5563"/>
                </a:solidFill>
                <a:latin typeface="Calibri"/>
                <a:ea typeface="Calibri"/>
                <a:cs typeface="Calibri"/>
              </a:defRPr>
            </a:pPr>
            <a:r>
              <a:rPr sz="788" b="0" i="0">
                <a:solidFill>
                  <a:srgbClr val="4B5563"/>
                </a:solidFill>
                <a:latin typeface="Calibri"/>
                <a:ea typeface="Calibri"/>
                <a:cs typeface="Calibri"/>
              </a:rPr>
              <a:t>DeKeyser &amp; Sokalski, 1996 · Language Learning, 46(4), 613-642 · https://doi.org/10.1111/j.1467-1770.1996.tb01354.x</a:t>
            </a:r>
          </a:p>
        </p:txBody>
      </p:sp>
    </p:spTree>
    <p:extLst>
      <p:ext uri="{BB962C8B-B14F-4D97-AF65-F5344CB8AC3E}">
        <p14:creationId xmlns:p14="http://schemas.microsoft.com/office/powerpoint/2010/main" val="1071764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C34177-609E-46F9-BE82-0707F42C247C}"/>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WHEN PUSHED OUTPUT WORKS BEST</a:t>
            </a:r>
          </a:p>
        </p:txBody>
      </p:sp>
      <p:sp>
        <p:nvSpPr>
          <p:cNvPr id="3" name="Rectangle 2">
            <a:extLst>
              <a:ext uri="{FF2B5EF4-FFF2-40B4-BE49-F238E27FC236}">
                <a16:creationId xmlns:a16="http://schemas.microsoft.com/office/drawing/2014/main" id="{C8A20111-E4D4-4DD8-B5F5-DEED59EF1FF8}"/>
              </a:ext>
            </a:extLst>
          </p:cNvPr>
          <p:cNvSpPr>
            <a:spLocks noGrp="1"/>
          </p:cNvSpPr>
          <p:nvPr/>
        </p:nvSpPr>
        <p:spPr>
          <a:xfrm>
            <a:off x="502920" y="713232"/>
            <a:ext cx="8229600" cy="800100"/>
          </a:xfrm>
          <a:prstGeom prst="rect">
            <a:avLst/>
          </a:prstGeom>
          <a:noFill/>
          <a:ln w="0">
            <a:noFill/>
          </a:ln>
        </p:spPr>
        <p:txBody>
          <a:bodyPr/>
          <a:lstStyle/>
          <a:p>
            <a:pPr algn="l">
              <a:defRPr sz="3150" b="1" i="0">
                <a:solidFill>
                  <a:srgbClr val="002E5D"/>
                </a:solidFill>
                <a:latin typeface="Calibri"/>
                <a:ea typeface="Calibri"/>
                <a:cs typeface="Calibri"/>
              </a:defRPr>
            </a:pPr>
            <a:r>
              <a:rPr sz="2800" b="1" i="0" dirty="0">
                <a:solidFill>
                  <a:srgbClr val="002E5D"/>
                </a:solidFill>
                <a:latin typeface="Calibri"/>
                <a:ea typeface="Calibri"/>
                <a:cs typeface="Calibri"/>
              </a:rPr>
              <a:t>Talking with a partner makes the push stronger</a:t>
            </a:r>
            <a:r>
              <a:rPr lang="en-US" sz="2800" b="1" dirty="0">
                <a:solidFill>
                  <a:srgbClr val="002E5D"/>
                </a:solidFill>
                <a:latin typeface="Calibri"/>
                <a:ea typeface="Calibri"/>
                <a:cs typeface="Calibri"/>
              </a:rPr>
              <a:t>; students have someone to go back and forth with</a:t>
            </a:r>
            <a:endParaRPr sz="2800" b="1" i="0" dirty="0">
              <a:solidFill>
                <a:srgbClr val="002E5D"/>
              </a:solidFill>
              <a:latin typeface="Calibri"/>
              <a:ea typeface="Calibri"/>
              <a:cs typeface="Calibri"/>
            </a:endParaRPr>
          </a:p>
        </p:txBody>
      </p:sp>
      <p:sp>
        <p:nvSpPr>
          <p:cNvPr id="5" name="Rectangle 4">
            <a:extLst>
              <a:ext uri="{FF2B5EF4-FFF2-40B4-BE49-F238E27FC236}">
                <a16:creationId xmlns:a16="http://schemas.microsoft.com/office/drawing/2014/main" id="{A1C071E5-B2F1-471F-A11A-310859F34628}"/>
              </a:ext>
            </a:extLst>
          </p:cNvPr>
          <p:cNvSpPr>
            <a:spLocks noGrp="1"/>
          </p:cNvSpPr>
          <p:nvPr/>
        </p:nvSpPr>
        <p:spPr>
          <a:xfrm>
            <a:off x="502920" y="2305050"/>
            <a:ext cx="2305050" cy="1295400"/>
          </a:xfrm>
          <a:prstGeom prst="rect">
            <a:avLst/>
          </a:prstGeom>
          <a:solidFill>
            <a:srgbClr val="FFFFFF"/>
          </a:solidFill>
          <a:ln w="12700">
            <a:solidFill>
              <a:srgbClr val="002E5D"/>
            </a:solidFill>
          </a:ln>
        </p:spPr>
        <p:txBody>
          <a:bodyPr/>
          <a:lstStyle/>
          <a:p>
            <a:endParaRPr lang="en-US"/>
          </a:p>
        </p:txBody>
      </p:sp>
      <p:sp>
        <p:nvSpPr>
          <p:cNvPr id="6" name="Rectangle 5">
            <a:extLst>
              <a:ext uri="{FF2B5EF4-FFF2-40B4-BE49-F238E27FC236}">
                <a16:creationId xmlns:a16="http://schemas.microsoft.com/office/drawing/2014/main" id="{B2124703-15B1-400B-ACF4-10026FAF410A}"/>
              </a:ext>
            </a:extLst>
          </p:cNvPr>
          <p:cNvSpPr>
            <a:spLocks noGrp="1"/>
          </p:cNvSpPr>
          <p:nvPr/>
        </p:nvSpPr>
        <p:spPr>
          <a:xfrm>
            <a:off x="723900" y="2514600"/>
            <a:ext cx="1866900" cy="190500"/>
          </a:xfrm>
          <a:prstGeom prst="rect">
            <a:avLst/>
          </a:prstGeom>
          <a:noFill/>
          <a:ln w="0">
            <a:noFill/>
          </a:ln>
        </p:spPr>
        <p:txBody>
          <a:bodyPr/>
          <a:lstStyle/>
          <a:p>
            <a:pPr algn="l">
              <a:defRPr sz="863" b="1" i="0">
                <a:solidFill>
                  <a:srgbClr val="0062B8"/>
                </a:solidFill>
                <a:latin typeface="Calibri"/>
                <a:ea typeface="Calibri"/>
                <a:cs typeface="Calibri"/>
              </a:defRPr>
            </a:pPr>
            <a:r>
              <a:rPr sz="863" b="1" i="0">
                <a:solidFill>
                  <a:srgbClr val="0062B8"/>
                </a:solidFill>
                <a:latin typeface="Calibri"/>
                <a:ea typeface="Calibri"/>
                <a:cs typeface="Calibri"/>
              </a:rPr>
              <a:t>ACTIVE PARTICIPATION</a:t>
            </a:r>
          </a:p>
        </p:txBody>
      </p:sp>
      <p:sp>
        <p:nvSpPr>
          <p:cNvPr id="7" name="Rectangle 6">
            <a:extLst>
              <a:ext uri="{FF2B5EF4-FFF2-40B4-BE49-F238E27FC236}">
                <a16:creationId xmlns:a16="http://schemas.microsoft.com/office/drawing/2014/main" id="{B4A3EE11-AC8B-421A-B7A6-250FC5F681A8}"/>
              </a:ext>
            </a:extLst>
          </p:cNvPr>
          <p:cNvSpPr>
            <a:spLocks noGrp="1"/>
          </p:cNvSpPr>
          <p:nvPr/>
        </p:nvSpPr>
        <p:spPr>
          <a:xfrm>
            <a:off x="723900" y="2895300"/>
            <a:ext cx="1866900" cy="285750"/>
          </a:xfrm>
          <a:prstGeom prst="rect">
            <a:avLst/>
          </a:prstGeom>
          <a:noFill/>
          <a:ln w="0">
            <a:noFill/>
          </a:ln>
        </p:spPr>
        <p:txBody>
          <a:bodyPr/>
          <a:lstStyle/>
          <a:p>
            <a:pPr algn="l">
              <a:defRPr sz="1500" b="1" i="0">
                <a:solidFill>
                  <a:srgbClr val="1F2937"/>
                </a:solidFill>
                <a:latin typeface="Calibri"/>
                <a:ea typeface="Calibri"/>
                <a:cs typeface="Calibri"/>
              </a:defRPr>
            </a:pPr>
            <a:r>
              <a:rPr sz="1500" b="1" i="0" dirty="0">
                <a:solidFill>
                  <a:srgbClr val="1F2937"/>
                </a:solidFill>
                <a:latin typeface="Calibri"/>
                <a:ea typeface="Calibri"/>
                <a:cs typeface="Calibri"/>
              </a:rPr>
              <a:t>Student answers</a:t>
            </a:r>
          </a:p>
        </p:txBody>
      </p:sp>
      <p:sp>
        <p:nvSpPr>
          <p:cNvPr id="8" name="Rectangle 7">
            <a:extLst>
              <a:ext uri="{FF2B5EF4-FFF2-40B4-BE49-F238E27FC236}">
                <a16:creationId xmlns:a16="http://schemas.microsoft.com/office/drawing/2014/main" id="{E2C1AE83-4ED1-408E-B68F-FFE401D5441D}"/>
              </a:ext>
            </a:extLst>
          </p:cNvPr>
          <p:cNvSpPr>
            <a:spLocks noGrp="1"/>
          </p:cNvSpPr>
          <p:nvPr/>
        </p:nvSpPr>
        <p:spPr>
          <a:xfrm>
            <a:off x="723900" y="3276600"/>
            <a:ext cx="1866900" cy="228600"/>
          </a:xfrm>
          <a:prstGeom prst="rect">
            <a:avLst/>
          </a:prstGeom>
          <a:noFill/>
          <a:ln w="0">
            <a:noFill/>
          </a:ln>
        </p:spPr>
        <p:txBody>
          <a:bodyPr/>
          <a:lstStyle/>
          <a:p>
            <a:pPr algn="l">
              <a:defRPr sz="1200" b="0" i="0">
                <a:solidFill>
                  <a:srgbClr val="4B5563"/>
                </a:solidFill>
                <a:latin typeface="Cambria"/>
                <a:ea typeface="Cambria"/>
                <a:cs typeface="Cambria"/>
              </a:defRPr>
            </a:pPr>
            <a:r>
              <a:rPr sz="1200" b="0" i="0">
                <a:solidFill>
                  <a:srgbClr val="4B5563"/>
                </a:solidFill>
                <a:latin typeface="Cambria"/>
                <a:ea typeface="Cambria"/>
                <a:cs typeface="Cambria"/>
              </a:rPr>
              <a:t>A real answer</a:t>
            </a:r>
          </a:p>
        </p:txBody>
      </p:sp>
      <p:sp>
        <p:nvSpPr>
          <p:cNvPr id="9" name="Rectangle 8">
            <a:extLst>
              <a:ext uri="{FF2B5EF4-FFF2-40B4-BE49-F238E27FC236}">
                <a16:creationId xmlns:a16="http://schemas.microsoft.com/office/drawing/2014/main" id="{652D076D-CD47-412A-A1C0-EEEF24D07B20}"/>
              </a:ext>
            </a:extLst>
          </p:cNvPr>
          <p:cNvSpPr>
            <a:spLocks noGrp="1"/>
          </p:cNvSpPr>
          <p:nvPr/>
        </p:nvSpPr>
        <p:spPr>
          <a:xfrm>
            <a:off x="2857500" y="2705100"/>
            <a:ext cx="457200" cy="381000"/>
          </a:xfrm>
          <a:prstGeom prst="rect">
            <a:avLst/>
          </a:prstGeom>
          <a:noFill/>
          <a:ln w="0">
            <a:noFill/>
          </a:ln>
        </p:spPr>
        <p:txBody>
          <a:bodyPr/>
          <a:lstStyle/>
          <a:p>
            <a:pPr algn="ctr">
              <a:defRPr sz="2400" b="1" i="0">
                <a:solidFill>
                  <a:srgbClr val="0062B8"/>
                </a:solidFill>
                <a:latin typeface="Calibri"/>
                <a:ea typeface="Calibri"/>
                <a:cs typeface="Calibri"/>
              </a:defRPr>
            </a:pPr>
            <a:r>
              <a:rPr sz="2400" b="1" i="0">
                <a:solidFill>
                  <a:srgbClr val="0062B8"/>
                </a:solidFill>
                <a:latin typeface="Calibri"/>
                <a:ea typeface="Calibri"/>
                <a:cs typeface="Calibri"/>
              </a:rPr>
              <a:t>→</a:t>
            </a:r>
          </a:p>
        </p:txBody>
      </p:sp>
      <p:sp>
        <p:nvSpPr>
          <p:cNvPr id="10" name="Rectangle 9">
            <a:extLst>
              <a:ext uri="{FF2B5EF4-FFF2-40B4-BE49-F238E27FC236}">
                <a16:creationId xmlns:a16="http://schemas.microsoft.com/office/drawing/2014/main" id="{61BECC33-AC17-4644-939C-00B6FDE882E5}"/>
              </a:ext>
            </a:extLst>
          </p:cNvPr>
          <p:cNvSpPr>
            <a:spLocks noGrp="1"/>
          </p:cNvSpPr>
          <p:nvPr/>
        </p:nvSpPr>
        <p:spPr>
          <a:xfrm>
            <a:off x="3371850" y="2305050"/>
            <a:ext cx="2305050" cy="1295400"/>
          </a:xfrm>
          <a:prstGeom prst="rect">
            <a:avLst/>
          </a:prstGeom>
          <a:solidFill>
            <a:srgbClr val="E6EFF9"/>
          </a:solidFill>
          <a:ln w="12700">
            <a:solidFill>
              <a:srgbClr val="002E5D"/>
            </a:solidFill>
          </a:ln>
        </p:spPr>
        <p:txBody>
          <a:bodyPr/>
          <a:lstStyle/>
          <a:p>
            <a:endParaRPr lang="en-US"/>
          </a:p>
        </p:txBody>
      </p:sp>
      <p:sp>
        <p:nvSpPr>
          <p:cNvPr id="11" name="Rectangle 10">
            <a:extLst>
              <a:ext uri="{FF2B5EF4-FFF2-40B4-BE49-F238E27FC236}">
                <a16:creationId xmlns:a16="http://schemas.microsoft.com/office/drawing/2014/main" id="{67B44114-7580-4125-B817-E5E33DFBCE27}"/>
              </a:ext>
            </a:extLst>
          </p:cNvPr>
          <p:cNvSpPr>
            <a:spLocks noGrp="1"/>
          </p:cNvSpPr>
          <p:nvPr/>
        </p:nvSpPr>
        <p:spPr>
          <a:xfrm>
            <a:off x="3600450" y="2514600"/>
            <a:ext cx="1866900" cy="190500"/>
          </a:xfrm>
          <a:prstGeom prst="rect">
            <a:avLst/>
          </a:prstGeom>
          <a:noFill/>
          <a:ln w="0">
            <a:noFill/>
          </a:ln>
        </p:spPr>
        <p:txBody>
          <a:bodyPr/>
          <a:lstStyle/>
          <a:p>
            <a:pPr algn="l">
              <a:defRPr sz="863" b="1" i="0">
                <a:solidFill>
                  <a:srgbClr val="0062B8"/>
                </a:solidFill>
                <a:latin typeface="Calibri"/>
                <a:ea typeface="Calibri"/>
                <a:cs typeface="Calibri"/>
              </a:defRPr>
            </a:pPr>
            <a:r>
              <a:rPr sz="863" b="1" i="0" dirty="0">
                <a:solidFill>
                  <a:srgbClr val="0062B8"/>
                </a:solidFill>
                <a:latin typeface="Calibri"/>
                <a:ea typeface="Calibri"/>
                <a:cs typeface="Calibri"/>
              </a:rPr>
              <a:t>CHECKING MEANING</a:t>
            </a:r>
          </a:p>
        </p:txBody>
      </p:sp>
      <p:sp>
        <p:nvSpPr>
          <p:cNvPr id="12" name="Rectangle 11">
            <a:extLst>
              <a:ext uri="{FF2B5EF4-FFF2-40B4-BE49-F238E27FC236}">
                <a16:creationId xmlns:a16="http://schemas.microsoft.com/office/drawing/2014/main" id="{DD1EF184-C515-43BB-BBC7-E62EEAB6323B}"/>
              </a:ext>
            </a:extLst>
          </p:cNvPr>
          <p:cNvSpPr>
            <a:spLocks noGrp="1"/>
          </p:cNvSpPr>
          <p:nvPr/>
        </p:nvSpPr>
        <p:spPr>
          <a:xfrm>
            <a:off x="3600450" y="2750921"/>
            <a:ext cx="1866900" cy="285750"/>
          </a:xfrm>
          <a:prstGeom prst="rect">
            <a:avLst/>
          </a:prstGeom>
          <a:noFill/>
          <a:ln w="0">
            <a:noFill/>
          </a:ln>
        </p:spPr>
        <p:txBody>
          <a:bodyPr/>
          <a:lstStyle/>
          <a:p>
            <a:pPr algn="l">
              <a:defRPr sz="1500" b="1" i="0">
                <a:solidFill>
                  <a:srgbClr val="1F2937"/>
                </a:solidFill>
                <a:latin typeface="Calibri"/>
                <a:ea typeface="Calibri"/>
                <a:cs typeface="Calibri"/>
              </a:defRPr>
            </a:pPr>
            <a:r>
              <a:rPr sz="1500" b="1" i="0" dirty="0">
                <a:solidFill>
                  <a:srgbClr val="1F2937"/>
                </a:solidFill>
                <a:latin typeface="Calibri"/>
                <a:ea typeface="Calibri"/>
                <a:cs typeface="Calibri"/>
              </a:rPr>
              <a:t>Fix</a:t>
            </a:r>
            <a:r>
              <a:rPr lang="en-US" sz="1500" b="1" i="0" dirty="0">
                <a:solidFill>
                  <a:srgbClr val="1F2937"/>
                </a:solidFill>
                <a:latin typeface="Calibri"/>
                <a:ea typeface="Calibri"/>
                <a:cs typeface="Calibri"/>
              </a:rPr>
              <a:t>es</a:t>
            </a:r>
            <a:r>
              <a:rPr sz="1500" b="1" i="0" dirty="0">
                <a:solidFill>
                  <a:srgbClr val="1F2937"/>
                </a:solidFill>
                <a:latin typeface="Calibri"/>
                <a:ea typeface="Calibri"/>
                <a:cs typeface="Calibri"/>
              </a:rPr>
              <a:t> the message</a:t>
            </a:r>
          </a:p>
        </p:txBody>
      </p:sp>
      <p:sp>
        <p:nvSpPr>
          <p:cNvPr id="13" name="Rectangle 12">
            <a:extLst>
              <a:ext uri="{FF2B5EF4-FFF2-40B4-BE49-F238E27FC236}">
                <a16:creationId xmlns:a16="http://schemas.microsoft.com/office/drawing/2014/main" id="{6B3B06B0-BED9-490C-A7E1-21FB784546F5}"/>
              </a:ext>
            </a:extLst>
          </p:cNvPr>
          <p:cNvSpPr>
            <a:spLocks noGrp="1"/>
          </p:cNvSpPr>
          <p:nvPr/>
        </p:nvSpPr>
        <p:spPr>
          <a:xfrm>
            <a:off x="3600450" y="3103346"/>
            <a:ext cx="1866900" cy="401854"/>
          </a:xfrm>
          <a:prstGeom prst="rect">
            <a:avLst/>
          </a:prstGeom>
          <a:noFill/>
          <a:ln w="0">
            <a:noFill/>
          </a:ln>
        </p:spPr>
        <p:txBody>
          <a:bodyPr/>
          <a:lstStyle/>
          <a:p>
            <a:pPr algn="l">
              <a:defRPr sz="1200" b="0" i="0">
                <a:solidFill>
                  <a:srgbClr val="4B5563"/>
                </a:solidFill>
                <a:latin typeface="Cambria"/>
                <a:ea typeface="Cambria"/>
                <a:cs typeface="Cambria"/>
              </a:defRPr>
            </a:pPr>
            <a:r>
              <a:rPr sz="1200" b="0" i="0" dirty="0">
                <a:solidFill>
                  <a:srgbClr val="4B5563"/>
                </a:solidFill>
                <a:latin typeface="Cambria"/>
                <a:ea typeface="Cambria"/>
                <a:cs typeface="Cambria"/>
              </a:rPr>
              <a:t>The student </a:t>
            </a:r>
            <a:r>
              <a:rPr lang="en-US" sz="1200" b="0" i="0" dirty="0">
                <a:solidFill>
                  <a:srgbClr val="4B5563"/>
                </a:solidFill>
                <a:latin typeface="Cambria"/>
                <a:ea typeface="Cambria"/>
                <a:cs typeface="Cambria"/>
              </a:rPr>
              <a:t>tries</a:t>
            </a:r>
            <a:r>
              <a:rPr sz="1200" b="0" i="0" dirty="0">
                <a:solidFill>
                  <a:srgbClr val="4B5563"/>
                </a:solidFill>
                <a:latin typeface="Cambria"/>
                <a:ea typeface="Cambria"/>
                <a:cs typeface="Cambria"/>
              </a:rPr>
              <a:t> again</a:t>
            </a:r>
          </a:p>
        </p:txBody>
      </p:sp>
      <p:sp>
        <p:nvSpPr>
          <p:cNvPr id="14" name="Rectangle 13">
            <a:extLst>
              <a:ext uri="{FF2B5EF4-FFF2-40B4-BE49-F238E27FC236}">
                <a16:creationId xmlns:a16="http://schemas.microsoft.com/office/drawing/2014/main" id="{61FAF7F8-F60E-4C28-BF70-1B9E6E722132}"/>
              </a:ext>
            </a:extLst>
          </p:cNvPr>
          <p:cNvSpPr>
            <a:spLocks noGrp="1"/>
          </p:cNvSpPr>
          <p:nvPr/>
        </p:nvSpPr>
        <p:spPr>
          <a:xfrm>
            <a:off x="5734050" y="2705100"/>
            <a:ext cx="457200" cy="381000"/>
          </a:xfrm>
          <a:prstGeom prst="rect">
            <a:avLst/>
          </a:prstGeom>
          <a:noFill/>
          <a:ln w="0">
            <a:noFill/>
          </a:ln>
        </p:spPr>
        <p:txBody>
          <a:bodyPr/>
          <a:lstStyle/>
          <a:p>
            <a:pPr algn="ctr">
              <a:defRPr sz="2400" b="1" i="0">
                <a:solidFill>
                  <a:srgbClr val="0062B8"/>
                </a:solidFill>
                <a:latin typeface="Calibri"/>
                <a:ea typeface="Calibri"/>
                <a:cs typeface="Calibri"/>
              </a:defRPr>
            </a:pPr>
            <a:r>
              <a:rPr sz="2400" b="1" i="0">
                <a:solidFill>
                  <a:srgbClr val="0062B8"/>
                </a:solidFill>
                <a:latin typeface="Calibri"/>
                <a:ea typeface="Calibri"/>
                <a:cs typeface="Calibri"/>
              </a:rPr>
              <a:t>→</a:t>
            </a:r>
          </a:p>
        </p:txBody>
      </p:sp>
      <p:sp>
        <p:nvSpPr>
          <p:cNvPr id="15" name="Rectangle 14">
            <a:extLst>
              <a:ext uri="{FF2B5EF4-FFF2-40B4-BE49-F238E27FC236}">
                <a16:creationId xmlns:a16="http://schemas.microsoft.com/office/drawing/2014/main" id="{C41A65A0-1472-4FDA-96AE-2160E95C7EB5}"/>
              </a:ext>
            </a:extLst>
          </p:cNvPr>
          <p:cNvSpPr>
            <a:spLocks noGrp="1"/>
          </p:cNvSpPr>
          <p:nvPr/>
        </p:nvSpPr>
        <p:spPr>
          <a:xfrm>
            <a:off x="6248400" y="2305050"/>
            <a:ext cx="2400300" cy="1295400"/>
          </a:xfrm>
          <a:prstGeom prst="rect">
            <a:avLst/>
          </a:prstGeom>
          <a:solidFill>
            <a:srgbClr val="EEF1F5"/>
          </a:solidFill>
          <a:ln w="12700">
            <a:solidFill>
              <a:srgbClr val="002E5D"/>
            </a:solidFill>
          </a:ln>
        </p:spPr>
        <p:txBody>
          <a:bodyPr/>
          <a:lstStyle/>
          <a:p>
            <a:endParaRPr lang="en-US"/>
          </a:p>
        </p:txBody>
      </p:sp>
      <p:sp>
        <p:nvSpPr>
          <p:cNvPr id="16" name="Rectangle 15">
            <a:extLst>
              <a:ext uri="{FF2B5EF4-FFF2-40B4-BE49-F238E27FC236}">
                <a16:creationId xmlns:a16="http://schemas.microsoft.com/office/drawing/2014/main" id="{2B4096DF-CCF4-4289-A242-D9C1959B351C}"/>
              </a:ext>
            </a:extLst>
          </p:cNvPr>
          <p:cNvSpPr>
            <a:spLocks noGrp="1"/>
          </p:cNvSpPr>
          <p:nvPr/>
        </p:nvSpPr>
        <p:spPr>
          <a:xfrm>
            <a:off x="6477000" y="2514600"/>
            <a:ext cx="1943100" cy="190500"/>
          </a:xfrm>
          <a:prstGeom prst="rect">
            <a:avLst/>
          </a:prstGeom>
          <a:noFill/>
          <a:ln w="0">
            <a:noFill/>
          </a:ln>
        </p:spPr>
        <p:txBody>
          <a:bodyPr/>
          <a:lstStyle/>
          <a:p>
            <a:pPr algn="l">
              <a:defRPr sz="788" b="1" i="0">
                <a:solidFill>
                  <a:srgbClr val="0062B8"/>
                </a:solidFill>
                <a:latin typeface="Calibri"/>
                <a:ea typeface="Calibri"/>
                <a:cs typeface="Calibri"/>
              </a:defRPr>
            </a:pPr>
            <a:r>
              <a:rPr sz="788" b="1" i="0">
                <a:solidFill>
                  <a:srgbClr val="0062B8"/>
                </a:solidFill>
                <a:latin typeface="Calibri"/>
                <a:ea typeface="Calibri"/>
                <a:cs typeface="Calibri"/>
              </a:rPr>
              <a:t>FEEDBACK + REFORMULATION</a:t>
            </a:r>
          </a:p>
        </p:txBody>
      </p:sp>
      <p:sp>
        <p:nvSpPr>
          <p:cNvPr id="17" name="Rectangle 16">
            <a:extLst>
              <a:ext uri="{FF2B5EF4-FFF2-40B4-BE49-F238E27FC236}">
                <a16:creationId xmlns:a16="http://schemas.microsoft.com/office/drawing/2014/main" id="{D5FC7133-58B8-4D8A-9840-03EE5C4A0E75}"/>
              </a:ext>
            </a:extLst>
          </p:cNvPr>
          <p:cNvSpPr>
            <a:spLocks noGrp="1"/>
          </p:cNvSpPr>
          <p:nvPr/>
        </p:nvSpPr>
        <p:spPr>
          <a:xfrm>
            <a:off x="6477000" y="2924175"/>
            <a:ext cx="1943100" cy="285750"/>
          </a:xfrm>
          <a:prstGeom prst="rect">
            <a:avLst/>
          </a:prstGeom>
          <a:noFill/>
          <a:ln w="0">
            <a:noFill/>
          </a:ln>
        </p:spPr>
        <p:txBody>
          <a:bodyPr/>
          <a:lstStyle/>
          <a:p>
            <a:pPr algn="l">
              <a:defRPr sz="1500" b="1" i="0">
                <a:solidFill>
                  <a:srgbClr val="1F2937"/>
                </a:solidFill>
                <a:latin typeface="Calibri"/>
                <a:ea typeface="Calibri"/>
                <a:cs typeface="Calibri"/>
              </a:defRPr>
            </a:pPr>
            <a:r>
              <a:rPr sz="1500" b="1" i="0">
                <a:solidFill>
                  <a:srgbClr val="1F2937"/>
                </a:solidFill>
                <a:latin typeface="Calibri"/>
                <a:ea typeface="Calibri"/>
                <a:cs typeface="Calibri"/>
              </a:rPr>
              <a:t>Clearer form</a:t>
            </a:r>
          </a:p>
        </p:txBody>
      </p:sp>
      <p:sp>
        <p:nvSpPr>
          <p:cNvPr id="18" name="Rectangle 17">
            <a:extLst>
              <a:ext uri="{FF2B5EF4-FFF2-40B4-BE49-F238E27FC236}">
                <a16:creationId xmlns:a16="http://schemas.microsoft.com/office/drawing/2014/main" id="{D227128E-2491-49AB-BCCB-785B8FDDEE8E}"/>
              </a:ext>
            </a:extLst>
          </p:cNvPr>
          <p:cNvSpPr>
            <a:spLocks noGrp="1"/>
          </p:cNvSpPr>
          <p:nvPr/>
        </p:nvSpPr>
        <p:spPr>
          <a:xfrm>
            <a:off x="6477000" y="3276600"/>
            <a:ext cx="1943100" cy="228600"/>
          </a:xfrm>
          <a:prstGeom prst="rect">
            <a:avLst/>
          </a:prstGeom>
          <a:noFill/>
          <a:ln w="0">
            <a:noFill/>
          </a:ln>
        </p:spPr>
        <p:txBody>
          <a:bodyPr/>
          <a:lstStyle/>
          <a:p>
            <a:pPr algn="l">
              <a:defRPr sz="1200" b="0" i="0">
                <a:solidFill>
                  <a:srgbClr val="4B5563"/>
                </a:solidFill>
                <a:latin typeface="Cambria"/>
                <a:ea typeface="Cambria"/>
                <a:cs typeface="Cambria"/>
              </a:defRPr>
            </a:pPr>
            <a:r>
              <a:rPr sz="1200" b="0" i="0" dirty="0">
                <a:solidFill>
                  <a:srgbClr val="4B5563"/>
                </a:solidFill>
                <a:latin typeface="Cambria"/>
                <a:ea typeface="Cambria"/>
                <a:cs typeface="Cambria"/>
              </a:rPr>
              <a:t>A better form appears</a:t>
            </a:r>
          </a:p>
        </p:txBody>
      </p:sp>
      <p:pic>
        <p:nvPicPr>
          <p:cNvPr id="24" name="Picture 23">
            <a:extLst>
              <a:ext uri="{FF2B5EF4-FFF2-40B4-BE49-F238E27FC236}">
                <a16:creationId xmlns:a16="http://schemas.microsoft.com/office/drawing/2014/main" id="{D004C5F2-ECAB-0314-4E64-7376307FC10F}"/>
              </a:ext>
            </a:extLst>
          </p:cNvPr>
          <p:cNvPicPr>
            <a:picLocks noChangeAspect="1"/>
          </p:cNvPicPr>
          <p:nvPr/>
        </p:nvPicPr>
        <p:blipFill>
          <a:blip r:embed="rId3"/>
          <a:stretch>
            <a:fillRect/>
          </a:stretch>
        </p:blipFill>
        <p:spPr>
          <a:xfrm>
            <a:off x="7745730" y="2421093"/>
            <a:ext cx="895350" cy="895350"/>
          </a:xfrm>
          <a:prstGeom prst="rect">
            <a:avLst/>
          </a:prstGeom>
        </p:spPr>
      </p:pic>
    </p:spTree>
    <p:extLst>
      <p:ext uri="{BB962C8B-B14F-4D97-AF65-F5344CB8AC3E}">
        <p14:creationId xmlns:p14="http://schemas.microsoft.com/office/powerpoint/2010/main" val="1168694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4C7D4-17A3-4061-A0FD-0F584C755555}"/>
              </a:ext>
            </a:extLst>
          </p:cNvPr>
          <p:cNvSpPr>
            <a:spLocks noGrp="1"/>
          </p:cNvSpPr>
          <p:nvPr/>
        </p:nvSpPr>
        <p:spPr>
          <a:xfrm>
            <a:off x="502920" y="384048"/>
            <a:ext cx="8229600" cy="274320"/>
          </a:xfrm>
          <a:prstGeom prst="rect">
            <a:avLst/>
          </a:prstGeom>
          <a:noFill/>
          <a:ln w="0">
            <a:noFill/>
          </a:ln>
        </p:spPr>
        <p:txBody>
          <a:bodyPr/>
          <a:lstStyle/>
          <a:p>
            <a:pPr algn="l">
              <a:defRPr sz="1200" b="1" i="0">
                <a:solidFill>
                  <a:srgbClr val="0062B8"/>
                </a:solidFill>
                <a:latin typeface="Calibri"/>
                <a:ea typeface="Calibri"/>
                <a:cs typeface="Calibri"/>
              </a:defRPr>
            </a:pPr>
            <a:r>
              <a:rPr sz="1200" b="1" i="0">
                <a:solidFill>
                  <a:srgbClr val="0062B8"/>
                </a:solidFill>
                <a:latin typeface="Calibri"/>
                <a:ea typeface="Calibri"/>
                <a:cs typeface="Calibri"/>
              </a:rPr>
              <a:t>WHAT CHANGES WHEN STUDENTS SPEAK</a:t>
            </a:r>
          </a:p>
        </p:txBody>
      </p:sp>
      <p:sp>
        <p:nvSpPr>
          <p:cNvPr id="3" name="Rectangle 2">
            <a:extLst>
              <a:ext uri="{FF2B5EF4-FFF2-40B4-BE49-F238E27FC236}">
                <a16:creationId xmlns:a16="http://schemas.microsoft.com/office/drawing/2014/main" id="{F62AF541-30E7-4A06-9C60-C028E6A33C47}"/>
              </a:ext>
            </a:extLst>
          </p:cNvPr>
          <p:cNvSpPr>
            <a:spLocks noGrp="1"/>
          </p:cNvSpPr>
          <p:nvPr/>
        </p:nvSpPr>
        <p:spPr>
          <a:xfrm>
            <a:off x="502920" y="713232"/>
            <a:ext cx="8229600" cy="800100"/>
          </a:xfrm>
          <a:prstGeom prst="rect">
            <a:avLst/>
          </a:prstGeom>
          <a:noFill/>
          <a:ln w="0">
            <a:noFill/>
          </a:ln>
        </p:spPr>
        <p:txBody>
          <a:bodyPr/>
          <a:lstStyle/>
          <a:p>
            <a:pPr algn="l">
              <a:defRPr sz="3150" b="1" i="0">
                <a:solidFill>
                  <a:srgbClr val="002E5D"/>
                </a:solidFill>
                <a:latin typeface="Calibri"/>
                <a:ea typeface="Calibri"/>
                <a:cs typeface="Calibri"/>
              </a:defRPr>
            </a:pPr>
            <a:r>
              <a:rPr sz="3150" b="1" i="0">
                <a:solidFill>
                  <a:srgbClr val="002E5D"/>
                </a:solidFill>
                <a:latin typeface="Calibri"/>
                <a:ea typeface="Calibri"/>
                <a:cs typeface="Calibri"/>
              </a:rPr>
              <a:t>Repeating a task builds fluency step by step</a:t>
            </a:r>
          </a:p>
        </p:txBody>
      </p:sp>
      <p:sp>
        <p:nvSpPr>
          <p:cNvPr id="4" name="Rectangle 3">
            <a:extLst>
              <a:ext uri="{FF2B5EF4-FFF2-40B4-BE49-F238E27FC236}">
                <a16:creationId xmlns:a16="http://schemas.microsoft.com/office/drawing/2014/main" id="{AE98B3D4-C09F-4EBC-BC02-B1DCEEBF52E2}"/>
              </a:ext>
            </a:extLst>
          </p:cNvPr>
          <p:cNvSpPr>
            <a:spLocks noGrp="1"/>
          </p:cNvSpPr>
          <p:nvPr/>
        </p:nvSpPr>
        <p:spPr>
          <a:xfrm>
            <a:off x="502920" y="1428338"/>
            <a:ext cx="7810500" cy="400050"/>
          </a:xfrm>
          <a:prstGeom prst="rect">
            <a:avLst/>
          </a:prstGeom>
          <a:noFill/>
          <a:ln w="0">
            <a:noFill/>
          </a:ln>
        </p:spPr>
        <p:txBody>
          <a:bodyPr/>
          <a:lstStyle/>
          <a:p>
            <a:pPr algn="l">
              <a:defRPr sz="1425" b="0" i="0">
                <a:solidFill>
                  <a:srgbClr val="4B5563"/>
                </a:solidFill>
                <a:latin typeface="Cambria"/>
                <a:ea typeface="Cambria"/>
                <a:cs typeface="Cambria"/>
              </a:defRPr>
            </a:pPr>
            <a:r>
              <a:rPr sz="1425" b="0" i="0" dirty="0">
                <a:solidFill>
                  <a:srgbClr val="4B5563"/>
                </a:solidFill>
                <a:latin typeface="Cambria"/>
                <a:ea typeface="Cambria"/>
                <a:cs typeface="Cambria"/>
              </a:rPr>
              <a:t>Fluency improves, but different parts of speaking improve at different times.</a:t>
            </a:r>
          </a:p>
        </p:txBody>
      </p:sp>
      <p:sp>
        <p:nvSpPr>
          <p:cNvPr id="5" name="Rectangle 4">
            <a:extLst>
              <a:ext uri="{FF2B5EF4-FFF2-40B4-BE49-F238E27FC236}">
                <a16:creationId xmlns:a16="http://schemas.microsoft.com/office/drawing/2014/main" id="{46578C6C-957E-428C-B8EC-A22098A67EF2}"/>
              </a:ext>
            </a:extLst>
          </p:cNvPr>
          <p:cNvSpPr>
            <a:spLocks noGrp="1"/>
          </p:cNvSpPr>
          <p:nvPr/>
        </p:nvSpPr>
        <p:spPr>
          <a:xfrm>
            <a:off x="742950" y="1935356"/>
            <a:ext cx="2400300" cy="196215"/>
          </a:xfrm>
          <a:prstGeom prst="rect">
            <a:avLst/>
          </a:prstGeom>
          <a:noFill/>
          <a:ln w="0">
            <a:noFill/>
          </a:ln>
        </p:spPr>
        <p:txBody>
          <a:bodyPr/>
          <a:lstStyle/>
          <a:p>
            <a:pPr algn="l">
              <a:defRPr sz="975" b="1" i="0">
                <a:solidFill>
                  <a:srgbClr val="0062B8"/>
                </a:solidFill>
                <a:latin typeface="Calibri"/>
                <a:ea typeface="Calibri"/>
                <a:cs typeface="Calibri"/>
              </a:defRPr>
            </a:pPr>
            <a:r>
              <a:rPr sz="975" b="1" i="0" dirty="0">
                <a:solidFill>
                  <a:srgbClr val="0062B8"/>
                </a:solidFill>
                <a:latin typeface="Calibri"/>
                <a:ea typeface="Calibri"/>
                <a:cs typeface="Calibri"/>
              </a:rPr>
              <a:t>SAME TASK</a:t>
            </a:r>
            <a:r>
              <a:rPr lang="en-US" sz="975" b="1" i="0" dirty="0">
                <a:solidFill>
                  <a:srgbClr val="0062B8"/>
                </a:solidFill>
                <a:latin typeface="Calibri"/>
                <a:ea typeface="Calibri"/>
                <a:cs typeface="Calibri"/>
              </a:rPr>
              <a:t>—WITH PRACTICE</a:t>
            </a:r>
            <a:endParaRPr sz="975" b="1" i="0" dirty="0">
              <a:solidFill>
                <a:srgbClr val="0062B8"/>
              </a:solidFill>
              <a:latin typeface="Calibri"/>
              <a:ea typeface="Calibri"/>
              <a:cs typeface="Calibri"/>
            </a:endParaRPr>
          </a:p>
        </p:txBody>
      </p:sp>
      <p:sp>
        <p:nvSpPr>
          <p:cNvPr id="6" name="Rectangle 5">
            <a:extLst>
              <a:ext uri="{FF2B5EF4-FFF2-40B4-BE49-F238E27FC236}">
                <a16:creationId xmlns:a16="http://schemas.microsoft.com/office/drawing/2014/main" id="{960B6E50-7895-4FE4-AB12-774EEF295255}"/>
              </a:ext>
            </a:extLst>
          </p:cNvPr>
          <p:cNvSpPr>
            <a:spLocks noGrp="1"/>
          </p:cNvSpPr>
          <p:nvPr/>
        </p:nvSpPr>
        <p:spPr>
          <a:xfrm>
            <a:off x="742950" y="2297307"/>
            <a:ext cx="2057400" cy="1285875"/>
          </a:xfrm>
          <a:prstGeom prst="rect">
            <a:avLst/>
          </a:prstGeom>
          <a:solidFill>
            <a:srgbClr val="E6EFF9"/>
          </a:solidFill>
          <a:ln w="12700">
            <a:solidFill>
              <a:srgbClr val="002E5D"/>
            </a:solidFill>
          </a:ln>
        </p:spPr>
        <p:txBody>
          <a:bodyPr/>
          <a:lstStyle/>
          <a:p>
            <a:endParaRPr lang="en-US"/>
          </a:p>
        </p:txBody>
      </p:sp>
      <p:sp>
        <p:nvSpPr>
          <p:cNvPr id="7" name="Rectangle 6">
            <a:extLst>
              <a:ext uri="{FF2B5EF4-FFF2-40B4-BE49-F238E27FC236}">
                <a16:creationId xmlns:a16="http://schemas.microsoft.com/office/drawing/2014/main" id="{25220D9C-E374-4FBE-8C29-A1C95FEC216C}"/>
              </a:ext>
            </a:extLst>
          </p:cNvPr>
          <p:cNvSpPr>
            <a:spLocks noGrp="1"/>
          </p:cNvSpPr>
          <p:nvPr/>
        </p:nvSpPr>
        <p:spPr>
          <a:xfrm>
            <a:off x="933450" y="2487807"/>
            <a:ext cx="800100" cy="266700"/>
          </a:xfrm>
          <a:prstGeom prst="rect">
            <a:avLst/>
          </a:prstGeom>
          <a:noFill/>
          <a:ln w="0">
            <a:noFill/>
          </a:ln>
        </p:spPr>
        <p:txBody>
          <a:bodyPr/>
          <a:lstStyle/>
          <a:p>
            <a:pPr algn="l">
              <a:defRPr sz="1650" b="1" i="0">
                <a:solidFill>
                  <a:srgbClr val="0062B8"/>
                </a:solidFill>
                <a:latin typeface="Calibri"/>
                <a:ea typeface="Calibri"/>
                <a:cs typeface="Calibri"/>
              </a:defRPr>
            </a:pPr>
            <a:r>
              <a:rPr sz="1650" b="1" i="0">
                <a:solidFill>
                  <a:srgbClr val="0062B8"/>
                </a:solidFill>
                <a:latin typeface="Calibri"/>
                <a:ea typeface="Calibri"/>
                <a:cs typeface="Calibri"/>
              </a:rPr>
              <a:t>1–2</a:t>
            </a:r>
          </a:p>
        </p:txBody>
      </p:sp>
      <p:sp>
        <p:nvSpPr>
          <p:cNvPr id="8" name="Rectangle 7">
            <a:extLst>
              <a:ext uri="{FF2B5EF4-FFF2-40B4-BE49-F238E27FC236}">
                <a16:creationId xmlns:a16="http://schemas.microsoft.com/office/drawing/2014/main" id="{A5682346-5C61-4A6A-92E9-0DB5DEC2610C}"/>
              </a:ext>
            </a:extLst>
          </p:cNvPr>
          <p:cNvSpPr>
            <a:spLocks noGrp="1"/>
          </p:cNvSpPr>
          <p:nvPr/>
        </p:nvSpPr>
        <p:spPr>
          <a:xfrm>
            <a:off x="933450" y="2868807"/>
            <a:ext cx="1619250" cy="548640"/>
          </a:xfrm>
          <a:prstGeom prst="rect">
            <a:avLst/>
          </a:prstGeom>
          <a:noFill/>
          <a:ln w="0">
            <a:noFill/>
          </a:ln>
        </p:spPr>
        <p:txBody>
          <a:bodyPr/>
          <a:lstStyle/>
          <a:p>
            <a:pPr algn="l">
              <a:defRPr sz="1100" b="1" i="0">
                <a:solidFill>
                  <a:srgbClr val="1F2937"/>
                </a:solidFill>
                <a:latin typeface="Cambria"/>
                <a:ea typeface="Cambria"/>
                <a:cs typeface="Cambria"/>
              </a:defRPr>
            </a:pPr>
            <a:r>
              <a:rPr sz="1100" b="1" i="0" dirty="0">
                <a:solidFill>
                  <a:srgbClr val="1F2937"/>
                </a:solidFill>
                <a:latin typeface="Cambria"/>
                <a:ea typeface="Cambria"/>
                <a:cs typeface="Cambria"/>
              </a:rPr>
              <a:t>Pauses at clause ends</a:t>
            </a:r>
          </a:p>
          <a:p>
            <a:pPr algn="l">
              <a:defRPr sz="1100" b="1" i="0">
                <a:solidFill>
                  <a:srgbClr val="1F2937"/>
                </a:solidFill>
                <a:latin typeface="Cambria"/>
                <a:ea typeface="Cambria"/>
                <a:cs typeface="Cambria"/>
              </a:defRPr>
            </a:pPr>
            <a:r>
              <a:rPr sz="1100" b="1" i="0" dirty="0">
                <a:solidFill>
                  <a:srgbClr val="1F2937"/>
                </a:solidFill>
                <a:latin typeface="Cambria"/>
                <a:ea typeface="Cambria"/>
                <a:cs typeface="Cambria"/>
              </a:rPr>
              <a:t>get shorter first</a:t>
            </a:r>
          </a:p>
        </p:txBody>
      </p:sp>
      <p:sp>
        <p:nvSpPr>
          <p:cNvPr id="9" name="Rectangle 8">
            <a:extLst>
              <a:ext uri="{FF2B5EF4-FFF2-40B4-BE49-F238E27FC236}">
                <a16:creationId xmlns:a16="http://schemas.microsoft.com/office/drawing/2014/main" id="{AB8D645D-A734-495F-BF7D-60B55C85DE7E}"/>
              </a:ext>
            </a:extLst>
          </p:cNvPr>
          <p:cNvSpPr>
            <a:spLocks noGrp="1"/>
          </p:cNvSpPr>
          <p:nvPr/>
        </p:nvSpPr>
        <p:spPr>
          <a:xfrm>
            <a:off x="2838450" y="2640207"/>
            <a:ext cx="304800" cy="304800"/>
          </a:xfrm>
          <a:prstGeom prst="rect">
            <a:avLst/>
          </a:prstGeom>
          <a:noFill/>
          <a:ln w="0">
            <a:noFill/>
          </a:ln>
        </p:spPr>
        <p:txBody>
          <a:bodyPr/>
          <a:lstStyle/>
          <a:p>
            <a:pPr algn="ctr">
              <a:defRPr sz="2100" b="1" i="0">
                <a:solidFill>
                  <a:srgbClr val="0062B8"/>
                </a:solidFill>
                <a:latin typeface="Calibri"/>
                <a:ea typeface="Calibri"/>
                <a:cs typeface="Calibri"/>
              </a:defRPr>
            </a:pPr>
            <a:r>
              <a:rPr sz="2100" b="1" i="0">
                <a:solidFill>
                  <a:srgbClr val="0062B8"/>
                </a:solidFill>
                <a:latin typeface="Calibri"/>
                <a:ea typeface="Calibri"/>
                <a:cs typeface="Calibri"/>
              </a:rPr>
              <a:t>→</a:t>
            </a:r>
          </a:p>
        </p:txBody>
      </p:sp>
      <p:sp>
        <p:nvSpPr>
          <p:cNvPr id="10" name="Rectangle 9">
            <a:extLst>
              <a:ext uri="{FF2B5EF4-FFF2-40B4-BE49-F238E27FC236}">
                <a16:creationId xmlns:a16="http://schemas.microsoft.com/office/drawing/2014/main" id="{B16C46E1-E7C5-4B93-B4CA-3A4F75B88F27}"/>
              </a:ext>
            </a:extLst>
          </p:cNvPr>
          <p:cNvSpPr>
            <a:spLocks noGrp="1"/>
          </p:cNvSpPr>
          <p:nvPr/>
        </p:nvSpPr>
        <p:spPr>
          <a:xfrm>
            <a:off x="3143250" y="2297307"/>
            <a:ext cx="2057400" cy="1285875"/>
          </a:xfrm>
          <a:prstGeom prst="rect">
            <a:avLst/>
          </a:prstGeom>
          <a:solidFill>
            <a:srgbClr val="EEF1F5"/>
          </a:solidFill>
          <a:ln w="12700">
            <a:solidFill>
              <a:srgbClr val="002E5D"/>
            </a:solidFill>
          </a:ln>
        </p:spPr>
        <p:txBody>
          <a:bodyPr/>
          <a:lstStyle/>
          <a:p>
            <a:endParaRPr lang="en-US"/>
          </a:p>
        </p:txBody>
      </p:sp>
      <p:sp>
        <p:nvSpPr>
          <p:cNvPr id="11" name="Rectangle 10">
            <a:extLst>
              <a:ext uri="{FF2B5EF4-FFF2-40B4-BE49-F238E27FC236}">
                <a16:creationId xmlns:a16="http://schemas.microsoft.com/office/drawing/2014/main" id="{036192FF-E1EB-4790-87E6-980417059233}"/>
              </a:ext>
            </a:extLst>
          </p:cNvPr>
          <p:cNvSpPr>
            <a:spLocks noGrp="1"/>
          </p:cNvSpPr>
          <p:nvPr/>
        </p:nvSpPr>
        <p:spPr>
          <a:xfrm>
            <a:off x="3333750" y="2487807"/>
            <a:ext cx="800100" cy="266700"/>
          </a:xfrm>
          <a:prstGeom prst="rect">
            <a:avLst/>
          </a:prstGeom>
          <a:noFill/>
          <a:ln w="0">
            <a:noFill/>
          </a:ln>
        </p:spPr>
        <p:txBody>
          <a:bodyPr/>
          <a:lstStyle/>
          <a:p>
            <a:pPr algn="l">
              <a:defRPr sz="1650" b="1" i="0">
                <a:solidFill>
                  <a:srgbClr val="0062B8"/>
                </a:solidFill>
                <a:latin typeface="Calibri"/>
                <a:ea typeface="Calibri"/>
                <a:cs typeface="Calibri"/>
              </a:defRPr>
            </a:pPr>
            <a:r>
              <a:rPr sz="1650" b="1" i="0">
                <a:solidFill>
                  <a:srgbClr val="0062B8"/>
                </a:solidFill>
                <a:latin typeface="Calibri"/>
                <a:ea typeface="Calibri"/>
                <a:cs typeface="Calibri"/>
              </a:rPr>
              <a:t>3–4</a:t>
            </a:r>
          </a:p>
        </p:txBody>
      </p:sp>
      <p:sp>
        <p:nvSpPr>
          <p:cNvPr id="12" name="Rectangle 11">
            <a:extLst>
              <a:ext uri="{FF2B5EF4-FFF2-40B4-BE49-F238E27FC236}">
                <a16:creationId xmlns:a16="http://schemas.microsoft.com/office/drawing/2014/main" id="{99A9979A-2E40-4AF9-84CD-AB99FC651CC5}"/>
              </a:ext>
            </a:extLst>
          </p:cNvPr>
          <p:cNvSpPr>
            <a:spLocks noGrp="1"/>
          </p:cNvSpPr>
          <p:nvPr/>
        </p:nvSpPr>
        <p:spPr>
          <a:xfrm>
            <a:off x="3333750" y="2868807"/>
            <a:ext cx="1619250" cy="548640"/>
          </a:xfrm>
          <a:prstGeom prst="rect">
            <a:avLst/>
          </a:prstGeom>
          <a:noFill/>
          <a:ln w="0">
            <a:noFill/>
          </a:ln>
        </p:spPr>
        <p:txBody>
          <a:bodyPr/>
          <a:lstStyle/>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Pauses mid-clause</a:t>
            </a:r>
          </a:p>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get shorter next</a:t>
            </a:r>
          </a:p>
        </p:txBody>
      </p:sp>
      <p:sp>
        <p:nvSpPr>
          <p:cNvPr id="13" name="Rectangle 12">
            <a:extLst>
              <a:ext uri="{FF2B5EF4-FFF2-40B4-BE49-F238E27FC236}">
                <a16:creationId xmlns:a16="http://schemas.microsoft.com/office/drawing/2014/main" id="{5BC0AC7A-0194-499C-935B-2FB873345D2B}"/>
              </a:ext>
            </a:extLst>
          </p:cNvPr>
          <p:cNvSpPr>
            <a:spLocks noGrp="1"/>
          </p:cNvSpPr>
          <p:nvPr/>
        </p:nvSpPr>
        <p:spPr>
          <a:xfrm>
            <a:off x="5238750" y="2640207"/>
            <a:ext cx="304800" cy="304800"/>
          </a:xfrm>
          <a:prstGeom prst="rect">
            <a:avLst/>
          </a:prstGeom>
          <a:noFill/>
          <a:ln w="0">
            <a:noFill/>
          </a:ln>
        </p:spPr>
        <p:txBody>
          <a:bodyPr/>
          <a:lstStyle/>
          <a:p>
            <a:pPr algn="ctr">
              <a:defRPr sz="2100" b="1" i="0">
                <a:solidFill>
                  <a:srgbClr val="0062B8"/>
                </a:solidFill>
                <a:latin typeface="Calibri"/>
                <a:ea typeface="Calibri"/>
                <a:cs typeface="Calibri"/>
              </a:defRPr>
            </a:pPr>
            <a:r>
              <a:rPr sz="2100" b="1" i="0">
                <a:solidFill>
                  <a:srgbClr val="0062B8"/>
                </a:solidFill>
                <a:latin typeface="Calibri"/>
                <a:ea typeface="Calibri"/>
                <a:cs typeface="Calibri"/>
              </a:rPr>
              <a:t>→</a:t>
            </a:r>
          </a:p>
        </p:txBody>
      </p:sp>
      <p:sp>
        <p:nvSpPr>
          <p:cNvPr id="14" name="Rectangle 13">
            <a:extLst>
              <a:ext uri="{FF2B5EF4-FFF2-40B4-BE49-F238E27FC236}">
                <a16:creationId xmlns:a16="http://schemas.microsoft.com/office/drawing/2014/main" id="{7B4C760C-FFA8-41C7-B99B-E3FF6BA33DA6}"/>
              </a:ext>
            </a:extLst>
          </p:cNvPr>
          <p:cNvSpPr>
            <a:spLocks noGrp="1"/>
          </p:cNvSpPr>
          <p:nvPr/>
        </p:nvSpPr>
        <p:spPr>
          <a:xfrm>
            <a:off x="5543550" y="2297307"/>
            <a:ext cx="2057400" cy="1285875"/>
          </a:xfrm>
          <a:prstGeom prst="rect">
            <a:avLst/>
          </a:prstGeom>
          <a:solidFill>
            <a:srgbClr val="E6EFF9"/>
          </a:solidFill>
          <a:ln w="12700">
            <a:solidFill>
              <a:srgbClr val="002E5D"/>
            </a:solidFill>
          </a:ln>
        </p:spPr>
        <p:txBody>
          <a:bodyPr/>
          <a:lstStyle/>
          <a:p>
            <a:endParaRPr lang="en-US"/>
          </a:p>
        </p:txBody>
      </p:sp>
      <p:sp>
        <p:nvSpPr>
          <p:cNvPr id="15" name="Rectangle 14">
            <a:extLst>
              <a:ext uri="{FF2B5EF4-FFF2-40B4-BE49-F238E27FC236}">
                <a16:creationId xmlns:a16="http://schemas.microsoft.com/office/drawing/2014/main" id="{C51149D1-31FE-4B45-A0ED-B286446464F2}"/>
              </a:ext>
            </a:extLst>
          </p:cNvPr>
          <p:cNvSpPr>
            <a:spLocks noGrp="1"/>
          </p:cNvSpPr>
          <p:nvPr/>
        </p:nvSpPr>
        <p:spPr>
          <a:xfrm>
            <a:off x="5734050" y="2487807"/>
            <a:ext cx="800100" cy="266700"/>
          </a:xfrm>
          <a:prstGeom prst="rect">
            <a:avLst/>
          </a:prstGeom>
          <a:noFill/>
          <a:ln w="0">
            <a:noFill/>
          </a:ln>
        </p:spPr>
        <p:txBody>
          <a:bodyPr/>
          <a:lstStyle/>
          <a:p>
            <a:pPr algn="l">
              <a:defRPr sz="1650" b="1" i="0">
                <a:solidFill>
                  <a:srgbClr val="0062B8"/>
                </a:solidFill>
                <a:latin typeface="Calibri"/>
                <a:ea typeface="Calibri"/>
                <a:cs typeface="Calibri"/>
              </a:defRPr>
            </a:pPr>
            <a:r>
              <a:rPr sz="1650" b="1" i="0">
                <a:solidFill>
                  <a:srgbClr val="0062B8"/>
                </a:solidFill>
                <a:latin typeface="Calibri"/>
                <a:ea typeface="Calibri"/>
                <a:cs typeface="Calibri"/>
              </a:rPr>
              <a:t>5–6</a:t>
            </a:r>
          </a:p>
        </p:txBody>
      </p:sp>
      <p:sp>
        <p:nvSpPr>
          <p:cNvPr id="16" name="Rectangle 15">
            <a:extLst>
              <a:ext uri="{FF2B5EF4-FFF2-40B4-BE49-F238E27FC236}">
                <a16:creationId xmlns:a16="http://schemas.microsoft.com/office/drawing/2014/main" id="{5230E02A-17BE-4D5F-93D6-223BD577C2CE}"/>
              </a:ext>
            </a:extLst>
          </p:cNvPr>
          <p:cNvSpPr>
            <a:spLocks noGrp="1"/>
          </p:cNvSpPr>
          <p:nvPr/>
        </p:nvSpPr>
        <p:spPr>
          <a:xfrm>
            <a:off x="5734050" y="2868807"/>
            <a:ext cx="1619250" cy="548640"/>
          </a:xfrm>
          <a:prstGeom prst="rect">
            <a:avLst/>
          </a:prstGeom>
          <a:noFill/>
          <a:ln w="0">
            <a:noFill/>
          </a:ln>
        </p:spPr>
        <p:txBody>
          <a:bodyPr/>
          <a:lstStyle/>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Self-corrections</a:t>
            </a:r>
          </a:p>
          <a:p>
            <a:pPr algn="l">
              <a:defRPr sz="1100" b="1" i="0">
                <a:solidFill>
                  <a:srgbClr val="1F2937"/>
                </a:solidFill>
                <a:latin typeface="Cambria"/>
                <a:ea typeface="Cambria"/>
                <a:cs typeface="Cambria"/>
              </a:defRPr>
            </a:pPr>
            <a:r>
              <a:rPr sz="1100" b="1" i="0">
                <a:solidFill>
                  <a:srgbClr val="1F2937"/>
                </a:solidFill>
                <a:latin typeface="Cambria"/>
                <a:ea typeface="Cambria"/>
                <a:cs typeface="Cambria"/>
              </a:rPr>
              <a:t>happen less often</a:t>
            </a:r>
          </a:p>
        </p:txBody>
      </p:sp>
      <p:sp>
        <p:nvSpPr>
          <p:cNvPr id="17" name="Rectangle 16">
            <a:extLst>
              <a:ext uri="{FF2B5EF4-FFF2-40B4-BE49-F238E27FC236}">
                <a16:creationId xmlns:a16="http://schemas.microsoft.com/office/drawing/2014/main" id="{945EC10D-3DE2-47B7-9FAD-3A85702925F0}"/>
              </a:ext>
            </a:extLst>
          </p:cNvPr>
          <p:cNvSpPr>
            <a:spLocks noGrp="1"/>
          </p:cNvSpPr>
          <p:nvPr/>
        </p:nvSpPr>
        <p:spPr>
          <a:xfrm>
            <a:off x="502920" y="3678432"/>
            <a:ext cx="8145780" cy="523875"/>
          </a:xfrm>
          <a:prstGeom prst="rect">
            <a:avLst/>
          </a:prstGeom>
          <a:solidFill>
            <a:srgbClr val="FFFFFF"/>
          </a:solidFill>
          <a:ln w="12700">
            <a:solidFill>
              <a:srgbClr val="002E5D"/>
            </a:solidFill>
          </a:ln>
        </p:spPr>
        <p:txBody>
          <a:bodyPr/>
          <a:lstStyle/>
          <a:p>
            <a:endParaRPr lang="en-US"/>
          </a:p>
        </p:txBody>
      </p:sp>
      <p:sp>
        <p:nvSpPr>
          <p:cNvPr id="18" name="Rectangle 17">
            <a:extLst>
              <a:ext uri="{FF2B5EF4-FFF2-40B4-BE49-F238E27FC236}">
                <a16:creationId xmlns:a16="http://schemas.microsoft.com/office/drawing/2014/main" id="{213DC382-B150-4D55-B84C-76A19408F018}"/>
              </a:ext>
            </a:extLst>
          </p:cNvPr>
          <p:cNvSpPr>
            <a:spLocks noGrp="1"/>
          </p:cNvSpPr>
          <p:nvPr/>
        </p:nvSpPr>
        <p:spPr>
          <a:xfrm>
            <a:off x="723900" y="3773682"/>
            <a:ext cx="7715250" cy="381000"/>
          </a:xfrm>
          <a:prstGeom prst="rect">
            <a:avLst/>
          </a:prstGeom>
          <a:noFill/>
          <a:ln w="0">
            <a:noFill/>
          </a:ln>
        </p:spPr>
        <p:txBody>
          <a:bodyPr/>
          <a:lstStyle/>
          <a:p>
            <a:pPr algn="l">
              <a:defRPr sz="1065" b="1" i="0">
                <a:solidFill>
                  <a:srgbClr val="1F2937"/>
                </a:solidFill>
                <a:latin typeface="Cambria"/>
                <a:ea typeface="Cambria"/>
                <a:cs typeface="Cambria"/>
              </a:defRPr>
            </a:pPr>
            <a:r>
              <a:rPr sz="1065" b="1" i="0" dirty="0">
                <a:solidFill>
                  <a:srgbClr val="1F2937"/>
                </a:solidFill>
                <a:latin typeface="Cambria"/>
                <a:ea typeface="Cambria"/>
                <a:cs typeface="Cambria"/>
              </a:rPr>
              <a:t>Lambert et al. (2017): fluency improved right away at all levels. A 2025 review: repetition helped grammar (complexity and accuracy) most, and fluency and vocabulary a little.</a:t>
            </a:r>
          </a:p>
        </p:txBody>
      </p:sp>
      <p:sp>
        <p:nvSpPr>
          <p:cNvPr id="19" name="Rectangle 18">
            <a:extLst>
              <a:ext uri="{FF2B5EF4-FFF2-40B4-BE49-F238E27FC236}">
                <a16:creationId xmlns:a16="http://schemas.microsoft.com/office/drawing/2014/main" id="{4CB63ED7-F1FA-439D-94CE-6A48ACBB3BC0}"/>
              </a:ext>
            </a:extLst>
          </p:cNvPr>
          <p:cNvSpPr>
            <a:spLocks noGrp="1"/>
          </p:cNvSpPr>
          <p:nvPr/>
        </p:nvSpPr>
        <p:spPr>
          <a:xfrm>
            <a:off x="502920" y="4733925"/>
            <a:ext cx="8138160" cy="171450"/>
          </a:xfrm>
          <a:prstGeom prst="rect">
            <a:avLst/>
          </a:prstGeom>
          <a:noFill/>
          <a:ln w="0">
            <a:noFill/>
          </a:ln>
        </p:spPr>
        <p:txBody>
          <a:bodyPr/>
          <a:lstStyle/>
          <a:p>
            <a:pPr algn="l">
              <a:defRPr sz="788" b="0" i="0">
                <a:solidFill>
                  <a:srgbClr val="4B5563"/>
                </a:solidFill>
                <a:latin typeface="Calibri"/>
                <a:ea typeface="Calibri"/>
                <a:cs typeface="Calibri"/>
              </a:defRPr>
            </a:pPr>
            <a:r>
              <a:rPr sz="788" b="0" i="0" dirty="0">
                <a:solidFill>
                  <a:srgbClr val="4B5563"/>
                </a:solidFill>
                <a:latin typeface="Calibri"/>
                <a:ea typeface="Calibri"/>
                <a:cs typeface="Calibri"/>
              </a:rPr>
              <a:t>Lambert, Kormos, &amp; Minn, 2017 · Hanzawa, 2024 · Abdi Tabari, Zhuang, &amp; </a:t>
            </a:r>
            <a:r>
              <a:rPr sz="788" b="0" i="0" dirty="0" err="1">
                <a:solidFill>
                  <a:srgbClr val="4B5563"/>
                </a:solidFill>
                <a:latin typeface="Calibri"/>
                <a:ea typeface="Calibri"/>
                <a:cs typeface="Calibri"/>
              </a:rPr>
              <a:t>Farahanynia</a:t>
            </a:r>
            <a:r>
              <a:rPr sz="788" b="0" i="0" dirty="0">
                <a:solidFill>
                  <a:srgbClr val="4B5563"/>
                </a:solidFill>
                <a:latin typeface="Calibri"/>
                <a:ea typeface="Calibri"/>
                <a:cs typeface="Calibri"/>
              </a:rPr>
              <a:t>, 2025</a:t>
            </a:r>
          </a:p>
        </p:txBody>
      </p:sp>
      <p:sp>
        <p:nvSpPr>
          <p:cNvPr id="20" name="TextBox 19">
            <a:extLst>
              <a:ext uri="{FF2B5EF4-FFF2-40B4-BE49-F238E27FC236}">
                <a16:creationId xmlns:a16="http://schemas.microsoft.com/office/drawing/2014/main" id="{B99D5C02-D364-37A7-0F71-3A0CB39BFC3B}"/>
              </a:ext>
            </a:extLst>
          </p:cNvPr>
          <p:cNvSpPr txBox="1"/>
          <p:nvPr/>
        </p:nvSpPr>
        <p:spPr>
          <a:xfrm>
            <a:off x="6571622" y="160774"/>
            <a:ext cx="1984261" cy="369332"/>
          </a:xfrm>
          <a:prstGeom prst="rect">
            <a:avLst/>
          </a:prstGeom>
          <a:noFill/>
        </p:spPr>
        <p:txBody>
          <a:bodyPr wrap="none" rtlCol="0">
            <a:spAutoFit/>
          </a:bodyPr>
          <a:lstStyle/>
          <a:p>
            <a:r>
              <a:rPr lang="en-US" dirty="0">
                <a:solidFill>
                  <a:srgbClr val="C00000"/>
                </a:solidFill>
              </a:rPr>
              <a:t>AUDIO EXAMPLE?</a:t>
            </a:r>
          </a:p>
        </p:txBody>
      </p:sp>
    </p:spTree>
    <p:extLst>
      <p:ext uri="{BB962C8B-B14F-4D97-AF65-F5344CB8AC3E}">
        <p14:creationId xmlns:p14="http://schemas.microsoft.com/office/powerpoint/2010/main" val="1009398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EF8B11F-56DA-4E63-BC92-C922229FE38F}"/>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WHERE THIS COMES FROM</a:t>
            </a:r>
            <a:endParaRPr sz="1200"/>
          </a:p>
        </p:txBody>
      </p:sp>
      <p:sp>
        <p:nvSpPr>
          <p:cNvPr id="3" name="Text 1">
            <a:extLst>
              <a:ext uri="{FF2B5EF4-FFF2-40B4-BE49-F238E27FC236}">
                <a16:creationId xmlns:a16="http://schemas.microsoft.com/office/drawing/2014/main" id="{6D4B84F2-A401-4A65-94BF-196D622F010B}"/>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lang="en-US" sz="3400" b="1" dirty="0">
                <a:solidFill>
                  <a:srgbClr val="002E5D"/>
                </a:solidFill>
                <a:latin typeface="Calibri"/>
                <a:ea typeface="Calibri"/>
                <a:cs typeface="Calibri"/>
              </a:rPr>
              <a:t>Lots of good</a:t>
            </a:r>
            <a:r>
              <a:rPr sz="3400" b="1" dirty="0">
                <a:solidFill>
                  <a:srgbClr val="002E5D"/>
                </a:solidFill>
                <a:latin typeface="Calibri"/>
                <a:ea typeface="Calibri"/>
                <a:cs typeface="Calibri"/>
              </a:rPr>
              <a:t> input </a:t>
            </a:r>
            <a:r>
              <a:rPr lang="en-US" sz="3400" b="1" dirty="0">
                <a:solidFill>
                  <a:srgbClr val="002E5D"/>
                </a:solidFill>
                <a:latin typeface="Calibri"/>
                <a:ea typeface="Calibri"/>
                <a:cs typeface="Calibri"/>
              </a:rPr>
              <a:t>i</a:t>
            </a:r>
            <a:r>
              <a:rPr sz="3400" b="1" dirty="0">
                <a:solidFill>
                  <a:srgbClr val="002E5D"/>
                </a:solidFill>
                <a:latin typeface="Calibri"/>
                <a:ea typeface="Calibri"/>
                <a:cs typeface="Calibri"/>
              </a:rPr>
              <a:t>sn't enough</a:t>
            </a:r>
            <a:endParaRPr lang="en-US" sz="3400" b="1" dirty="0">
              <a:solidFill>
                <a:srgbClr val="002E5D"/>
              </a:solidFill>
              <a:latin typeface="Calibri"/>
              <a:ea typeface="Calibri"/>
              <a:cs typeface="Calibri"/>
            </a:endParaRPr>
          </a:p>
          <a:p>
            <a:pPr marL="0" indent="0" algn="l">
              <a:buNone/>
            </a:pPr>
            <a:r>
              <a:rPr lang="en-US" sz="3400" b="1" dirty="0">
                <a:solidFill>
                  <a:srgbClr val="002E5D"/>
                </a:solidFill>
                <a:latin typeface="Calibri"/>
                <a:ea typeface="Calibri"/>
                <a:cs typeface="Calibri"/>
              </a:rPr>
              <a:t>	</a:t>
            </a:r>
            <a:r>
              <a:rPr lang="en-US" sz="2800" b="1" dirty="0">
                <a:solidFill>
                  <a:srgbClr val="002E5D"/>
                </a:solidFill>
                <a:latin typeface="Calibri"/>
                <a:ea typeface="Calibri"/>
                <a:cs typeface="Calibri"/>
              </a:rPr>
              <a:t>Listening alone doesn’t produce proficiency</a:t>
            </a:r>
            <a:r>
              <a:rPr lang="en-US" sz="3400" b="1" dirty="0">
                <a:solidFill>
                  <a:srgbClr val="002E5D"/>
                </a:solidFill>
                <a:latin typeface="Calibri"/>
                <a:ea typeface="Calibri"/>
                <a:cs typeface="Calibri"/>
              </a:rPr>
              <a:t>  </a:t>
            </a:r>
            <a:endParaRPr sz="3400" dirty="0"/>
          </a:p>
        </p:txBody>
      </p:sp>
      <p:sp>
        <p:nvSpPr>
          <p:cNvPr id="4" name="Text 2">
            <a:extLst>
              <a:ext uri="{FF2B5EF4-FFF2-40B4-BE49-F238E27FC236}">
                <a16:creationId xmlns:a16="http://schemas.microsoft.com/office/drawing/2014/main" id="{F79E047E-4980-432C-A3E9-1BBAB3864D6D}"/>
              </a:ext>
            </a:extLst>
          </p:cNvPr>
          <p:cNvSpPr>
            <a:spLocks noGrp="1"/>
          </p:cNvSpPr>
          <p:nvPr/>
        </p:nvSpPr>
        <p:spPr>
          <a:xfrm>
            <a:off x="502920" y="2571750"/>
            <a:ext cx="6397610" cy="2743200"/>
          </a:xfrm>
          <a:prstGeom prst="rect">
            <a:avLst/>
          </a:prstGeom>
          <a:noFill/>
        </p:spPr>
        <p:txBody>
          <a:bodyPr wrap="square" lIns="0" tIns="0" rIns="0" bIns="0" anchor="t"/>
          <a:lstStyle/>
          <a:p>
            <a:pPr marL="0" indent="0" algn="l">
              <a:lnSpc>
                <a:spcPct val="110000"/>
              </a:lnSpc>
              <a:buNone/>
            </a:pPr>
            <a:r>
              <a:rPr b="1" dirty="0">
                <a:solidFill>
                  <a:srgbClr val="1F2937"/>
                </a:solidFill>
                <a:latin typeface="Cambria"/>
                <a:ea typeface="Cambria"/>
                <a:cs typeface="Cambria"/>
              </a:rPr>
              <a:t>Merrill Swain </a:t>
            </a:r>
            <a:r>
              <a:rPr dirty="0">
                <a:solidFill>
                  <a:srgbClr val="1F2937"/>
                </a:solidFill>
                <a:latin typeface="Cambria"/>
                <a:ea typeface="Cambria"/>
                <a:cs typeface="Cambria"/>
              </a:rPr>
              <a:t>studied students who learned in English-only classes for years. They heard lots of English they could understand, but their speaking stopped getting more accurate. Her conclusion: hearing English is necessary, but it is not enough. Learners also need to speak it</a:t>
            </a:r>
            <a:r>
              <a:rPr lang="en-US" dirty="0">
                <a:solidFill>
                  <a:srgbClr val="1F2937"/>
                </a:solidFill>
                <a:latin typeface="Cambria"/>
                <a:ea typeface="Cambria"/>
                <a:cs typeface="Cambria"/>
              </a:rPr>
              <a:t> in order to become proficient and fluent speakers.</a:t>
            </a:r>
          </a:p>
          <a:p>
            <a:pPr marL="0" indent="0" algn="l">
              <a:lnSpc>
                <a:spcPct val="110000"/>
              </a:lnSpc>
              <a:buNone/>
            </a:pPr>
            <a:endParaRPr lang="en-US" dirty="0">
              <a:solidFill>
                <a:srgbClr val="1F2937"/>
              </a:solidFill>
              <a:latin typeface="Cambria"/>
            </a:endParaRPr>
          </a:p>
          <a:p>
            <a:pPr marL="0" indent="0" algn="l">
              <a:lnSpc>
                <a:spcPct val="110000"/>
              </a:lnSpc>
              <a:buNone/>
            </a:pPr>
            <a:r>
              <a:rPr lang="en-US" dirty="0">
                <a:solidFill>
                  <a:srgbClr val="1F2937"/>
                </a:solidFill>
                <a:latin typeface="Cambria"/>
              </a:rPr>
              <a:t>	</a:t>
            </a:r>
            <a:r>
              <a:rPr lang="en-US" b="1" dirty="0">
                <a:solidFill>
                  <a:srgbClr val="1F2937"/>
                </a:solidFill>
                <a:latin typeface="Cambria"/>
              </a:rPr>
              <a:t>Output Hypothesis</a:t>
            </a:r>
            <a:endParaRPr dirty="0"/>
          </a:p>
        </p:txBody>
      </p:sp>
    </p:spTree>
    <p:extLst>
      <p:ext uri="{BB962C8B-B14F-4D97-AF65-F5344CB8AC3E}">
        <p14:creationId xmlns:p14="http://schemas.microsoft.com/office/powerpoint/2010/main" val="428952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D25F20EE-E13D-4173-B438-D8C67B5E3D08}"/>
              </a:ext>
            </a:extLst>
          </p:cNvPr>
          <p:cNvSpPr>
            <a:spLocks noGrp="1"/>
          </p:cNvSpPr>
          <p:nvPr/>
        </p:nvSpPr>
        <p:spPr>
          <a:xfrm>
            <a:off x="502920" y="548640"/>
            <a:ext cx="2148840" cy="457200"/>
          </a:xfrm>
          <a:prstGeom prst="roundRect">
            <a:avLst>
              <a:gd name="adj" fmla="val 12000"/>
            </a:avLst>
          </a:prstGeom>
          <a:solidFill>
            <a:srgbClr val="BE965C"/>
          </a:solidFill>
          <a:ln w="12700">
            <a:solidFill>
              <a:srgbClr val="002E5D"/>
            </a:solidFill>
            <a:prstDash val="solid"/>
          </a:ln>
        </p:spPr>
        <p:txBody>
          <a:bodyPr/>
          <a:lstStyle/>
          <a:p>
            <a:endParaRPr/>
          </a:p>
        </p:txBody>
      </p:sp>
      <p:sp>
        <p:nvSpPr>
          <p:cNvPr id="4" name="Text 2">
            <a:extLst>
              <a:ext uri="{FF2B5EF4-FFF2-40B4-BE49-F238E27FC236}">
                <a16:creationId xmlns:a16="http://schemas.microsoft.com/office/drawing/2014/main" id="{E9ECB415-7C66-4662-A643-631FFE9D2D9C}"/>
              </a:ext>
            </a:extLst>
          </p:cNvPr>
          <p:cNvSpPr>
            <a:spLocks noGrp="1"/>
          </p:cNvSpPr>
          <p:nvPr/>
        </p:nvSpPr>
        <p:spPr>
          <a:xfrm>
            <a:off x="502920" y="548640"/>
            <a:ext cx="2148840" cy="457200"/>
          </a:xfrm>
          <a:prstGeom prst="rect">
            <a:avLst/>
          </a:prstGeom>
          <a:noFill/>
        </p:spPr>
        <p:txBody>
          <a:bodyPr wrap="square" lIns="0" tIns="0" rIns="0" bIns="0" anchor="ctr"/>
          <a:lstStyle/>
          <a:p>
            <a:pPr marL="0" indent="0" algn="ctr">
              <a:buNone/>
            </a:pPr>
            <a:r>
              <a:rPr sz="1300" b="1" dirty="0">
                <a:solidFill>
                  <a:srgbClr val="FFFFFF"/>
                </a:solidFill>
                <a:latin typeface="Calibri"/>
                <a:ea typeface="Calibri"/>
                <a:cs typeface="Calibri"/>
              </a:rPr>
              <a:t>DEMO · 1</a:t>
            </a:r>
            <a:endParaRPr sz="1300" dirty="0"/>
          </a:p>
        </p:txBody>
      </p:sp>
      <p:pic>
        <p:nvPicPr>
          <p:cNvPr id="12" name="Image 0"/>
          <p:cNvPicPr>
            <a:picLocks noChangeAspect="1"/>
          </p:cNvPicPr>
          <p:nvPr/>
        </p:nvPicPr>
        <p:blipFill>
          <a:blip r:embed="rId3"/>
          <a:stretch>
            <a:fillRect/>
          </a:stretch>
        </p:blipFill>
        <p:spPr>
          <a:xfrm>
            <a:off x="502920" y="1371600"/>
            <a:ext cx="640080" cy="640080"/>
          </a:xfrm>
          <a:prstGeom prst="rect">
            <a:avLst/>
          </a:prstGeom>
        </p:spPr>
      </p:pic>
      <p:sp>
        <p:nvSpPr>
          <p:cNvPr id="6" name="Text 3">
            <a:extLst>
              <a:ext uri="{FF2B5EF4-FFF2-40B4-BE49-F238E27FC236}">
                <a16:creationId xmlns:a16="http://schemas.microsoft.com/office/drawing/2014/main" id="{319B786C-DC55-422B-9084-7544D931845A}"/>
              </a:ext>
            </a:extLst>
          </p:cNvPr>
          <p:cNvSpPr>
            <a:spLocks noGrp="1"/>
          </p:cNvSpPr>
          <p:nvPr/>
        </p:nvSpPr>
        <p:spPr>
          <a:xfrm>
            <a:off x="502920" y="2148840"/>
            <a:ext cx="7589520" cy="1737360"/>
          </a:xfrm>
          <a:prstGeom prst="rect">
            <a:avLst/>
          </a:prstGeom>
          <a:noFill/>
        </p:spPr>
        <p:txBody>
          <a:bodyPr wrap="square" lIns="0" tIns="0" rIns="0" bIns="0" anchor="t"/>
          <a:lstStyle/>
          <a:p>
            <a:pPr marL="0" indent="0" algn="l">
              <a:lnSpc>
                <a:spcPct val="100000"/>
              </a:lnSpc>
              <a:buNone/>
            </a:pPr>
            <a:r>
              <a:rPr sz="3400" b="1" dirty="0">
                <a:solidFill>
                  <a:srgbClr val="FFFFFF"/>
                </a:solidFill>
                <a:latin typeface="Calibri"/>
                <a:ea typeface="Calibri"/>
                <a:cs typeface="Calibri"/>
              </a:rPr>
              <a:t>Same question, </a:t>
            </a:r>
            <a:r>
              <a:rPr lang="en-US" sz="3400" b="1" dirty="0">
                <a:solidFill>
                  <a:srgbClr val="FFFFFF"/>
                </a:solidFill>
                <a:latin typeface="Calibri"/>
                <a:ea typeface="Calibri"/>
                <a:cs typeface="Calibri"/>
              </a:rPr>
              <a:t>several</a:t>
            </a:r>
            <a:r>
              <a:rPr sz="3400" b="1" dirty="0">
                <a:solidFill>
                  <a:srgbClr val="FFFFFF"/>
                </a:solidFill>
                <a:latin typeface="Calibri"/>
                <a:ea typeface="Calibri"/>
                <a:cs typeface="Calibri"/>
              </a:rPr>
              <a:t> ways. </a:t>
            </a:r>
            <a:endParaRPr sz="3400" dirty="0"/>
          </a:p>
        </p:txBody>
      </p:sp>
      <p:sp>
        <p:nvSpPr>
          <p:cNvPr id="7" name="Text 4">
            <a:extLst>
              <a:ext uri="{FF2B5EF4-FFF2-40B4-BE49-F238E27FC236}">
                <a16:creationId xmlns:a16="http://schemas.microsoft.com/office/drawing/2014/main" id="{7D682BE6-074A-4C70-BCA6-20A748C9AAE5}"/>
              </a:ext>
            </a:extLst>
          </p:cNvPr>
          <p:cNvSpPr>
            <a:spLocks noGrp="1"/>
          </p:cNvSpPr>
          <p:nvPr/>
        </p:nvSpPr>
        <p:spPr>
          <a:xfrm>
            <a:off x="502920" y="3886200"/>
            <a:ext cx="7863840" cy="548640"/>
          </a:xfrm>
          <a:prstGeom prst="rect">
            <a:avLst/>
          </a:prstGeom>
          <a:noFill/>
        </p:spPr>
        <p:txBody>
          <a:bodyPr wrap="square" lIns="0" tIns="0" rIns="0" bIns="0" anchor="ctr"/>
          <a:lstStyle/>
          <a:p>
            <a:pPr marL="0" indent="0" algn="l">
              <a:buNone/>
            </a:pPr>
            <a:r>
              <a:rPr sz="1500" dirty="0">
                <a:solidFill>
                  <a:srgbClr val="C5CCD6"/>
                </a:solidFill>
                <a:latin typeface="Cambria"/>
                <a:ea typeface="Cambria"/>
                <a:cs typeface="Cambria"/>
              </a:rPr>
              <a:t>Demo 1 — Getting everyone talking</a:t>
            </a:r>
            <a:endParaRPr sz="1500" dirty="0"/>
          </a:p>
        </p:txBody>
      </p:sp>
      <p:pic>
        <p:nvPicPr>
          <p:cNvPr id="955" name="BYU Linguistics logo" descr="BYU Linguistics logo"/>
          <p:cNvPicPr>
            <a:picLocks noChangeAspect="1"/>
          </p:cNvPicPr>
          <p:nvPr/>
        </p:nvPicPr>
        <p:blipFill>
          <a:blip r:embed="rId4"/>
          <a:stretch>
            <a:fillRect/>
          </a:stretch>
        </p:blipFill>
        <p:spPr>
          <a:xfrm>
            <a:off x="7269480" y="457200"/>
            <a:ext cx="1371600" cy="797379"/>
          </a:xfrm>
          <a:prstGeom prst="rect">
            <a:avLst/>
          </a:prstGeom>
        </p:spPr>
      </p:pic>
      <p:sp>
        <p:nvSpPr>
          <p:cNvPr id="2" name="TextBox 1">
            <a:extLst>
              <a:ext uri="{FF2B5EF4-FFF2-40B4-BE49-F238E27FC236}">
                <a16:creationId xmlns:a16="http://schemas.microsoft.com/office/drawing/2014/main" id="{CD9B64D4-E00E-223D-5E67-63ED58EA1A4C}"/>
              </a:ext>
            </a:extLst>
          </p:cNvPr>
          <p:cNvSpPr txBox="1"/>
          <p:nvPr/>
        </p:nvSpPr>
        <p:spPr>
          <a:xfrm>
            <a:off x="2966713" y="1780847"/>
            <a:ext cx="2289153" cy="461665"/>
          </a:xfrm>
          <a:prstGeom prst="rect">
            <a:avLst/>
          </a:prstGeom>
          <a:noFill/>
        </p:spPr>
        <p:txBody>
          <a:bodyPr wrap="none" rtlCol="0">
            <a:spAutoFit/>
          </a:bodyPr>
          <a:lstStyle/>
          <a:p>
            <a:r>
              <a:rPr lang="en-US" sz="2400" dirty="0">
                <a:solidFill>
                  <a:schemeClr val="accent1">
                    <a:lumMod val="75000"/>
                  </a:schemeClr>
                </a:solidFill>
              </a:rPr>
              <a:t>Pair Work Value</a:t>
            </a:r>
          </a:p>
        </p:txBody>
      </p:sp>
    </p:spTree>
    <p:extLst>
      <p:ext uri="{BB962C8B-B14F-4D97-AF65-F5344CB8AC3E}">
        <p14:creationId xmlns:p14="http://schemas.microsoft.com/office/powerpoint/2010/main" val="2306597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6B332A4-D438-4773-A77F-5ED49A448D9D}"/>
              </a:ext>
            </a:extLst>
          </p:cNvPr>
          <p:cNvSpPr>
            <a:spLocks noGrp="1"/>
          </p:cNvSpPr>
          <p:nvPr/>
        </p:nvSpPr>
        <p:spPr>
          <a:xfrm>
            <a:off x="1465326" y="0"/>
            <a:ext cx="6213348" cy="51435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eform: Shape 9">
            <a:extLst>
              <a:ext uri="{FF2B5EF4-FFF2-40B4-BE49-F238E27FC236}">
                <a16:creationId xmlns:a16="http://schemas.microsoft.com/office/drawing/2014/main" id="{DF9AD32D-FF05-44F4-BD4D-9CEE89B71EB9}"/>
              </a:ext>
            </a:extLst>
          </p:cNvPr>
          <p:cNvSpPr>
            <a:spLocks noGrp="1"/>
          </p:cNvSpPr>
          <p:nvPr/>
        </p:nvSpPr>
        <p:spPr>
          <a:xfrm>
            <a:off x="1588770" y="0"/>
            <a:ext cx="5966460" cy="51435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 name="TextBox 2">
            <a:extLst>
              <a:ext uri="{FF2B5EF4-FFF2-40B4-BE49-F238E27FC236}">
                <a16:creationId xmlns:a16="http://schemas.microsoft.com/office/drawing/2014/main" id="{6CEE1DF9-B726-6ED1-26DB-FAC782F3D1F1}"/>
              </a:ext>
            </a:extLst>
          </p:cNvPr>
          <p:cNvSpPr>
            <a:spLocks noGrp="1"/>
          </p:cNvSpPr>
          <p:nvPr/>
        </p:nvSpPr>
        <p:spPr>
          <a:xfrm>
            <a:off x="1916723" y="1081453"/>
            <a:ext cx="5310553" cy="2980593"/>
          </a:xfrm>
          <a:prstGeom prst="rect">
            <a:avLst/>
          </a:prstGeom>
        </p:spPr>
        <p:txBody>
          <a:bodyPr vert="horz" lIns="91440" tIns="45720" rIns="91440" bIns="45720" anchor="ctr">
            <a:normAutofit/>
          </a:bodyPr>
          <a:lstStyle/>
          <a:p>
            <a:pPr algn="ctr">
              <a:lnSpc>
                <a:spcPct val="90000"/>
              </a:lnSpc>
              <a:spcBef>
                <a:spcPct val="0"/>
              </a:spcBef>
              <a:spcAft>
                <a:spcPts val="600"/>
              </a:spcAft>
              <a:buNone/>
            </a:pPr>
            <a:r>
              <a:rPr lang="en-US" sz="4100" dirty="0">
                <a:solidFill>
                  <a:schemeClr val="bg1">
                    <a:lumMod val="95000"/>
                    <a:lumOff val="5000"/>
                  </a:schemeClr>
                </a:solidFill>
                <a:latin typeface="+mj-lt"/>
                <a:ea typeface="+mj-lt"/>
                <a:cs typeface="+mj-lt"/>
              </a:rPr>
              <a:t>What did you like to do in your free time?</a:t>
            </a:r>
            <a:endParaRPr sz="4100" dirty="0">
              <a:solidFill>
                <a:schemeClr val="bg1">
                  <a:lumMod val="95000"/>
                  <a:lumOff val="5000"/>
                </a:schemeClr>
              </a:solidFill>
              <a:latin typeface="+mj-lt"/>
              <a:ea typeface="+mj-lt"/>
              <a:cs typeface="+mj-lt"/>
            </a:endParaRPr>
          </a:p>
        </p:txBody>
      </p:sp>
      <p:sp>
        <p:nvSpPr>
          <p:cNvPr id="2" name="TextBox 1">
            <a:extLst>
              <a:ext uri="{FF2B5EF4-FFF2-40B4-BE49-F238E27FC236}">
                <a16:creationId xmlns:a16="http://schemas.microsoft.com/office/drawing/2014/main" id="{16F1C974-577D-18C9-FF3B-7D9100F2BA96}"/>
              </a:ext>
            </a:extLst>
          </p:cNvPr>
          <p:cNvSpPr>
            <a:spLocks noGrp="1"/>
          </p:cNvSpPr>
          <p:nvPr/>
        </p:nvSpPr>
        <p:spPr>
          <a:xfrm>
            <a:off x="1531088" y="1233377"/>
            <a:ext cx="184731" cy="369332"/>
          </a:xfrm>
          <a:prstGeom prst="rect">
            <a:avLst/>
          </a:prstGeom>
          <a:noFill/>
        </p:spPr>
        <p:txBody>
          <a:bodyPr wrap="none">
            <a:spAutoFit/>
          </a:bodyPr>
          <a:lstStyle/>
          <a:p>
            <a:endParaRPr/>
          </a:p>
        </p:txBody>
      </p:sp>
      <p:sp>
        <p:nvSpPr>
          <p:cNvPr id="4" name="TextBox 3">
            <a:extLst>
              <a:ext uri="{FF2B5EF4-FFF2-40B4-BE49-F238E27FC236}">
                <a16:creationId xmlns:a16="http://schemas.microsoft.com/office/drawing/2014/main" id="{3960D963-53FC-9DAE-9BD8-4A1593449307}"/>
              </a:ext>
            </a:extLst>
          </p:cNvPr>
          <p:cNvSpPr txBox="1"/>
          <p:nvPr/>
        </p:nvSpPr>
        <p:spPr>
          <a:xfrm>
            <a:off x="99216" y="3806605"/>
            <a:ext cx="1817507" cy="923330"/>
          </a:xfrm>
          <a:prstGeom prst="rect">
            <a:avLst/>
          </a:prstGeom>
          <a:noFill/>
        </p:spPr>
        <p:txBody>
          <a:bodyPr wrap="square" rtlCol="0">
            <a:spAutoFit/>
          </a:bodyPr>
          <a:lstStyle/>
          <a:p>
            <a:r>
              <a:rPr lang="en-US" dirty="0"/>
              <a:t>Question to whole group or class </a:t>
            </a:r>
          </a:p>
        </p:txBody>
      </p:sp>
    </p:spTree>
    <p:extLst>
      <p:ext uri="{BB962C8B-B14F-4D97-AF65-F5344CB8AC3E}">
        <p14:creationId xmlns:p14="http://schemas.microsoft.com/office/powerpoint/2010/main" val="2887858298"/>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A651D53-234F-4BFC-B620-1EDC23AC07F3}"/>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THE REAL PROBLEM</a:t>
            </a:r>
            <a:endParaRPr sz="1200"/>
          </a:p>
        </p:txBody>
      </p:sp>
      <p:sp>
        <p:nvSpPr>
          <p:cNvPr id="3" name="Text 1">
            <a:extLst>
              <a:ext uri="{FF2B5EF4-FFF2-40B4-BE49-F238E27FC236}">
                <a16:creationId xmlns:a16="http://schemas.microsoft.com/office/drawing/2014/main" id="{9DF61E17-236B-41F7-AFE6-ECBE051770E4}"/>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One learner talks. Twenty-five </a:t>
            </a:r>
            <a:r>
              <a:rPr lang="en-US" sz="3400" b="1" dirty="0">
                <a:solidFill>
                  <a:srgbClr val="002E5D"/>
                </a:solidFill>
                <a:latin typeface="Calibri"/>
                <a:ea typeface="Calibri"/>
                <a:cs typeface="Calibri"/>
              </a:rPr>
              <a:t>students </a:t>
            </a:r>
            <a:r>
              <a:rPr sz="3400" b="1" dirty="0">
                <a:solidFill>
                  <a:srgbClr val="002E5D"/>
                </a:solidFill>
                <a:latin typeface="Calibri"/>
                <a:ea typeface="Calibri"/>
                <a:cs typeface="Calibri"/>
              </a:rPr>
              <a:t>wait.</a:t>
            </a:r>
            <a:endParaRPr sz="3400" dirty="0"/>
          </a:p>
        </p:txBody>
      </p:sp>
      <p:sp>
        <p:nvSpPr>
          <p:cNvPr id="4" name="Text 2">
            <a:extLst>
              <a:ext uri="{FF2B5EF4-FFF2-40B4-BE49-F238E27FC236}">
                <a16:creationId xmlns:a16="http://schemas.microsoft.com/office/drawing/2014/main" id="{B635DE94-D979-4210-A632-5FD7774D2DE8}"/>
              </a:ext>
            </a:extLst>
          </p:cNvPr>
          <p:cNvSpPr>
            <a:spLocks noGrp="1"/>
          </p:cNvSpPr>
          <p:nvPr/>
        </p:nvSpPr>
        <p:spPr>
          <a:xfrm>
            <a:off x="502920" y="1783080"/>
            <a:ext cx="5029200" cy="2377440"/>
          </a:xfrm>
          <a:prstGeom prst="rect">
            <a:avLst/>
          </a:prstGeom>
          <a:noFill/>
        </p:spPr>
        <p:txBody>
          <a:bodyPr wrap="square" lIns="0" tIns="0" rIns="0" bIns="0" anchor="t"/>
          <a:lstStyle/>
          <a:p>
            <a:pPr marL="0" indent="0" algn="l">
              <a:lnSpc>
                <a:spcPct val="112000"/>
              </a:lnSpc>
              <a:buNone/>
            </a:pPr>
            <a:r>
              <a:rPr sz="1600" dirty="0">
                <a:solidFill>
                  <a:srgbClr val="1F2937"/>
                </a:solidFill>
                <a:latin typeface="Cambria"/>
                <a:ea typeface="Cambria"/>
                <a:cs typeface="Cambria"/>
              </a:rPr>
              <a:t>When the teacher asks the whole class a question, </a:t>
            </a:r>
            <a:r>
              <a:rPr sz="1600" b="1" dirty="0">
                <a:solidFill>
                  <a:srgbClr val="1F2937"/>
                </a:solidFill>
                <a:latin typeface="Cambria"/>
                <a:ea typeface="Cambria"/>
                <a:cs typeface="Cambria"/>
              </a:rPr>
              <a:t>only one student speaks at a time. </a:t>
            </a:r>
            <a:r>
              <a:rPr sz="1600" dirty="0">
                <a:solidFill>
                  <a:srgbClr val="1F2937"/>
                </a:solidFill>
                <a:latin typeface="Cambria"/>
                <a:ea typeface="Cambria"/>
                <a:cs typeface="Cambria"/>
              </a:rPr>
              <a:t>A few confident students answer, and most say nothing. The class feels busy, but almost no one is practicing.</a:t>
            </a:r>
            <a:endParaRPr sz="1600" dirty="0"/>
          </a:p>
        </p:txBody>
      </p:sp>
      <p:sp>
        <p:nvSpPr>
          <p:cNvPr id="5" name="Shape 3">
            <a:extLst>
              <a:ext uri="{FF2B5EF4-FFF2-40B4-BE49-F238E27FC236}">
                <a16:creationId xmlns:a16="http://schemas.microsoft.com/office/drawing/2014/main" id="{A2FECEAB-5713-4E25-BE49-62CF37CFF803}"/>
              </a:ext>
            </a:extLst>
          </p:cNvPr>
          <p:cNvSpPr>
            <a:spLocks noGrp="1"/>
          </p:cNvSpPr>
          <p:nvPr/>
        </p:nvSpPr>
        <p:spPr>
          <a:xfrm>
            <a:off x="5897880" y="1783080"/>
            <a:ext cx="2743200" cy="237744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Shape 4">
            <a:extLst>
              <a:ext uri="{FF2B5EF4-FFF2-40B4-BE49-F238E27FC236}">
                <a16:creationId xmlns:a16="http://schemas.microsoft.com/office/drawing/2014/main" id="{2A43D6D5-9895-4CAD-9D33-25900588324E}"/>
              </a:ext>
            </a:extLst>
          </p:cNvPr>
          <p:cNvSpPr>
            <a:spLocks noGrp="1"/>
          </p:cNvSpPr>
          <p:nvPr/>
        </p:nvSpPr>
        <p:spPr>
          <a:xfrm>
            <a:off x="7040880" y="2011680"/>
            <a:ext cx="457200" cy="457200"/>
          </a:xfrm>
          <a:prstGeom prst="ellipse">
            <a:avLst/>
          </a:prstGeom>
          <a:solidFill>
            <a:srgbClr val="002E5D"/>
          </a:solidFill>
          <a:ln w="12700">
            <a:solidFill>
              <a:srgbClr val="002E5D"/>
            </a:solidFill>
            <a:prstDash val="solid"/>
          </a:ln>
        </p:spPr>
        <p:txBody>
          <a:bodyPr/>
          <a:lstStyle/>
          <a:p>
            <a:endParaRPr/>
          </a:p>
        </p:txBody>
      </p:sp>
      <p:pic>
        <p:nvPicPr>
          <p:cNvPr id="17" name="Image 0"/>
          <p:cNvPicPr>
            <a:picLocks noChangeAspect="1"/>
          </p:cNvPicPr>
          <p:nvPr/>
        </p:nvPicPr>
        <p:blipFill>
          <a:blip r:embed="rId3"/>
          <a:stretch>
            <a:fillRect/>
          </a:stretch>
        </p:blipFill>
        <p:spPr>
          <a:xfrm>
            <a:off x="7159752" y="2130552"/>
            <a:ext cx="219456" cy="219456"/>
          </a:xfrm>
          <a:prstGeom prst="rect">
            <a:avLst/>
          </a:prstGeom>
        </p:spPr>
      </p:pic>
      <p:sp>
        <p:nvSpPr>
          <p:cNvPr id="8" name="Text 5">
            <a:extLst>
              <a:ext uri="{FF2B5EF4-FFF2-40B4-BE49-F238E27FC236}">
                <a16:creationId xmlns:a16="http://schemas.microsoft.com/office/drawing/2014/main" id="{40952565-9D93-4246-9D52-CD429201DCF7}"/>
              </a:ext>
            </a:extLst>
          </p:cNvPr>
          <p:cNvSpPr>
            <a:spLocks noGrp="1"/>
          </p:cNvSpPr>
          <p:nvPr/>
        </p:nvSpPr>
        <p:spPr>
          <a:xfrm>
            <a:off x="6080760" y="2606040"/>
            <a:ext cx="2377440" cy="640080"/>
          </a:xfrm>
          <a:prstGeom prst="rect">
            <a:avLst/>
          </a:prstGeom>
          <a:noFill/>
        </p:spPr>
        <p:txBody>
          <a:bodyPr wrap="square" lIns="0" tIns="0" rIns="0" bIns="0" anchor="ctr"/>
          <a:lstStyle/>
          <a:p>
            <a:pPr marL="0" indent="0" algn="ctr">
              <a:buNone/>
            </a:pPr>
            <a:r>
              <a:rPr sz="4000" b="1" dirty="0">
                <a:solidFill>
                  <a:srgbClr val="0062B8"/>
                </a:solidFill>
                <a:latin typeface="Calibri"/>
                <a:ea typeface="Calibri"/>
                <a:cs typeface="Calibri"/>
              </a:rPr>
              <a:t>1</a:t>
            </a:r>
            <a:r>
              <a:rPr lang="en-US" sz="4000" b="1" dirty="0">
                <a:solidFill>
                  <a:srgbClr val="0062B8"/>
                </a:solidFill>
                <a:latin typeface="Calibri"/>
                <a:ea typeface="Calibri"/>
                <a:cs typeface="Calibri"/>
              </a:rPr>
              <a:t> student</a:t>
            </a:r>
            <a:br>
              <a:rPr lang="en-US" sz="4000" b="1" dirty="0">
                <a:solidFill>
                  <a:srgbClr val="0062B8"/>
                </a:solidFill>
                <a:latin typeface="Calibri"/>
                <a:ea typeface="Calibri"/>
                <a:cs typeface="Calibri"/>
              </a:rPr>
            </a:br>
            <a:r>
              <a:rPr lang="en-US" sz="2400" b="1" dirty="0">
                <a:solidFill>
                  <a:srgbClr val="0062B8"/>
                </a:solidFill>
                <a:latin typeface="Calibri"/>
                <a:ea typeface="Calibri"/>
                <a:cs typeface="Calibri"/>
              </a:rPr>
              <a:t>speaking</a:t>
            </a:r>
            <a:endParaRPr sz="2400" dirty="0"/>
          </a:p>
        </p:txBody>
      </p:sp>
      <p:sp>
        <p:nvSpPr>
          <p:cNvPr id="10" name="Text 7">
            <a:extLst>
              <a:ext uri="{FF2B5EF4-FFF2-40B4-BE49-F238E27FC236}">
                <a16:creationId xmlns:a16="http://schemas.microsoft.com/office/drawing/2014/main" id="{9B2D1C81-794D-4FB5-BF28-F37CD345A682}"/>
              </a:ext>
            </a:extLst>
          </p:cNvPr>
          <p:cNvSpPr>
            <a:spLocks noGrp="1"/>
          </p:cNvSpPr>
          <p:nvPr/>
        </p:nvSpPr>
        <p:spPr>
          <a:xfrm>
            <a:off x="6080760" y="3611880"/>
            <a:ext cx="2377440" cy="365760"/>
          </a:xfrm>
          <a:prstGeom prst="rect">
            <a:avLst/>
          </a:prstGeom>
          <a:noFill/>
        </p:spPr>
        <p:txBody>
          <a:bodyPr wrap="square" lIns="0" tIns="0" rIns="0" bIns="0" anchor="ctr"/>
          <a:lstStyle/>
          <a:p>
            <a:pPr marL="0" indent="0" algn="ctr">
              <a:buNone/>
            </a:pPr>
            <a:r>
              <a:rPr sz="2000" b="1">
                <a:solidFill>
                  <a:srgbClr val="0062B8"/>
                </a:solidFill>
                <a:latin typeface="Calibri"/>
                <a:ea typeface="Calibri"/>
                <a:cs typeface="Calibri"/>
              </a:rPr>
              <a:t>25 waiting</a:t>
            </a:r>
            <a:endParaRPr sz="2000"/>
          </a:p>
        </p:txBody>
      </p:sp>
    </p:spTree>
    <p:extLst>
      <p:ext uri="{BB962C8B-B14F-4D97-AF65-F5344CB8AC3E}">
        <p14:creationId xmlns:p14="http://schemas.microsoft.com/office/powerpoint/2010/main" val="249124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t="20949" b="13172"/>
          <a:stretch>
            <a:fillRect/>
          </a:stretch>
        </p:blipFill>
        <p:spPr>
          <a:xfrm>
            <a:off x="342900" y="342900"/>
            <a:ext cx="8458200" cy="4457700"/>
          </a:xfrm>
          <a:prstGeom prst="rect">
            <a:avLst/>
          </a:prstGeom>
        </p:spPr>
      </p:pic>
      <p:sp>
        <p:nvSpPr>
          <p:cNvPr id="3" name="TextBox 2">
            <a:extLst>
              <a:ext uri="{FF2B5EF4-FFF2-40B4-BE49-F238E27FC236}">
                <a16:creationId xmlns:a16="http://schemas.microsoft.com/office/drawing/2014/main" id="{4573AA49-DE4E-814D-7A55-ED149BC0573D}"/>
              </a:ext>
            </a:extLst>
          </p:cNvPr>
          <p:cNvSpPr txBox="1"/>
          <p:nvPr/>
        </p:nvSpPr>
        <p:spPr>
          <a:xfrm>
            <a:off x="3300761" y="4304371"/>
            <a:ext cx="1928348" cy="369332"/>
          </a:xfrm>
          <a:prstGeom prst="rect">
            <a:avLst/>
          </a:prstGeom>
          <a:noFill/>
        </p:spPr>
        <p:txBody>
          <a:bodyPr wrap="none" rtlCol="0">
            <a:spAutoFit/>
          </a:bodyPr>
          <a:lstStyle/>
          <a:p>
            <a:r>
              <a:rPr lang="en-US" dirty="0"/>
              <a:t>Shift to Pair Work</a:t>
            </a:r>
          </a:p>
        </p:txBody>
      </p:sp>
    </p:spTree>
    <p:extLst>
      <p:ext uri="{BB962C8B-B14F-4D97-AF65-F5344CB8AC3E}">
        <p14:creationId xmlns:p14="http://schemas.microsoft.com/office/powerpoint/2010/main" val="2975113892"/>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BB02E72-9DE2-8C58-DFB1-EAC38FAD25B0}"/>
              </a:ext>
            </a:extLst>
          </p:cNvPr>
          <p:cNvSpPr>
            <a:spLocks noGrp="1"/>
          </p:cNvSpPr>
          <p:nvPr/>
        </p:nvSpPr>
        <p:spPr>
          <a:xfrm>
            <a:off x="1465326" y="0"/>
            <a:ext cx="6213348" cy="51435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eform: Shape 9">
            <a:extLst>
              <a:ext uri="{FF2B5EF4-FFF2-40B4-BE49-F238E27FC236}">
                <a16:creationId xmlns:a16="http://schemas.microsoft.com/office/drawing/2014/main" id="{D5C9A46C-E2FF-1ECE-1DD9-BB746B7328A6}"/>
              </a:ext>
            </a:extLst>
          </p:cNvPr>
          <p:cNvSpPr>
            <a:spLocks noGrp="1"/>
          </p:cNvSpPr>
          <p:nvPr/>
        </p:nvSpPr>
        <p:spPr>
          <a:xfrm>
            <a:off x="1588770" y="0"/>
            <a:ext cx="5966460" cy="51435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 name="TextBox 2">
            <a:extLst>
              <a:ext uri="{FF2B5EF4-FFF2-40B4-BE49-F238E27FC236}">
                <a16:creationId xmlns:a16="http://schemas.microsoft.com/office/drawing/2014/main" id="{9F9E49A7-325C-B23D-80BD-70E1041B5323}"/>
              </a:ext>
            </a:extLst>
          </p:cNvPr>
          <p:cNvSpPr>
            <a:spLocks noGrp="1"/>
          </p:cNvSpPr>
          <p:nvPr/>
        </p:nvSpPr>
        <p:spPr>
          <a:xfrm>
            <a:off x="1916723" y="1140187"/>
            <a:ext cx="5310553" cy="2980593"/>
          </a:xfrm>
          <a:prstGeom prst="rect">
            <a:avLst/>
          </a:prstGeom>
        </p:spPr>
        <p:txBody>
          <a:bodyPr vert="horz" lIns="91440" tIns="45720" rIns="91440" bIns="45720" anchor="ctr">
            <a:normAutofit fontScale="85000" lnSpcReduction="10000"/>
          </a:bodyPr>
          <a:lstStyle/>
          <a:p>
            <a:pPr algn="ctr">
              <a:lnSpc>
                <a:spcPct val="90000"/>
              </a:lnSpc>
              <a:spcBef>
                <a:spcPct val="0"/>
              </a:spcBef>
              <a:spcAft>
                <a:spcPts val="600"/>
              </a:spcAft>
            </a:pPr>
            <a:r>
              <a:rPr lang="en-US" sz="4100" dirty="0">
                <a:solidFill>
                  <a:schemeClr val="bg1">
                    <a:lumMod val="95000"/>
                    <a:lumOff val="5000"/>
                  </a:schemeClr>
                </a:solidFill>
                <a:ea typeface="+mj-lt"/>
                <a:cs typeface="+mj-lt"/>
              </a:rPr>
              <a:t>What did you like to do in your free time?</a:t>
            </a:r>
            <a:br>
              <a:rPr lang="en-US" sz="4100" dirty="0">
                <a:solidFill>
                  <a:schemeClr val="bg1">
                    <a:lumMod val="95000"/>
                    <a:lumOff val="5000"/>
                  </a:schemeClr>
                </a:solidFill>
                <a:ea typeface="+mj-lt"/>
                <a:cs typeface="+mj-lt"/>
              </a:rPr>
            </a:br>
            <a:endParaRPr lang="en-US" sz="4100" dirty="0">
              <a:solidFill>
                <a:schemeClr val="bg1">
                  <a:lumMod val="95000"/>
                  <a:lumOff val="5000"/>
                </a:schemeClr>
              </a:solidFill>
              <a:ea typeface="+mj-lt"/>
              <a:cs typeface="+mj-lt"/>
            </a:endParaRPr>
          </a:p>
          <a:p>
            <a:pPr algn="ctr">
              <a:lnSpc>
                <a:spcPct val="90000"/>
              </a:lnSpc>
              <a:spcBef>
                <a:spcPct val="0"/>
              </a:spcBef>
              <a:spcAft>
                <a:spcPts val="600"/>
              </a:spcAft>
              <a:buNone/>
            </a:pPr>
            <a:r>
              <a:rPr lang="en-US" sz="4100" dirty="0">
                <a:solidFill>
                  <a:schemeClr val="bg1">
                    <a:lumMod val="95000"/>
                    <a:lumOff val="5000"/>
                  </a:schemeClr>
                </a:solidFill>
                <a:latin typeface="+mj-lt"/>
                <a:ea typeface="+mj-lt"/>
                <a:cs typeface="+mj-lt"/>
              </a:rPr>
              <a:t>Two or more things please.</a:t>
            </a:r>
          </a:p>
          <a:p>
            <a:pPr algn="ctr">
              <a:lnSpc>
                <a:spcPct val="90000"/>
              </a:lnSpc>
              <a:spcBef>
                <a:spcPct val="0"/>
              </a:spcBef>
              <a:spcAft>
                <a:spcPts val="600"/>
              </a:spcAft>
              <a:buNone/>
            </a:pPr>
            <a:r>
              <a:rPr lang="en-US" sz="4100" dirty="0">
                <a:solidFill>
                  <a:schemeClr val="bg1">
                    <a:lumMod val="95000"/>
                    <a:lumOff val="5000"/>
                  </a:schemeClr>
                </a:solidFill>
                <a:latin typeface="+mj-lt"/>
                <a:ea typeface="+mj-lt"/>
                <a:cs typeface="+mj-lt"/>
              </a:rPr>
              <a:t>Answer to 2 or more people</a:t>
            </a:r>
            <a:endParaRPr sz="4100" dirty="0">
              <a:solidFill>
                <a:schemeClr val="bg1">
                  <a:lumMod val="95000"/>
                  <a:lumOff val="5000"/>
                </a:schemeClr>
              </a:solidFill>
              <a:latin typeface="+mj-lt"/>
              <a:ea typeface="+mj-lt"/>
              <a:cs typeface="+mj-lt"/>
            </a:endParaRPr>
          </a:p>
        </p:txBody>
      </p:sp>
      <p:sp>
        <p:nvSpPr>
          <p:cNvPr id="2" name="TextBox 1">
            <a:extLst>
              <a:ext uri="{FF2B5EF4-FFF2-40B4-BE49-F238E27FC236}">
                <a16:creationId xmlns:a16="http://schemas.microsoft.com/office/drawing/2014/main" id="{5FCECEA5-8695-482D-3EF2-8B4B99D54C73}"/>
              </a:ext>
            </a:extLst>
          </p:cNvPr>
          <p:cNvSpPr>
            <a:spLocks noGrp="1"/>
          </p:cNvSpPr>
          <p:nvPr/>
        </p:nvSpPr>
        <p:spPr>
          <a:xfrm>
            <a:off x="1531088" y="1233377"/>
            <a:ext cx="184731" cy="369332"/>
          </a:xfrm>
          <a:prstGeom prst="rect">
            <a:avLst/>
          </a:prstGeom>
          <a:noFill/>
        </p:spPr>
        <p:txBody>
          <a:bodyPr wrap="none">
            <a:spAutoFit/>
          </a:bodyPr>
          <a:lstStyle/>
          <a:p>
            <a:endParaRPr/>
          </a:p>
        </p:txBody>
      </p:sp>
      <p:pic>
        <p:nvPicPr>
          <p:cNvPr id="4" name="Picture 3">
            <a:extLst>
              <a:ext uri="{FF2B5EF4-FFF2-40B4-BE49-F238E27FC236}">
                <a16:creationId xmlns:a16="http://schemas.microsoft.com/office/drawing/2014/main" id="{CD12CAA1-967D-706F-32BB-8166A65DE4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7276" y="58734"/>
            <a:ext cx="1818167" cy="1022719"/>
          </a:xfrm>
          <a:prstGeom prst="rect">
            <a:avLst/>
          </a:prstGeom>
        </p:spPr>
      </p:pic>
      <p:sp>
        <p:nvSpPr>
          <p:cNvPr id="5" name="TextBox 4">
            <a:extLst>
              <a:ext uri="{FF2B5EF4-FFF2-40B4-BE49-F238E27FC236}">
                <a16:creationId xmlns:a16="http://schemas.microsoft.com/office/drawing/2014/main" id="{7961FA06-2AAF-DA8C-248B-13C8BED89F06}"/>
              </a:ext>
            </a:extLst>
          </p:cNvPr>
          <p:cNvSpPr txBox="1"/>
          <p:nvPr/>
        </p:nvSpPr>
        <p:spPr>
          <a:xfrm>
            <a:off x="99216" y="3806605"/>
            <a:ext cx="1817507" cy="923330"/>
          </a:xfrm>
          <a:prstGeom prst="rect">
            <a:avLst/>
          </a:prstGeom>
          <a:noFill/>
        </p:spPr>
        <p:txBody>
          <a:bodyPr wrap="square" rtlCol="0">
            <a:spAutoFit/>
          </a:bodyPr>
          <a:lstStyle/>
          <a:p>
            <a:r>
              <a:rPr lang="en-US" dirty="0"/>
              <a:t>Question to individuals for pair work</a:t>
            </a:r>
          </a:p>
        </p:txBody>
      </p:sp>
    </p:spTree>
    <p:extLst>
      <p:ext uri="{BB962C8B-B14F-4D97-AF65-F5344CB8AC3E}">
        <p14:creationId xmlns:p14="http://schemas.microsoft.com/office/powerpoint/2010/main" val="1945987239"/>
      </p:ext>
    </p:extLst>
  </p:cSld>
  <p:clrMapOvr>
    <a:masterClrMapping/>
  </p:clrMapOvr>
  <mc:AlternateContent xmlns:mc="http://schemas.openxmlformats.org/markup-compatibility/2006" xmlns:p14="http://schemas.microsoft.com/office/powerpoint/2010/main">
    <mc:Choice Requires="p14">
      <p:transition spd="med" p14:dur="700" advTm="30000">
        <p:fade/>
      </p:transition>
    </mc:Choice>
    <mc:Fallback xmlns="">
      <p:transition spd="med" advTm="30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679B5DA-166E-4B89-A0FB-FE86A6554EF4}"/>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LEVER 1 · TURN UP THE VOLUME</a:t>
            </a:r>
            <a:endParaRPr sz="1200"/>
          </a:p>
        </p:txBody>
      </p:sp>
      <p:sp>
        <p:nvSpPr>
          <p:cNvPr id="3" name="Text 1">
            <a:extLst>
              <a:ext uri="{FF2B5EF4-FFF2-40B4-BE49-F238E27FC236}">
                <a16:creationId xmlns:a16="http://schemas.microsoft.com/office/drawing/2014/main" id="{4A1A46D0-9F2A-4EF3-BB4B-4458F3906691}"/>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Everyone talks at once</a:t>
            </a:r>
            <a:r>
              <a:rPr lang="en-US" sz="3400" b="1" dirty="0">
                <a:solidFill>
                  <a:srgbClr val="002E5D"/>
                </a:solidFill>
                <a:latin typeface="Calibri"/>
                <a:ea typeface="Calibri"/>
                <a:cs typeface="Calibri"/>
              </a:rPr>
              <a:t> during pair work</a:t>
            </a:r>
            <a:r>
              <a:rPr sz="3400" b="1" dirty="0">
                <a:solidFill>
                  <a:srgbClr val="002E5D"/>
                </a:solidFill>
                <a:latin typeface="Calibri"/>
                <a:ea typeface="Calibri"/>
                <a:cs typeface="Calibri"/>
              </a:rPr>
              <a:t>.</a:t>
            </a:r>
            <a:endParaRPr sz="3400" dirty="0"/>
          </a:p>
        </p:txBody>
      </p:sp>
      <p:sp>
        <p:nvSpPr>
          <p:cNvPr id="4" name="Shape 2">
            <a:extLst>
              <a:ext uri="{FF2B5EF4-FFF2-40B4-BE49-F238E27FC236}">
                <a16:creationId xmlns:a16="http://schemas.microsoft.com/office/drawing/2014/main" id="{CAE8BAFA-2B4A-47DE-BD69-4CEAF398E2F9}"/>
              </a:ext>
            </a:extLst>
          </p:cNvPr>
          <p:cNvSpPr>
            <a:spLocks noGrp="1"/>
          </p:cNvSpPr>
          <p:nvPr/>
        </p:nvSpPr>
        <p:spPr>
          <a:xfrm>
            <a:off x="502920" y="1874520"/>
            <a:ext cx="3886200" cy="246888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Text 3">
            <a:extLst>
              <a:ext uri="{FF2B5EF4-FFF2-40B4-BE49-F238E27FC236}">
                <a16:creationId xmlns:a16="http://schemas.microsoft.com/office/drawing/2014/main" id="{10BF0803-C578-47AD-AAA9-08ABEE9A525F}"/>
              </a:ext>
            </a:extLst>
          </p:cNvPr>
          <p:cNvSpPr>
            <a:spLocks noGrp="1"/>
          </p:cNvSpPr>
          <p:nvPr/>
        </p:nvSpPr>
        <p:spPr>
          <a:xfrm>
            <a:off x="777240" y="2103120"/>
            <a:ext cx="3291840" cy="320040"/>
          </a:xfrm>
          <a:prstGeom prst="rect">
            <a:avLst/>
          </a:prstGeom>
          <a:noFill/>
        </p:spPr>
        <p:txBody>
          <a:bodyPr wrap="square" lIns="0" tIns="0" rIns="0" bIns="0" anchor="ctr"/>
          <a:lstStyle/>
          <a:p>
            <a:pPr marL="0" indent="0">
              <a:buNone/>
            </a:pPr>
            <a:r>
              <a:rPr sz="1200" b="1">
                <a:solidFill>
                  <a:srgbClr val="0062B8"/>
                </a:solidFill>
                <a:latin typeface="Calibri"/>
                <a:ea typeface="Calibri"/>
                <a:cs typeface="Calibri"/>
              </a:rPr>
              <a:t>HANDS-UP Q&amp;A</a:t>
            </a:r>
            <a:endParaRPr sz="1200"/>
          </a:p>
        </p:txBody>
      </p:sp>
      <p:sp>
        <p:nvSpPr>
          <p:cNvPr id="6" name="Text 4">
            <a:extLst>
              <a:ext uri="{FF2B5EF4-FFF2-40B4-BE49-F238E27FC236}">
                <a16:creationId xmlns:a16="http://schemas.microsoft.com/office/drawing/2014/main" id="{307C9B57-9825-48C0-9EA1-CFB4A087CD6B}"/>
              </a:ext>
            </a:extLst>
          </p:cNvPr>
          <p:cNvSpPr>
            <a:spLocks noGrp="1"/>
          </p:cNvSpPr>
          <p:nvPr/>
        </p:nvSpPr>
        <p:spPr>
          <a:xfrm>
            <a:off x="777240" y="2468880"/>
            <a:ext cx="3291840" cy="914400"/>
          </a:xfrm>
          <a:prstGeom prst="rect">
            <a:avLst/>
          </a:prstGeom>
          <a:noFill/>
        </p:spPr>
        <p:txBody>
          <a:bodyPr wrap="square" lIns="0" tIns="0" rIns="0" bIns="0" anchor="ctr"/>
          <a:lstStyle/>
          <a:p>
            <a:pPr marL="0" indent="0" algn="l">
              <a:buNone/>
            </a:pPr>
            <a:r>
              <a:rPr sz="4600" b="1" dirty="0">
                <a:solidFill>
                  <a:srgbClr val="002E5D"/>
                </a:solidFill>
                <a:latin typeface="Calibri"/>
                <a:ea typeface="Calibri"/>
                <a:cs typeface="Calibri"/>
              </a:rPr>
              <a:t>≈ 1 min</a:t>
            </a:r>
            <a:endParaRPr sz="4600" dirty="0"/>
          </a:p>
        </p:txBody>
      </p:sp>
      <p:sp>
        <p:nvSpPr>
          <p:cNvPr id="7" name="Text 5">
            <a:extLst>
              <a:ext uri="{FF2B5EF4-FFF2-40B4-BE49-F238E27FC236}">
                <a16:creationId xmlns:a16="http://schemas.microsoft.com/office/drawing/2014/main" id="{CA147018-76E2-4422-AD47-2C7472657E1F}"/>
              </a:ext>
            </a:extLst>
          </p:cNvPr>
          <p:cNvSpPr>
            <a:spLocks noGrp="1"/>
          </p:cNvSpPr>
          <p:nvPr/>
        </p:nvSpPr>
        <p:spPr>
          <a:xfrm>
            <a:off x="777240" y="3474720"/>
            <a:ext cx="3337560" cy="731520"/>
          </a:xfrm>
          <a:prstGeom prst="rect">
            <a:avLst/>
          </a:prstGeom>
          <a:noFill/>
        </p:spPr>
        <p:txBody>
          <a:bodyPr wrap="square" lIns="0" tIns="0" rIns="0" bIns="0" anchor="t"/>
          <a:lstStyle/>
          <a:p>
            <a:pPr marL="0" indent="0" algn="l">
              <a:buNone/>
            </a:pPr>
            <a:r>
              <a:rPr sz="1300" dirty="0">
                <a:solidFill>
                  <a:srgbClr val="4B5563"/>
                </a:solidFill>
                <a:latin typeface="Cambria"/>
                <a:ea typeface="Cambria"/>
                <a:cs typeface="Cambria"/>
              </a:rPr>
              <a:t>of student talk in 90 seconds — only 3–4 students speak.</a:t>
            </a:r>
            <a:endParaRPr sz="1300" dirty="0"/>
          </a:p>
        </p:txBody>
      </p:sp>
      <p:sp>
        <p:nvSpPr>
          <p:cNvPr id="8" name="Shape 6">
            <a:extLst>
              <a:ext uri="{FF2B5EF4-FFF2-40B4-BE49-F238E27FC236}">
                <a16:creationId xmlns:a16="http://schemas.microsoft.com/office/drawing/2014/main" id="{58C52BEC-EBB9-4559-A25E-42C3BF011259}"/>
              </a:ext>
            </a:extLst>
          </p:cNvPr>
          <p:cNvSpPr>
            <a:spLocks noGrp="1"/>
          </p:cNvSpPr>
          <p:nvPr/>
        </p:nvSpPr>
        <p:spPr>
          <a:xfrm>
            <a:off x="4754880" y="1874520"/>
            <a:ext cx="3886200" cy="2468880"/>
          </a:xfrm>
          <a:prstGeom prst="rect">
            <a:avLst/>
          </a:prstGeom>
          <a:solidFill>
            <a:srgbClr val="0062B8"/>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9" name="Text 7">
            <a:extLst>
              <a:ext uri="{FF2B5EF4-FFF2-40B4-BE49-F238E27FC236}">
                <a16:creationId xmlns:a16="http://schemas.microsoft.com/office/drawing/2014/main" id="{EE632DF7-C531-4C39-88D0-5412219070D3}"/>
              </a:ext>
            </a:extLst>
          </p:cNvPr>
          <p:cNvSpPr>
            <a:spLocks noGrp="1"/>
          </p:cNvSpPr>
          <p:nvPr/>
        </p:nvSpPr>
        <p:spPr>
          <a:xfrm>
            <a:off x="5029200" y="2103120"/>
            <a:ext cx="3291840" cy="320040"/>
          </a:xfrm>
          <a:prstGeom prst="rect">
            <a:avLst/>
          </a:prstGeom>
          <a:noFill/>
        </p:spPr>
        <p:txBody>
          <a:bodyPr wrap="square" lIns="0" tIns="0" rIns="0" bIns="0" anchor="ctr"/>
          <a:lstStyle/>
          <a:p>
            <a:pPr marL="0" indent="0">
              <a:buNone/>
            </a:pPr>
            <a:r>
              <a:rPr sz="1200" b="1">
                <a:solidFill>
                  <a:srgbClr val="C4D8EE"/>
                </a:solidFill>
                <a:latin typeface="Calibri"/>
                <a:ea typeface="Calibri"/>
                <a:cs typeface="Calibri"/>
              </a:rPr>
              <a:t>PAIRS, ALL AT ONCE</a:t>
            </a:r>
            <a:endParaRPr sz="1200"/>
          </a:p>
        </p:txBody>
      </p:sp>
      <p:sp>
        <p:nvSpPr>
          <p:cNvPr id="10" name="Text 8">
            <a:extLst>
              <a:ext uri="{FF2B5EF4-FFF2-40B4-BE49-F238E27FC236}">
                <a16:creationId xmlns:a16="http://schemas.microsoft.com/office/drawing/2014/main" id="{0C472686-855E-4DC7-BE3C-3DFB14DE4D62}"/>
              </a:ext>
            </a:extLst>
          </p:cNvPr>
          <p:cNvSpPr>
            <a:spLocks noGrp="1"/>
          </p:cNvSpPr>
          <p:nvPr/>
        </p:nvSpPr>
        <p:spPr>
          <a:xfrm>
            <a:off x="5029200" y="2468880"/>
            <a:ext cx="3291840" cy="914400"/>
          </a:xfrm>
          <a:prstGeom prst="rect">
            <a:avLst/>
          </a:prstGeom>
          <a:noFill/>
        </p:spPr>
        <p:txBody>
          <a:bodyPr wrap="square" lIns="0" tIns="0" rIns="0" bIns="0" anchor="ctr"/>
          <a:lstStyle/>
          <a:p>
            <a:pPr marL="0" indent="0" algn="l">
              <a:buNone/>
            </a:pPr>
            <a:r>
              <a:rPr sz="4600" b="1" dirty="0">
                <a:solidFill>
                  <a:srgbClr val="FFFFFF"/>
                </a:solidFill>
                <a:latin typeface="Calibri"/>
                <a:ea typeface="Calibri"/>
                <a:cs typeface="Calibri"/>
              </a:rPr>
              <a:t>≈ 25+ min</a:t>
            </a:r>
            <a:endParaRPr sz="4600" dirty="0"/>
          </a:p>
        </p:txBody>
      </p:sp>
      <p:sp>
        <p:nvSpPr>
          <p:cNvPr id="11" name="Text 9">
            <a:extLst>
              <a:ext uri="{FF2B5EF4-FFF2-40B4-BE49-F238E27FC236}">
                <a16:creationId xmlns:a16="http://schemas.microsoft.com/office/drawing/2014/main" id="{BBDB8DCB-BD79-4CFD-AC40-AD415CB0DC3C}"/>
              </a:ext>
            </a:extLst>
          </p:cNvPr>
          <p:cNvSpPr>
            <a:spLocks noGrp="1"/>
          </p:cNvSpPr>
          <p:nvPr/>
        </p:nvSpPr>
        <p:spPr>
          <a:xfrm>
            <a:off x="5029200" y="3474720"/>
            <a:ext cx="3337560" cy="731520"/>
          </a:xfrm>
          <a:prstGeom prst="rect">
            <a:avLst/>
          </a:prstGeom>
          <a:noFill/>
        </p:spPr>
        <p:txBody>
          <a:bodyPr wrap="square" lIns="0" tIns="0" rIns="0" bIns="0" anchor="t"/>
          <a:lstStyle/>
          <a:p>
            <a:pPr marL="0" indent="0" algn="l">
              <a:buNone/>
            </a:pPr>
            <a:r>
              <a:rPr sz="1300" dirty="0">
                <a:solidFill>
                  <a:srgbClr val="E6EFF9"/>
                </a:solidFill>
                <a:latin typeface="Cambria"/>
                <a:ea typeface="Cambria"/>
                <a:cs typeface="Cambria"/>
              </a:rPr>
              <a:t>of student talk in the same 90 seconds — every student speaks.</a:t>
            </a:r>
            <a:endParaRPr sz="1300" dirty="0"/>
          </a:p>
        </p:txBody>
      </p:sp>
    </p:spTree>
    <p:extLst>
      <p:ext uri="{BB962C8B-B14F-4D97-AF65-F5344CB8AC3E}">
        <p14:creationId xmlns:p14="http://schemas.microsoft.com/office/powerpoint/2010/main" val="414866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9D306913-7FFA-F9A8-A7A2-B03C9C0309BD}"/>
              </a:ext>
            </a:extLst>
          </p:cNvPr>
          <p:cNvSpPr>
            <a:spLocks noGrp="1"/>
          </p:cNvSpPr>
          <p:nvPr/>
        </p:nvSpPr>
        <p:spPr>
          <a:xfrm>
            <a:off x="502919" y="553743"/>
            <a:ext cx="7697805" cy="2710452"/>
          </a:xfrm>
          <a:prstGeom prst="rect">
            <a:avLst/>
          </a:prstGeom>
          <a:noFill/>
        </p:spPr>
        <p:txBody>
          <a:bodyPr wrap="square" lIns="0" tIns="0" rIns="0" bIns="0" anchor="t"/>
          <a:lstStyle/>
          <a:p>
            <a:pPr marL="0" indent="0" algn="l">
              <a:buNone/>
            </a:pPr>
            <a:r>
              <a:rPr lang="en-US" sz="4000" b="1" dirty="0">
                <a:solidFill>
                  <a:srgbClr val="002E5D"/>
                </a:solidFill>
                <a:latin typeface="Calibri"/>
                <a:ea typeface="Calibri"/>
                <a:cs typeface="Calibri"/>
              </a:rPr>
              <a:t>For acquisition, instruction must be designed to produce interaction and require students to speak.</a:t>
            </a:r>
            <a:endParaRPr sz="4000" dirty="0"/>
          </a:p>
        </p:txBody>
      </p:sp>
      <p:pic>
        <p:nvPicPr>
          <p:cNvPr id="4" name="Picture 3">
            <a:extLst>
              <a:ext uri="{FF2B5EF4-FFF2-40B4-BE49-F238E27FC236}">
                <a16:creationId xmlns:a16="http://schemas.microsoft.com/office/drawing/2014/main" id="{38C0487F-D1BA-04FD-A229-6E8C54105F7D}"/>
              </a:ext>
            </a:extLst>
          </p:cNvPr>
          <p:cNvPicPr>
            <a:picLocks noChangeAspect="1"/>
          </p:cNvPicPr>
          <p:nvPr/>
        </p:nvPicPr>
        <p:blipFill>
          <a:blip r:embed="rId2"/>
          <a:srcRect t="20949" b="13172"/>
          <a:stretch>
            <a:fillRect/>
          </a:stretch>
        </p:blipFill>
        <p:spPr>
          <a:xfrm>
            <a:off x="502920" y="2682063"/>
            <a:ext cx="4324793" cy="2279283"/>
          </a:xfrm>
          <a:prstGeom prst="rect">
            <a:avLst/>
          </a:prstGeom>
        </p:spPr>
      </p:pic>
    </p:spTree>
    <p:extLst>
      <p:ext uri="{BB962C8B-B14F-4D97-AF65-F5344CB8AC3E}">
        <p14:creationId xmlns:p14="http://schemas.microsoft.com/office/powerpoint/2010/main" val="2755379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C899D6-6BDA-4493-81EA-219446F2D252}"/>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WHY SPEAKING HELPS LEARNING</a:t>
            </a:r>
            <a:endParaRPr sz="1200"/>
          </a:p>
        </p:txBody>
      </p:sp>
      <p:sp>
        <p:nvSpPr>
          <p:cNvPr id="3" name="Text 1">
            <a:extLst>
              <a:ext uri="{FF2B5EF4-FFF2-40B4-BE49-F238E27FC236}">
                <a16:creationId xmlns:a16="http://schemas.microsoft.com/office/drawing/2014/main" id="{26496945-F5D1-48E7-A921-A04B212BD598}"/>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a:solidFill>
                  <a:srgbClr val="002E5D"/>
                </a:solidFill>
                <a:latin typeface="Calibri"/>
                <a:ea typeface="Calibri"/>
                <a:cs typeface="Calibri"/>
              </a:rPr>
              <a:t>Speaking does three things listening can't.</a:t>
            </a:r>
            <a:endParaRPr sz="3400"/>
          </a:p>
        </p:txBody>
      </p:sp>
      <p:sp>
        <p:nvSpPr>
          <p:cNvPr id="4" name="Shape 2">
            <a:extLst>
              <a:ext uri="{FF2B5EF4-FFF2-40B4-BE49-F238E27FC236}">
                <a16:creationId xmlns:a16="http://schemas.microsoft.com/office/drawing/2014/main" id="{C974C808-C3AC-4065-9B92-16DFE7AC6528}"/>
              </a:ext>
            </a:extLst>
          </p:cNvPr>
          <p:cNvSpPr>
            <a:spLocks noGrp="1"/>
          </p:cNvSpPr>
          <p:nvPr/>
        </p:nvSpPr>
        <p:spPr>
          <a:xfrm>
            <a:off x="422534" y="1504742"/>
            <a:ext cx="2587752" cy="251460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Shape 3">
            <a:extLst>
              <a:ext uri="{FF2B5EF4-FFF2-40B4-BE49-F238E27FC236}">
                <a16:creationId xmlns:a16="http://schemas.microsoft.com/office/drawing/2014/main" id="{F3400FCE-6CF0-4674-BC23-C174ECBB5151}"/>
              </a:ext>
            </a:extLst>
          </p:cNvPr>
          <p:cNvSpPr>
            <a:spLocks noGrp="1"/>
          </p:cNvSpPr>
          <p:nvPr/>
        </p:nvSpPr>
        <p:spPr>
          <a:xfrm>
            <a:off x="678566" y="1760774"/>
            <a:ext cx="566928" cy="566928"/>
          </a:xfrm>
          <a:prstGeom prst="ellipse">
            <a:avLst/>
          </a:prstGeom>
          <a:solidFill>
            <a:srgbClr val="E6EFF9"/>
          </a:solidFill>
          <a:ln w="12700">
            <a:solidFill>
              <a:srgbClr val="002E5D"/>
            </a:solidFill>
            <a:prstDash val="solid"/>
          </a:ln>
        </p:spPr>
        <p:txBody>
          <a:bodyPr/>
          <a:lstStyle/>
          <a:p>
            <a:endParaRPr/>
          </a:p>
        </p:txBody>
      </p:sp>
      <p:pic>
        <p:nvPicPr>
          <p:cNvPr id="29" name="Image 0"/>
          <p:cNvPicPr>
            <a:picLocks noChangeAspect="1"/>
          </p:cNvPicPr>
          <p:nvPr/>
        </p:nvPicPr>
        <p:blipFill>
          <a:blip r:embed="rId3"/>
          <a:stretch>
            <a:fillRect/>
          </a:stretch>
        </p:blipFill>
        <p:spPr>
          <a:xfrm>
            <a:off x="825967" y="1908175"/>
            <a:ext cx="272125" cy="272125"/>
          </a:xfrm>
          <a:prstGeom prst="rect">
            <a:avLst/>
          </a:prstGeom>
        </p:spPr>
      </p:pic>
      <p:sp>
        <p:nvSpPr>
          <p:cNvPr id="7" name="Text 4">
            <a:extLst>
              <a:ext uri="{FF2B5EF4-FFF2-40B4-BE49-F238E27FC236}">
                <a16:creationId xmlns:a16="http://schemas.microsoft.com/office/drawing/2014/main" id="{67976321-1DA9-4B6B-8D67-03857AB8C0C3}"/>
              </a:ext>
            </a:extLst>
          </p:cNvPr>
          <p:cNvSpPr>
            <a:spLocks noGrp="1"/>
          </p:cNvSpPr>
          <p:nvPr/>
        </p:nvSpPr>
        <p:spPr>
          <a:xfrm>
            <a:off x="2233046" y="1760774"/>
            <a:ext cx="548640" cy="457200"/>
          </a:xfrm>
          <a:prstGeom prst="rect">
            <a:avLst/>
          </a:prstGeom>
          <a:noFill/>
        </p:spPr>
        <p:txBody>
          <a:bodyPr wrap="square" lIns="0" tIns="0" rIns="0" bIns="0" anchor="ctr"/>
          <a:lstStyle/>
          <a:p>
            <a:pPr marL="0" indent="0" algn="r">
              <a:buNone/>
            </a:pPr>
            <a:r>
              <a:rPr sz="1200" b="1">
                <a:solidFill>
                  <a:srgbClr val="0062B8"/>
                </a:solidFill>
                <a:latin typeface="Calibri"/>
                <a:ea typeface="Calibri"/>
                <a:cs typeface="Calibri"/>
              </a:rPr>
              <a:t>01</a:t>
            </a:r>
            <a:endParaRPr sz="1200"/>
          </a:p>
        </p:txBody>
      </p:sp>
      <p:sp>
        <p:nvSpPr>
          <p:cNvPr id="8" name="Text 5">
            <a:extLst>
              <a:ext uri="{FF2B5EF4-FFF2-40B4-BE49-F238E27FC236}">
                <a16:creationId xmlns:a16="http://schemas.microsoft.com/office/drawing/2014/main" id="{8BDB06AD-758D-4FD1-A591-C83277B35EDB}"/>
              </a:ext>
            </a:extLst>
          </p:cNvPr>
          <p:cNvSpPr>
            <a:spLocks noGrp="1"/>
          </p:cNvSpPr>
          <p:nvPr/>
        </p:nvSpPr>
        <p:spPr>
          <a:xfrm>
            <a:off x="678566" y="2464862"/>
            <a:ext cx="2075688" cy="548640"/>
          </a:xfrm>
          <a:prstGeom prst="rect">
            <a:avLst/>
          </a:prstGeom>
          <a:noFill/>
        </p:spPr>
        <p:txBody>
          <a:bodyPr wrap="square" lIns="0" tIns="0" rIns="0" bIns="0" anchor="t"/>
          <a:lstStyle/>
          <a:p>
            <a:pPr marL="0" indent="0" algn="l">
              <a:buNone/>
            </a:pPr>
            <a:r>
              <a:rPr lang="en-US" sz="1900" b="1" dirty="0">
                <a:solidFill>
                  <a:srgbClr val="1F2937"/>
                </a:solidFill>
                <a:latin typeface="Calibri"/>
                <a:ea typeface="Calibri"/>
                <a:cs typeface="Calibri"/>
              </a:rPr>
              <a:t>You n</a:t>
            </a:r>
            <a:r>
              <a:rPr sz="1900" b="1" dirty="0">
                <a:solidFill>
                  <a:srgbClr val="1F2937"/>
                </a:solidFill>
                <a:latin typeface="Calibri"/>
                <a:ea typeface="Calibri"/>
                <a:cs typeface="Calibri"/>
              </a:rPr>
              <a:t>otice the gap</a:t>
            </a:r>
            <a:endParaRPr sz="1900" dirty="0"/>
          </a:p>
        </p:txBody>
      </p:sp>
      <p:sp>
        <p:nvSpPr>
          <p:cNvPr id="9" name="Text 6">
            <a:extLst>
              <a:ext uri="{FF2B5EF4-FFF2-40B4-BE49-F238E27FC236}">
                <a16:creationId xmlns:a16="http://schemas.microsoft.com/office/drawing/2014/main" id="{34AC4B6C-01AA-443B-BACB-32679D6720D6}"/>
              </a:ext>
            </a:extLst>
          </p:cNvPr>
          <p:cNvSpPr>
            <a:spLocks noGrp="1"/>
          </p:cNvSpPr>
          <p:nvPr/>
        </p:nvSpPr>
        <p:spPr>
          <a:xfrm>
            <a:off x="678566" y="2986070"/>
            <a:ext cx="2075688" cy="914400"/>
          </a:xfrm>
          <a:prstGeom prst="rect">
            <a:avLst/>
          </a:prstGeom>
          <a:noFill/>
        </p:spPr>
        <p:txBody>
          <a:bodyPr wrap="square" lIns="0" tIns="0" rIns="0" bIns="0" anchor="t"/>
          <a:lstStyle/>
          <a:p>
            <a:pPr marL="0" indent="0" algn="l">
              <a:lnSpc>
                <a:spcPct val="104000"/>
              </a:lnSpc>
              <a:buNone/>
            </a:pPr>
            <a:r>
              <a:rPr sz="1300" dirty="0">
                <a:solidFill>
                  <a:srgbClr val="4B5563"/>
                </a:solidFill>
                <a:latin typeface="Cambria"/>
                <a:ea typeface="Cambria"/>
                <a:cs typeface="Cambria"/>
              </a:rPr>
              <a:t>When you try to say something, you see what you can't say yet.</a:t>
            </a:r>
            <a:endParaRPr sz="1300" dirty="0"/>
          </a:p>
        </p:txBody>
      </p:sp>
      <p:sp>
        <p:nvSpPr>
          <p:cNvPr id="10" name="Shape 7">
            <a:extLst>
              <a:ext uri="{FF2B5EF4-FFF2-40B4-BE49-F238E27FC236}">
                <a16:creationId xmlns:a16="http://schemas.microsoft.com/office/drawing/2014/main" id="{9D809280-A00B-4786-BD60-C7671F72DAAF}"/>
              </a:ext>
            </a:extLst>
          </p:cNvPr>
          <p:cNvSpPr>
            <a:spLocks noGrp="1"/>
          </p:cNvSpPr>
          <p:nvPr/>
        </p:nvSpPr>
        <p:spPr>
          <a:xfrm>
            <a:off x="3197738" y="1504742"/>
            <a:ext cx="2587752" cy="251460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1" name="Shape 8">
            <a:extLst>
              <a:ext uri="{FF2B5EF4-FFF2-40B4-BE49-F238E27FC236}">
                <a16:creationId xmlns:a16="http://schemas.microsoft.com/office/drawing/2014/main" id="{F9DF5A08-61CD-4935-8F54-6A76DF319E0B}"/>
              </a:ext>
            </a:extLst>
          </p:cNvPr>
          <p:cNvSpPr>
            <a:spLocks noGrp="1"/>
          </p:cNvSpPr>
          <p:nvPr/>
        </p:nvSpPr>
        <p:spPr>
          <a:xfrm>
            <a:off x="3453770" y="1760774"/>
            <a:ext cx="566928" cy="566928"/>
          </a:xfrm>
          <a:prstGeom prst="ellipse">
            <a:avLst/>
          </a:prstGeom>
          <a:solidFill>
            <a:srgbClr val="E6EFF9"/>
          </a:solidFill>
          <a:ln w="12700">
            <a:solidFill>
              <a:srgbClr val="002E5D"/>
            </a:solidFill>
            <a:prstDash val="solid"/>
          </a:ln>
        </p:spPr>
        <p:txBody>
          <a:bodyPr/>
          <a:lstStyle/>
          <a:p>
            <a:endParaRPr/>
          </a:p>
        </p:txBody>
      </p:sp>
      <p:pic>
        <p:nvPicPr>
          <p:cNvPr id="35" name="Image 1"/>
          <p:cNvPicPr>
            <a:picLocks noChangeAspect="1"/>
          </p:cNvPicPr>
          <p:nvPr/>
        </p:nvPicPr>
        <p:blipFill>
          <a:blip r:embed="rId4"/>
          <a:stretch>
            <a:fillRect/>
          </a:stretch>
        </p:blipFill>
        <p:spPr>
          <a:xfrm>
            <a:off x="3601171" y="1908175"/>
            <a:ext cx="272125" cy="272125"/>
          </a:xfrm>
          <a:prstGeom prst="rect">
            <a:avLst/>
          </a:prstGeom>
        </p:spPr>
      </p:pic>
      <p:sp>
        <p:nvSpPr>
          <p:cNvPr id="13" name="Text 9">
            <a:extLst>
              <a:ext uri="{FF2B5EF4-FFF2-40B4-BE49-F238E27FC236}">
                <a16:creationId xmlns:a16="http://schemas.microsoft.com/office/drawing/2014/main" id="{3463B3A6-5440-4E92-90AF-0274722C84ED}"/>
              </a:ext>
            </a:extLst>
          </p:cNvPr>
          <p:cNvSpPr>
            <a:spLocks noGrp="1"/>
          </p:cNvSpPr>
          <p:nvPr/>
        </p:nvSpPr>
        <p:spPr>
          <a:xfrm>
            <a:off x="5008250" y="1760774"/>
            <a:ext cx="548640" cy="457200"/>
          </a:xfrm>
          <a:prstGeom prst="rect">
            <a:avLst/>
          </a:prstGeom>
          <a:noFill/>
        </p:spPr>
        <p:txBody>
          <a:bodyPr wrap="square" lIns="0" tIns="0" rIns="0" bIns="0" anchor="ctr"/>
          <a:lstStyle/>
          <a:p>
            <a:pPr marL="0" indent="0" algn="r">
              <a:buNone/>
            </a:pPr>
            <a:r>
              <a:rPr sz="1200" b="1">
                <a:solidFill>
                  <a:srgbClr val="0062B8"/>
                </a:solidFill>
                <a:latin typeface="Calibri"/>
                <a:ea typeface="Calibri"/>
                <a:cs typeface="Calibri"/>
              </a:rPr>
              <a:t>02</a:t>
            </a:r>
            <a:endParaRPr sz="1200"/>
          </a:p>
        </p:txBody>
      </p:sp>
      <p:sp>
        <p:nvSpPr>
          <p:cNvPr id="14" name="Text 10">
            <a:extLst>
              <a:ext uri="{FF2B5EF4-FFF2-40B4-BE49-F238E27FC236}">
                <a16:creationId xmlns:a16="http://schemas.microsoft.com/office/drawing/2014/main" id="{72C6EC9E-FE9D-4F34-BE37-C267D9AB1FF0}"/>
              </a:ext>
            </a:extLst>
          </p:cNvPr>
          <p:cNvSpPr>
            <a:spLocks noGrp="1"/>
          </p:cNvSpPr>
          <p:nvPr/>
        </p:nvSpPr>
        <p:spPr>
          <a:xfrm>
            <a:off x="3453770" y="2414273"/>
            <a:ext cx="2075688" cy="548640"/>
          </a:xfrm>
          <a:prstGeom prst="rect">
            <a:avLst/>
          </a:prstGeom>
          <a:noFill/>
        </p:spPr>
        <p:txBody>
          <a:bodyPr wrap="square" lIns="0" tIns="0" rIns="0" bIns="0" anchor="t"/>
          <a:lstStyle/>
          <a:p>
            <a:pPr marL="0" indent="0" algn="l">
              <a:buNone/>
            </a:pPr>
            <a:r>
              <a:rPr lang="en-US" sz="1900" b="1" dirty="0">
                <a:solidFill>
                  <a:srgbClr val="1F2937"/>
                </a:solidFill>
                <a:latin typeface="Calibri"/>
                <a:ea typeface="Calibri"/>
                <a:cs typeface="Calibri"/>
              </a:rPr>
              <a:t>You t</a:t>
            </a:r>
            <a:r>
              <a:rPr sz="1900" b="1" dirty="0">
                <a:solidFill>
                  <a:srgbClr val="1F2937"/>
                </a:solidFill>
                <a:latin typeface="Calibri"/>
                <a:ea typeface="Calibri"/>
                <a:cs typeface="Calibri"/>
              </a:rPr>
              <a:t>est an idea</a:t>
            </a:r>
            <a:r>
              <a:rPr lang="en-US" sz="1900" b="1" dirty="0">
                <a:solidFill>
                  <a:srgbClr val="1F2937"/>
                </a:solidFill>
                <a:latin typeface="Calibri"/>
                <a:ea typeface="Calibri"/>
                <a:cs typeface="Calibri"/>
              </a:rPr>
              <a:t>—try it out</a:t>
            </a:r>
            <a:endParaRPr sz="1900" dirty="0"/>
          </a:p>
        </p:txBody>
      </p:sp>
      <p:sp>
        <p:nvSpPr>
          <p:cNvPr id="15" name="Text 11">
            <a:extLst>
              <a:ext uri="{FF2B5EF4-FFF2-40B4-BE49-F238E27FC236}">
                <a16:creationId xmlns:a16="http://schemas.microsoft.com/office/drawing/2014/main" id="{1AE930FA-E351-4D5A-8DB4-F1ABC4273FC1}"/>
              </a:ext>
            </a:extLst>
          </p:cNvPr>
          <p:cNvSpPr>
            <a:spLocks noGrp="1"/>
          </p:cNvSpPr>
          <p:nvPr/>
        </p:nvSpPr>
        <p:spPr>
          <a:xfrm>
            <a:off x="3453770" y="3068366"/>
            <a:ext cx="2075688" cy="914400"/>
          </a:xfrm>
          <a:prstGeom prst="rect">
            <a:avLst/>
          </a:prstGeom>
          <a:noFill/>
        </p:spPr>
        <p:txBody>
          <a:bodyPr wrap="square" lIns="0" tIns="0" rIns="0" bIns="0" anchor="t"/>
          <a:lstStyle/>
          <a:p>
            <a:pPr marL="0" indent="0" algn="l">
              <a:lnSpc>
                <a:spcPct val="104000"/>
              </a:lnSpc>
              <a:buNone/>
            </a:pPr>
            <a:r>
              <a:rPr sz="1300" dirty="0">
                <a:solidFill>
                  <a:srgbClr val="4B5563"/>
                </a:solidFill>
                <a:latin typeface="Cambria"/>
                <a:ea typeface="Cambria"/>
                <a:cs typeface="Cambria"/>
              </a:rPr>
              <a:t>Speaking is a</a:t>
            </a:r>
            <a:r>
              <a:rPr lang="en-US" sz="1300" dirty="0">
                <a:solidFill>
                  <a:srgbClr val="4B5563"/>
                </a:solidFill>
                <a:latin typeface="Cambria"/>
                <a:ea typeface="Cambria"/>
                <a:cs typeface="Cambria"/>
              </a:rPr>
              <a:t>n experiment</a:t>
            </a:r>
            <a:r>
              <a:rPr sz="1300" dirty="0">
                <a:solidFill>
                  <a:srgbClr val="4B5563"/>
                </a:solidFill>
                <a:latin typeface="Cambria"/>
                <a:ea typeface="Cambria"/>
                <a:cs typeface="Cambria"/>
              </a:rPr>
              <a:t>: “Does this work?” Trial and error helps you learn.</a:t>
            </a:r>
            <a:endParaRPr sz="1300" dirty="0"/>
          </a:p>
        </p:txBody>
      </p:sp>
      <p:sp>
        <p:nvSpPr>
          <p:cNvPr id="16" name="Shape 12">
            <a:extLst>
              <a:ext uri="{FF2B5EF4-FFF2-40B4-BE49-F238E27FC236}">
                <a16:creationId xmlns:a16="http://schemas.microsoft.com/office/drawing/2014/main" id="{6C95842B-1777-4A8E-BC6D-8FEF4F545B4B}"/>
              </a:ext>
            </a:extLst>
          </p:cNvPr>
          <p:cNvSpPr>
            <a:spLocks noGrp="1"/>
          </p:cNvSpPr>
          <p:nvPr/>
        </p:nvSpPr>
        <p:spPr>
          <a:xfrm>
            <a:off x="5972942" y="1504742"/>
            <a:ext cx="2587752" cy="251460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7" name="Shape 13">
            <a:extLst>
              <a:ext uri="{FF2B5EF4-FFF2-40B4-BE49-F238E27FC236}">
                <a16:creationId xmlns:a16="http://schemas.microsoft.com/office/drawing/2014/main" id="{239A0227-8503-4818-B81A-A2D63C6C24CF}"/>
              </a:ext>
            </a:extLst>
          </p:cNvPr>
          <p:cNvSpPr>
            <a:spLocks noGrp="1"/>
          </p:cNvSpPr>
          <p:nvPr/>
        </p:nvSpPr>
        <p:spPr>
          <a:xfrm>
            <a:off x="6228974" y="1760774"/>
            <a:ext cx="566928" cy="566928"/>
          </a:xfrm>
          <a:prstGeom prst="ellipse">
            <a:avLst/>
          </a:prstGeom>
          <a:solidFill>
            <a:srgbClr val="E6EFF9"/>
          </a:solidFill>
          <a:ln w="12700">
            <a:solidFill>
              <a:srgbClr val="002E5D"/>
            </a:solidFill>
            <a:prstDash val="solid"/>
          </a:ln>
        </p:spPr>
        <p:txBody>
          <a:bodyPr/>
          <a:lstStyle/>
          <a:p>
            <a:endParaRPr/>
          </a:p>
        </p:txBody>
      </p:sp>
      <p:pic>
        <p:nvPicPr>
          <p:cNvPr id="41" name="Image 2"/>
          <p:cNvPicPr>
            <a:picLocks noChangeAspect="1"/>
          </p:cNvPicPr>
          <p:nvPr/>
        </p:nvPicPr>
        <p:blipFill>
          <a:blip r:embed="rId5"/>
          <a:stretch>
            <a:fillRect/>
          </a:stretch>
        </p:blipFill>
        <p:spPr>
          <a:xfrm>
            <a:off x="6376375" y="1908175"/>
            <a:ext cx="272125" cy="272125"/>
          </a:xfrm>
          <a:prstGeom prst="rect">
            <a:avLst/>
          </a:prstGeom>
        </p:spPr>
      </p:pic>
      <p:sp>
        <p:nvSpPr>
          <p:cNvPr id="19" name="Text 14">
            <a:extLst>
              <a:ext uri="{FF2B5EF4-FFF2-40B4-BE49-F238E27FC236}">
                <a16:creationId xmlns:a16="http://schemas.microsoft.com/office/drawing/2014/main" id="{E2132308-FBDF-43D8-90A2-E85D52424F47}"/>
              </a:ext>
            </a:extLst>
          </p:cNvPr>
          <p:cNvSpPr>
            <a:spLocks noGrp="1"/>
          </p:cNvSpPr>
          <p:nvPr/>
        </p:nvSpPr>
        <p:spPr>
          <a:xfrm>
            <a:off x="7783454" y="1760774"/>
            <a:ext cx="548640" cy="457200"/>
          </a:xfrm>
          <a:prstGeom prst="rect">
            <a:avLst/>
          </a:prstGeom>
          <a:noFill/>
        </p:spPr>
        <p:txBody>
          <a:bodyPr wrap="square" lIns="0" tIns="0" rIns="0" bIns="0" anchor="ctr"/>
          <a:lstStyle/>
          <a:p>
            <a:pPr marL="0" indent="0" algn="r">
              <a:buNone/>
            </a:pPr>
            <a:r>
              <a:rPr sz="1200" b="1">
                <a:solidFill>
                  <a:srgbClr val="0062B8"/>
                </a:solidFill>
                <a:latin typeface="Calibri"/>
                <a:ea typeface="Calibri"/>
                <a:cs typeface="Calibri"/>
              </a:rPr>
              <a:t>03</a:t>
            </a:r>
            <a:endParaRPr sz="1200"/>
          </a:p>
        </p:txBody>
      </p:sp>
      <p:sp>
        <p:nvSpPr>
          <p:cNvPr id="20" name="Text 15">
            <a:extLst>
              <a:ext uri="{FF2B5EF4-FFF2-40B4-BE49-F238E27FC236}">
                <a16:creationId xmlns:a16="http://schemas.microsoft.com/office/drawing/2014/main" id="{D9320652-ADED-4BDC-809E-06594A3EEB14}"/>
              </a:ext>
            </a:extLst>
          </p:cNvPr>
          <p:cNvSpPr>
            <a:spLocks noGrp="1"/>
          </p:cNvSpPr>
          <p:nvPr/>
        </p:nvSpPr>
        <p:spPr>
          <a:xfrm>
            <a:off x="6178228" y="2414273"/>
            <a:ext cx="2177179" cy="548640"/>
          </a:xfrm>
          <a:prstGeom prst="rect">
            <a:avLst/>
          </a:prstGeom>
          <a:noFill/>
        </p:spPr>
        <p:txBody>
          <a:bodyPr wrap="square" lIns="0" tIns="0" rIns="0" bIns="0" anchor="t"/>
          <a:lstStyle/>
          <a:p>
            <a:pPr marL="0" indent="0" algn="l">
              <a:buNone/>
            </a:pPr>
            <a:r>
              <a:rPr lang="en-US" sz="1900" b="1" dirty="0">
                <a:solidFill>
                  <a:srgbClr val="1F2937"/>
                </a:solidFill>
                <a:latin typeface="Calibri"/>
                <a:ea typeface="Calibri"/>
                <a:cs typeface="Calibri"/>
              </a:rPr>
              <a:t>You r</a:t>
            </a:r>
            <a:r>
              <a:rPr sz="1900" b="1" dirty="0">
                <a:solidFill>
                  <a:srgbClr val="1F2937"/>
                </a:solidFill>
                <a:latin typeface="Calibri"/>
                <a:ea typeface="Calibri"/>
                <a:cs typeface="Calibri"/>
              </a:rPr>
              <a:t>eflect on</a:t>
            </a:r>
            <a:r>
              <a:rPr lang="en-US" sz="1900" b="1" dirty="0">
                <a:solidFill>
                  <a:srgbClr val="1F2937"/>
                </a:solidFill>
                <a:latin typeface="Calibri"/>
                <a:ea typeface="Calibri"/>
                <a:cs typeface="Calibri"/>
              </a:rPr>
              <a:t> your</a:t>
            </a:r>
            <a:r>
              <a:rPr sz="1900" b="1" dirty="0">
                <a:solidFill>
                  <a:srgbClr val="1F2937"/>
                </a:solidFill>
                <a:latin typeface="Calibri"/>
                <a:ea typeface="Calibri"/>
                <a:cs typeface="Calibri"/>
              </a:rPr>
              <a:t> language</a:t>
            </a:r>
            <a:endParaRPr sz="1900" dirty="0"/>
          </a:p>
        </p:txBody>
      </p:sp>
      <p:sp>
        <p:nvSpPr>
          <p:cNvPr id="21" name="Text 16">
            <a:extLst>
              <a:ext uri="{FF2B5EF4-FFF2-40B4-BE49-F238E27FC236}">
                <a16:creationId xmlns:a16="http://schemas.microsoft.com/office/drawing/2014/main" id="{18BFB90E-7E6F-4EA8-93F7-B20C89994750}"/>
              </a:ext>
            </a:extLst>
          </p:cNvPr>
          <p:cNvSpPr>
            <a:spLocks noGrp="1"/>
          </p:cNvSpPr>
          <p:nvPr/>
        </p:nvSpPr>
        <p:spPr>
          <a:xfrm>
            <a:off x="6154916" y="3068366"/>
            <a:ext cx="2177178" cy="914400"/>
          </a:xfrm>
          <a:prstGeom prst="rect">
            <a:avLst/>
          </a:prstGeom>
          <a:noFill/>
        </p:spPr>
        <p:txBody>
          <a:bodyPr wrap="square" lIns="0" tIns="0" rIns="0" bIns="0" anchor="t"/>
          <a:lstStyle/>
          <a:p>
            <a:pPr marL="0" indent="0" algn="l">
              <a:lnSpc>
                <a:spcPct val="104000"/>
              </a:lnSpc>
              <a:buNone/>
            </a:pPr>
            <a:r>
              <a:rPr sz="1300" dirty="0">
                <a:solidFill>
                  <a:srgbClr val="4B5563"/>
                </a:solidFill>
                <a:latin typeface="Cambria"/>
                <a:ea typeface="Cambria"/>
                <a:cs typeface="Cambria"/>
              </a:rPr>
              <a:t>Talking about how to say something helps you learn the grammar</a:t>
            </a:r>
            <a:r>
              <a:rPr lang="en-US" sz="1300" dirty="0">
                <a:solidFill>
                  <a:srgbClr val="4B5563"/>
                </a:solidFill>
                <a:latin typeface="Cambria"/>
                <a:ea typeface="Cambria"/>
                <a:cs typeface="Cambria"/>
              </a:rPr>
              <a:t> better. Thinking about language helps.</a:t>
            </a:r>
            <a:endParaRPr sz="1300" dirty="0"/>
          </a:p>
        </p:txBody>
      </p:sp>
      <p:sp>
        <p:nvSpPr>
          <p:cNvPr id="6" name="TextBox 5">
            <a:extLst>
              <a:ext uri="{FF2B5EF4-FFF2-40B4-BE49-F238E27FC236}">
                <a16:creationId xmlns:a16="http://schemas.microsoft.com/office/drawing/2014/main" id="{B7F7155B-60FC-754E-6AA9-7F4D4C222A86}"/>
              </a:ext>
            </a:extLst>
          </p:cNvPr>
          <p:cNvSpPr txBox="1"/>
          <p:nvPr/>
        </p:nvSpPr>
        <p:spPr>
          <a:xfrm>
            <a:off x="336869" y="4266230"/>
            <a:ext cx="5113387" cy="369332"/>
          </a:xfrm>
          <a:prstGeom prst="rect">
            <a:avLst/>
          </a:prstGeom>
          <a:noFill/>
        </p:spPr>
        <p:txBody>
          <a:bodyPr wrap="none" rtlCol="0">
            <a:spAutoFit/>
          </a:bodyPr>
          <a:lstStyle/>
          <a:p>
            <a:r>
              <a:rPr lang="en-US" dirty="0"/>
              <a:t>Think hypothesis testing and reflection on results.</a:t>
            </a:r>
          </a:p>
        </p:txBody>
      </p:sp>
    </p:spTree>
    <p:extLst>
      <p:ext uri="{BB962C8B-B14F-4D97-AF65-F5344CB8AC3E}">
        <p14:creationId xmlns:p14="http://schemas.microsoft.com/office/powerpoint/2010/main" val="1421721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Lst>
          </p:cNvPr>
          <p:cNvSpPr>
            <a:spLocks noGrp="1"/>
          </p:cNvSpPr>
          <p:nvPr/>
        </p:nvSpPr>
        <p:spPr>
          <a:xfrm>
            <a:off x="10633" y="10633"/>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5" name="Picture 1"/>
          <p:cNvPicPr>
            <a:picLocks noChangeAspect="1"/>
          </p:cNvPicPr>
          <p:nvPr/>
        </p:nvPicPr>
        <p:blipFill>
          <a:blip r:embed="rId3"/>
          <a:srcRect l="3565" r="15519" b="-3"/>
          <a:stretch>
            <a:fillRect/>
          </a:stretch>
        </p:blipFill>
        <p:spPr>
          <a:xfrm>
            <a:off x="20" y="10"/>
            <a:ext cx="5202273" cy="5143490"/>
          </a:xfrm>
          <a:prstGeom prst="rect">
            <a:avLst/>
          </a:prstGeom>
        </p:spPr>
      </p:pic>
      <p:sp>
        <p:nvSpPr>
          <p:cNvPr id="3" name="TextBox 2">
            <a:extLst>
              <a:ext uri="{FF2B5EF4-FFF2-40B4-BE49-F238E27FC236}">
                <a16:creationId xmlns:a16="http://schemas.microsoft.com/office/drawing/2014/main" id="{1BC37F58-0595-128F-7620-FA20914DC7C2}"/>
              </a:ext>
            </a:extLst>
          </p:cNvPr>
          <p:cNvSpPr>
            <a:spLocks noGrp="1"/>
          </p:cNvSpPr>
          <p:nvPr/>
        </p:nvSpPr>
        <p:spPr>
          <a:xfrm>
            <a:off x="5657761" y="1967065"/>
            <a:ext cx="2866642" cy="2807072"/>
          </a:xfrm>
          <a:prstGeom prst="rect">
            <a:avLst/>
          </a:prstGeom>
        </p:spPr>
        <p:txBody>
          <a:bodyPr vert="horz" lIns="91440" tIns="45720" rIns="91440" bIns="45720">
            <a:normAutofit/>
          </a:bodyPr>
          <a:lstStyle/>
          <a:p>
            <a:pPr algn="ctr">
              <a:lnSpc>
                <a:spcPct val="90000"/>
              </a:lnSpc>
              <a:spcAft>
                <a:spcPts val="600"/>
              </a:spcAft>
              <a:buNone/>
            </a:pPr>
            <a:r>
              <a:rPr sz="1500" dirty="0"/>
              <a:t>DAN’S GAP MINDING AND HYPOTHESIS TESTING IN SPANIS</a:t>
            </a:r>
            <a:r>
              <a:rPr lang="en-US" sz="1500" dirty="0"/>
              <a:t>H</a:t>
            </a:r>
          </a:p>
          <a:p>
            <a:pPr algn="ctr">
              <a:lnSpc>
                <a:spcPct val="90000"/>
              </a:lnSpc>
              <a:spcAft>
                <a:spcPts val="600"/>
              </a:spcAft>
              <a:buNone/>
            </a:pPr>
            <a:r>
              <a:rPr lang="en-US" sz="1500" dirty="0"/>
              <a:t>Gaps I noticed when speaking</a:t>
            </a:r>
            <a:endParaRPr sz="1500" dirty="0"/>
          </a:p>
          <a:p>
            <a:pPr algn="ctr">
              <a:lnSpc>
                <a:spcPct val="90000"/>
              </a:lnSpc>
              <a:spcAft>
                <a:spcPts val="600"/>
              </a:spcAft>
              <a:buNone/>
            </a:pPr>
            <a:endParaRPr sz="1500" dirty="0"/>
          </a:p>
          <a:p>
            <a:pPr indent="-228600">
              <a:lnSpc>
                <a:spcPct val="90000"/>
              </a:lnSpc>
              <a:spcAft>
                <a:spcPts val="600"/>
              </a:spcAft>
              <a:buFont typeface="Arial"/>
              <a:buChar char="•"/>
            </a:pPr>
            <a:r>
              <a:rPr sz="1500" dirty="0"/>
              <a:t>Full-time</a:t>
            </a:r>
          </a:p>
          <a:p>
            <a:pPr indent="-228600">
              <a:lnSpc>
                <a:spcPct val="90000"/>
              </a:lnSpc>
              <a:spcAft>
                <a:spcPts val="600"/>
              </a:spcAft>
              <a:buFont typeface="Arial"/>
              <a:buChar char="•"/>
            </a:pPr>
            <a:r>
              <a:rPr sz="1500" dirty="0"/>
              <a:t>Hybrid</a:t>
            </a:r>
          </a:p>
          <a:p>
            <a:pPr indent="-228600">
              <a:lnSpc>
                <a:spcPct val="90000"/>
              </a:lnSpc>
              <a:spcAft>
                <a:spcPts val="600"/>
              </a:spcAft>
              <a:buFont typeface="Arial"/>
              <a:buChar char="•"/>
            </a:pPr>
            <a:r>
              <a:rPr sz="1500" dirty="0"/>
              <a:t>I’m sorry for VERB </a:t>
            </a:r>
            <a:r>
              <a:rPr sz="1500" dirty="0" err="1"/>
              <a:t>ing</a:t>
            </a:r>
            <a:endParaRPr sz="1500" dirty="0"/>
          </a:p>
          <a:p>
            <a:pPr indent="-228600">
              <a:lnSpc>
                <a:spcPct val="90000"/>
              </a:lnSpc>
              <a:spcAft>
                <a:spcPts val="600"/>
              </a:spcAft>
              <a:buFont typeface="Arial"/>
              <a:buChar char="•"/>
            </a:pPr>
            <a:r>
              <a:rPr sz="1500" dirty="0"/>
              <a:t>Throughout the world</a:t>
            </a:r>
          </a:p>
        </p:txBody>
      </p:sp>
      <p:pic>
        <p:nvPicPr>
          <p:cNvPr id="10" name="Picture 9">
            <a:extLst>
              <a:ext uri="{FF2B5EF4-FFF2-40B4-BE49-F238E27FC236}">
                <a16:creationId xmlns:a16="http://schemas.microsoft.com/office/drawing/2014/main" id="{53158B05-4260-3200-056E-AF80C00AD5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0679" y="199717"/>
            <a:ext cx="1614897" cy="1573183"/>
          </a:xfrm>
          <a:prstGeom prst="rect">
            <a:avLst/>
          </a:prstGeom>
        </p:spPr>
      </p:pic>
    </p:spTree>
    <p:extLst>
      <p:ext uri="{BB962C8B-B14F-4D97-AF65-F5344CB8AC3E}">
        <p14:creationId xmlns:p14="http://schemas.microsoft.com/office/powerpoint/2010/main" val="1722802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8B57D37-7C14-A9CA-3D06-1FD1CF8755B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B48C6DD-2E5F-E7E0-898B-53D09468F039}"/>
              </a:ext>
            </a:extLst>
          </p:cNvPr>
          <p:cNvSpPr>
            <a:spLocks noGrp="1"/>
          </p:cNvSpPr>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5" name="Picture 1">
            <a:extLst>
              <a:ext uri="{FF2B5EF4-FFF2-40B4-BE49-F238E27FC236}">
                <a16:creationId xmlns:a16="http://schemas.microsoft.com/office/drawing/2014/main" id="{988BD193-9630-B8EA-EE17-147A8E1B2447}"/>
              </a:ext>
            </a:extLst>
          </p:cNvPr>
          <p:cNvPicPr>
            <a:picLocks noChangeAspect="1"/>
          </p:cNvPicPr>
          <p:nvPr/>
        </p:nvPicPr>
        <p:blipFill>
          <a:blip r:embed="rId3"/>
          <a:srcRect l="3565" r="15519" b="-3"/>
          <a:stretch>
            <a:fillRect/>
          </a:stretch>
        </p:blipFill>
        <p:spPr>
          <a:xfrm>
            <a:off x="20" y="10"/>
            <a:ext cx="5202273" cy="5143490"/>
          </a:xfrm>
          <a:prstGeom prst="rect">
            <a:avLst/>
          </a:prstGeom>
        </p:spPr>
      </p:pic>
      <p:sp>
        <p:nvSpPr>
          <p:cNvPr id="3" name="TextBox 2">
            <a:extLst>
              <a:ext uri="{FF2B5EF4-FFF2-40B4-BE49-F238E27FC236}">
                <a16:creationId xmlns:a16="http://schemas.microsoft.com/office/drawing/2014/main" id="{754B054C-6341-88EB-8222-0F14E6979BDC}"/>
              </a:ext>
            </a:extLst>
          </p:cNvPr>
          <p:cNvSpPr>
            <a:spLocks noGrp="1"/>
          </p:cNvSpPr>
          <p:nvPr/>
        </p:nvSpPr>
        <p:spPr>
          <a:xfrm>
            <a:off x="5579370" y="1866212"/>
            <a:ext cx="2866642" cy="2807072"/>
          </a:xfrm>
          <a:prstGeom prst="rect">
            <a:avLst/>
          </a:prstGeom>
        </p:spPr>
        <p:txBody>
          <a:bodyPr vert="horz" lIns="91440" tIns="45720" rIns="91440" bIns="45720">
            <a:normAutofit fontScale="92500" lnSpcReduction="20000"/>
          </a:bodyPr>
          <a:lstStyle/>
          <a:p>
            <a:pPr algn="ctr">
              <a:lnSpc>
                <a:spcPct val="90000"/>
              </a:lnSpc>
              <a:spcAft>
                <a:spcPts val="600"/>
              </a:spcAft>
              <a:buNone/>
            </a:pPr>
            <a:r>
              <a:rPr sz="1500" dirty="0"/>
              <a:t>DAN’S GAP MINDING AND HYPOTHESIS TESTING IN SPANIS</a:t>
            </a:r>
            <a:r>
              <a:rPr lang="en-US" sz="1500" dirty="0"/>
              <a:t>H</a:t>
            </a:r>
          </a:p>
          <a:p>
            <a:pPr algn="ctr">
              <a:lnSpc>
                <a:spcPct val="90000"/>
              </a:lnSpc>
              <a:spcAft>
                <a:spcPts val="600"/>
              </a:spcAft>
              <a:buNone/>
            </a:pPr>
            <a:r>
              <a:rPr lang="en-US" sz="1500" dirty="0"/>
              <a:t>Gaps I noticed when speaking</a:t>
            </a:r>
            <a:endParaRPr sz="1500" dirty="0"/>
          </a:p>
          <a:p>
            <a:pPr algn="ctr">
              <a:lnSpc>
                <a:spcPct val="90000"/>
              </a:lnSpc>
              <a:spcAft>
                <a:spcPts val="600"/>
              </a:spcAft>
              <a:buNone/>
            </a:pPr>
            <a:endParaRPr sz="1500" dirty="0"/>
          </a:p>
          <a:p>
            <a:pPr indent="-228600">
              <a:lnSpc>
                <a:spcPct val="90000"/>
              </a:lnSpc>
              <a:spcAft>
                <a:spcPts val="600"/>
              </a:spcAft>
              <a:buFont typeface="Arial"/>
              <a:buChar char="•"/>
            </a:pPr>
            <a:r>
              <a:rPr sz="1500" dirty="0"/>
              <a:t>Full-time</a:t>
            </a:r>
            <a:r>
              <a:rPr lang="en-US" sz="1500" dirty="0"/>
              <a:t> </a:t>
            </a:r>
          </a:p>
          <a:p>
            <a:pPr lvl="1" indent="-228600">
              <a:lnSpc>
                <a:spcPct val="90000"/>
              </a:lnSpc>
              <a:spcAft>
                <a:spcPts val="600"/>
              </a:spcAft>
              <a:buFont typeface="Arial"/>
              <a:buChar char="•"/>
            </a:pPr>
            <a:r>
              <a:rPr lang="en-US" sz="1500" dirty="0"/>
              <a:t>(all + time?)</a:t>
            </a:r>
            <a:endParaRPr sz="1500" dirty="0"/>
          </a:p>
          <a:p>
            <a:pPr indent="-228600">
              <a:lnSpc>
                <a:spcPct val="90000"/>
              </a:lnSpc>
              <a:spcAft>
                <a:spcPts val="600"/>
              </a:spcAft>
              <a:buFont typeface="Arial"/>
              <a:buChar char="•"/>
            </a:pPr>
            <a:r>
              <a:rPr sz="1500" dirty="0"/>
              <a:t>Hybrid</a:t>
            </a:r>
            <a:r>
              <a:rPr lang="en-US" sz="1500" dirty="0"/>
              <a:t> </a:t>
            </a:r>
          </a:p>
          <a:p>
            <a:pPr lvl="1" indent="-228600">
              <a:lnSpc>
                <a:spcPct val="90000"/>
              </a:lnSpc>
              <a:spcAft>
                <a:spcPts val="600"/>
              </a:spcAft>
              <a:buFont typeface="Arial"/>
              <a:buChar char="•"/>
            </a:pPr>
            <a:r>
              <a:rPr lang="en-US" sz="1500" dirty="0"/>
              <a:t>(English loan?)</a:t>
            </a:r>
            <a:endParaRPr sz="1500" dirty="0"/>
          </a:p>
          <a:p>
            <a:pPr indent="-228600">
              <a:lnSpc>
                <a:spcPct val="90000"/>
              </a:lnSpc>
              <a:spcAft>
                <a:spcPts val="600"/>
              </a:spcAft>
              <a:buFont typeface="Arial"/>
              <a:buChar char="•"/>
            </a:pPr>
            <a:r>
              <a:rPr sz="1500" dirty="0"/>
              <a:t>I’m sorry for VERB </a:t>
            </a:r>
            <a:r>
              <a:rPr sz="1500" dirty="0" err="1"/>
              <a:t>ing</a:t>
            </a:r>
            <a:endParaRPr lang="en-US" sz="1500" dirty="0"/>
          </a:p>
          <a:p>
            <a:pPr lvl="1" indent="-228600">
              <a:lnSpc>
                <a:spcPct val="90000"/>
              </a:lnSpc>
              <a:spcAft>
                <a:spcPts val="600"/>
              </a:spcAft>
              <a:buFont typeface="Arial"/>
              <a:buChar char="•"/>
            </a:pPr>
            <a:r>
              <a:rPr lang="en-US" sz="1500" dirty="0"/>
              <a:t>I’m sorry + verb</a:t>
            </a:r>
            <a:endParaRPr sz="1500" dirty="0"/>
          </a:p>
          <a:p>
            <a:pPr indent="-228600">
              <a:lnSpc>
                <a:spcPct val="90000"/>
              </a:lnSpc>
              <a:spcAft>
                <a:spcPts val="600"/>
              </a:spcAft>
              <a:buFont typeface="Arial"/>
              <a:buChar char="•"/>
            </a:pPr>
            <a:r>
              <a:rPr sz="1500" dirty="0"/>
              <a:t>Throughout the world</a:t>
            </a:r>
            <a:r>
              <a:rPr lang="en-US" sz="1500" dirty="0"/>
              <a:t> </a:t>
            </a:r>
          </a:p>
          <a:p>
            <a:pPr lvl="1" indent="-228600">
              <a:lnSpc>
                <a:spcPct val="90000"/>
              </a:lnSpc>
              <a:spcAft>
                <a:spcPts val="600"/>
              </a:spcAft>
              <a:buFont typeface="Arial"/>
              <a:buChar char="•"/>
            </a:pPr>
            <a:r>
              <a:rPr lang="en-US" sz="1500" dirty="0"/>
              <a:t>(in + whole + world)</a:t>
            </a:r>
            <a:endParaRPr sz="1500" dirty="0"/>
          </a:p>
        </p:txBody>
      </p:sp>
      <p:pic>
        <p:nvPicPr>
          <p:cNvPr id="4" name="Picture 3">
            <a:extLst>
              <a:ext uri="{FF2B5EF4-FFF2-40B4-BE49-F238E27FC236}">
                <a16:creationId xmlns:a16="http://schemas.microsoft.com/office/drawing/2014/main" id="{11EA65EA-0C67-9DCC-DAF8-57E4CCF2AC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3721" y="245663"/>
            <a:ext cx="1626781" cy="1620549"/>
          </a:xfrm>
          <a:prstGeom prst="rect">
            <a:avLst/>
          </a:prstGeom>
        </p:spPr>
      </p:pic>
    </p:spTree>
    <p:extLst>
      <p:ext uri="{BB962C8B-B14F-4D97-AF65-F5344CB8AC3E}">
        <p14:creationId xmlns:p14="http://schemas.microsoft.com/office/powerpoint/2010/main" val="2558192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58A529-D4FB-2351-D0A7-FB987278EE4F}"/>
              </a:ext>
            </a:extLst>
          </p:cNvPr>
          <p:cNvPicPr>
            <a:picLocks noChangeAspect="1"/>
          </p:cNvPicPr>
          <p:nvPr/>
        </p:nvPicPr>
        <p:blipFill>
          <a:blip r:embed="rId2"/>
          <a:stretch>
            <a:fillRect/>
          </a:stretch>
        </p:blipFill>
        <p:spPr>
          <a:xfrm>
            <a:off x="457377" y="861238"/>
            <a:ext cx="8542990" cy="2505944"/>
          </a:xfrm>
          <a:prstGeom prst="rect">
            <a:avLst/>
          </a:prstGeom>
        </p:spPr>
      </p:pic>
      <p:sp>
        <p:nvSpPr>
          <p:cNvPr id="3" name="TextBox 2">
            <a:extLst>
              <a:ext uri="{FF2B5EF4-FFF2-40B4-BE49-F238E27FC236}">
                <a16:creationId xmlns:a16="http://schemas.microsoft.com/office/drawing/2014/main" id="{CCDF6859-EA8A-D606-4EAC-E142222B0D5E}"/>
              </a:ext>
            </a:extLst>
          </p:cNvPr>
          <p:cNvSpPr txBox="1"/>
          <p:nvPr/>
        </p:nvSpPr>
        <p:spPr>
          <a:xfrm>
            <a:off x="988827" y="3635931"/>
            <a:ext cx="5518299" cy="646331"/>
          </a:xfrm>
          <a:prstGeom prst="rect">
            <a:avLst/>
          </a:prstGeom>
          <a:noFill/>
        </p:spPr>
        <p:txBody>
          <a:bodyPr wrap="square" rtlCol="0">
            <a:spAutoFit/>
          </a:bodyPr>
          <a:lstStyle/>
          <a:p>
            <a:r>
              <a:rPr lang="en-US" dirty="0"/>
              <a:t>Perfection is not needed—progress is valued most (praise growth and learning as a teacher)</a:t>
            </a:r>
          </a:p>
        </p:txBody>
      </p:sp>
      <p:sp>
        <p:nvSpPr>
          <p:cNvPr id="4" name="TextBox 3">
            <a:extLst>
              <a:ext uri="{FF2B5EF4-FFF2-40B4-BE49-F238E27FC236}">
                <a16:creationId xmlns:a16="http://schemas.microsoft.com/office/drawing/2014/main" id="{EFA48B16-47E1-2DAB-8253-AE4D258653AA}"/>
              </a:ext>
            </a:extLst>
          </p:cNvPr>
          <p:cNvSpPr txBox="1"/>
          <p:nvPr/>
        </p:nvSpPr>
        <p:spPr>
          <a:xfrm>
            <a:off x="2392326" y="357532"/>
            <a:ext cx="3432863" cy="369332"/>
          </a:xfrm>
          <a:prstGeom prst="rect">
            <a:avLst/>
          </a:prstGeom>
          <a:noFill/>
        </p:spPr>
        <p:txBody>
          <a:bodyPr wrap="none" rtlCol="0">
            <a:spAutoFit/>
          </a:bodyPr>
          <a:lstStyle/>
          <a:p>
            <a:r>
              <a:rPr lang="en-US" b="1" dirty="0">
                <a:solidFill>
                  <a:schemeClr val="accent1">
                    <a:lumMod val="75000"/>
                  </a:schemeClr>
                </a:solidFill>
              </a:rPr>
              <a:t>PRODUCTIVE SPEAKING CYCLE</a:t>
            </a:r>
          </a:p>
        </p:txBody>
      </p:sp>
    </p:spTree>
    <p:extLst>
      <p:ext uri="{BB962C8B-B14F-4D97-AF65-F5344CB8AC3E}">
        <p14:creationId xmlns:p14="http://schemas.microsoft.com/office/powerpoint/2010/main" val="849982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E7D267-2DBC-3C04-A1FD-48057AE0DF0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917AD16-23B6-8760-FE72-21AFB0E2518A}"/>
              </a:ext>
            </a:extLst>
          </p:cNvPr>
          <p:cNvPicPr>
            <a:picLocks noChangeAspect="1"/>
          </p:cNvPicPr>
          <p:nvPr/>
        </p:nvPicPr>
        <p:blipFill>
          <a:blip r:embed="rId3"/>
          <a:stretch>
            <a:fillRect/>
          </a:stretch>
        </p:blipFill>
        <p:spPr>
          <a:xfrm>
            <a:off x="457377" y="861238"/>
            <a:ext cx="8542990" cy="2505944"/>
          </a:xfrm>
          <a:prstGeom prst="rect">
            <a:avLst/>
          </a:prstGeom>
        </p:spPr>
      </p:pic>
      <p:sp>
        <p:nvSpPr>
          <p:cNvPr id="3" name="TextBox 2">
            <a:extLst>
              <a:ext uri="{FF2B5EF4-FFF2-40B4-BE49-F238E27FC236}">
                <a16:creationId xmlns:a16="http://schemas.microsoft.com/office/drawing/2014/main" id="{4011225C-F598-EBDE-FF7F-01FADE781ECC}"/>
              </a:ext>
            </a:extLst>
          </p:cNvPr>
          <p:cNvSpPr txBox="1"/>
          <p:nvPr/>
        </p:nvSpPr>
        <p:spPr>
          <a:xfrm>
            <a:off x="788105" y="3501556"/>
            <a:ext cx="7240773" cy="1200329"/>
          </a:xfrm>
          <a:prstGeom prst="rect">
            <a:avLst/>
          </a:prstGeom>
          <a:noFill/>
        </p:spPr>
        <p:txBody>
          <a:bodyPr wrap="square" rtlCol="0">
            <a:spAutoFit/>
          </a:bodyPr>
          <a:lstStyle/>
          <a:p>
            <a:r>
              <a:rPr lang="en-US" dirty="0"/>
              <a:t>Students can notice gaps by themselves or teachers or peers can point them out at any stage—when they are thinking what to say at first, when they try to do the task (answer the prompt) or when they reflect on what they said at any stage.</a:t>
            </a:r>
          </a:p>
        </p:txBody>
      </p:sp>
      <p:sp>
        <p:nvSpPr>
          <p:cNvPr id="4" name="TextBox 3">
            <a:extLst>
              <a:ext uri="{FF2B5EF4-FFF2-40B4-BE49-F238E27FC236}">
                <a16:creationId xmlns:a16="http://schemas.microsoft.com/office/drawing/2014/main" id="{49141D34-4D5F-CA3F-58C0-477778901A59}"/>
              </a:ext>
            </a:extLst>
          </p:cNvPr>
          <p:cNvSpPr txBox="1"/>
          <p:nvPr/>
        </p:nvSpPr>
        <p:spPr>
          <a:xfrm>
            <a:off x="2392326" y="357532"/>
            <a:ext cx="3432863" cy="369332"/>
          </a:xfrm>
          <a:prstGeom prst="rect">
            <a:avLst/>
          </a:prstGeom>
          <a:noFill/>
        </p:spPr>
        <p:txBody>
          <a:bodyPr wrap="none" rtlCol="0">
            <a:spAutoFit/>
          </a:bodyPr>
          <a:lstStyle/>
          <a:p>
            <a:r>
              <a:rPr lang="en-US" b="1" dirty="0">
                <a:solidFill>
                  <a:schemeClr val="accent1">
                    <a:lumMod val="75000"/>
                  </a:schemeClr>
                </a:solidFill>
              </a:rPr>
              <a:t>PRODUCTIVE SPEAKING CYCLE</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3952416-13C3-9BDF-0720-45D5CF59479E}"/>
                  </a:ext>
                </a:extLst>
              </p14:cNvPr>
              <p14:cNvContentPartPr/>
              <p14:nvPr/>
            </p14:nvContentPartPr>
            <p14:xfrm>
              <a:off x="2499011" y="653375"/>
              <a:ext cx="2674080" cy="976680"/>
            </p14:xfrm>
          </p:contentPart>
        </mc:Choice>
        <mc:Fallback xmlns="">
          <p:pic>
            <p:nvPicPr>
              <p:cNvPr id="5" name="Ink 4">
                <a:extLst>
                  <a:ext uri="{FF2B5EF4-FFF2-40B4-BE49-F238E27FC236}">
                    <a16:creationId xmlns:a16="http://schemas.microsoft.com/office/drawing/2014/main" id="{03952416-13C3-9BDF-0720-45D5CF59479E}"/>
                  </a:ext>
                </a:extLst>
              </p:cNvPr>
              <p:cNvPicPr/>
              <p:nvPr/>
            </p:nvPicPr>
            <p:blipFill>
              <a:blip r:embed="rId5"/>
              <a:stretch>
                <a:fillRect/>
              </a:stretch>
            </p:blipFill>
            <p:spPr>
              <a:xfrm>
                <a:off x="2490371" y="644375"/>
                <a:ext cx="2691720" cy="994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774F55E-7EEF-13A9-332F-D29CF1B4BBFF}"/>
                  </a:ext>
                </a:extLst>
              </p14:cNvPr>
              <p14:cNvContentPartPr/>
              <p14:nvPr/>
            </p14:nvContentPartPr>
            <p14:xfrm>
              <a:off x="6080651" y="192575"/>
              <a:ext cx="2717280" cy="1082160"/>
            </p14:xfrm>
          </p:contentPart>
        </mc:Choice>
        <mc:Fallback xmlns="">
          <p:pic>
            <p:nvPicPr>
              <p:cNvPr id="6" name="Ink 5">
                <a:extLst>
                  <a:ext uri="{FF2B5EF4-FFF2-40B4-BE49-F238E27FC236}">
                    <a16:creationId xmlns:a16="http://schemas.microsoft.com/office/drawing/2014/main" id="{9774F55E-7EEF-13A9-332F-D29CF1B4BBFF}"/>
                  </a:ext>
                </a:extLst>
              </p:cNvPr>
              <p:cNvPicPr/>
              <p:nvPr/>
            </p:nvPicPr>
            <p:blipFill>
              <a:blip r:embed="rId7"/>
              <a:stretch>
                <a:fillRect/>
              </a:stretch>
            </p:blipFill>
            <p:spPr>
              <a:xfrm>
                <a:off x="6071651" y="183575"/>
                <a:ext cx="2734920" cy="1099800"/>
              </a:xfrm>
              <a:prstGeom prst="rect">
                <a:avLst/>
              </a:prstGeom>
            </p:spPr>
          </p:pic>
        </mc:Fallback>
      </mc:AlternateContent>
    </p:spTree>
    <p:extLst>
      <p:ext uri="{BB962C8B-B14F-4D97-AF65-F5344CB8AC3E}">
        <p14:creationId xmlns:p14="http://schemas.microsoft.com/office/powerpoint/2010/main" val="12665727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42804E-B7DE-E12D-1DE3-AEA1853D2E23}"/>
              </a:ext>
            </a:extLst>
          </p:cNvPr>
          <p:cNvSpPr txBox="1"/>
          <p:nvPr/>
        </p:nvSpPr>
        <p:spPr>
          <a:xfrm>
            <a:off x="914400" y="903768"/>
            <a:ext cx="6549656" cy="3724096"/>
          </a:xfrm>
          <a:prstGeom prst="rect">
            <a:avLst/>
          </a:prstGeom>
          <a:noFill/>
        </p:spPr>
        <p:txBody>
          <a:bodyPr wrap="square" rtlCol="0">
            <a:spAutoFit/>
          </a:bodyPr>
          <a:lstStyle/>
          <a:p>
            <a:pPr algn="ctr"/>
            <a:r>
              <a:rPr lang="en-US" sz="4400" dirty="0">
                <a:solidFill>
                  <a:schemeClr val="accent1">
                    <a:lumMod val="75000"/>
                  </a:schemeClr>
                </a:solidFill>
              </a:rPr>
              <a:t>CYCLE</a:t>
            </a:r>
          </a:p>
          <a:p>
            <a:pPr marL="457200" indent="-457200">
              <a:buFont typeface="Arial" panose="020B0604020202020204" pitchFamily="34" charset="0"/>
              <a:buChar char="•"/>
            </a:pPr>
            <a:r>
              <a:rPr lang="en-US" sz="3200" dirty="0">
                <a:solidFill>
                  <a:schemeClr val="accent1">
                    <a:lumMod val="75000"/>
                  </a:schemeClr>
                </a:solidFill>
              </a:rPr>
              <a:t>Learn what’s missing</a:t>
            </a:r>
          </a:p>
          <a:p>
            <a:pPr marL="457200" indent="-457200">
              <a:buFont typeface="Arial" panose="020B0604020202020204" pitchFamily="34" charset="0"/>
              <a:buChar char="•"/>
            </a:pPr>
            <a:r>
              <a:rPr lang="en-US" sz="3200" dirty="0">
                <a:solidFill>
                  <a:schemeClr val="accent1">
                    <a:lumMod val="75000"/>
                  </a:schemeClr>
                </a:solidFill>
              </a:rPr>
              <a:t>Fill a gap</a:t>
            </a:r>
          </a:p>
          <a:p>
            <a:pPr marL="457200" indent="-457200">
              <a:buFont typeface="Arial" panose="020B0604020202020204" pitchFamily="34" charset="0"/>
              <a:buChar char="•"/>
            </a:pPr>
            <a:r>
              <a:rPr lang="en-US" sz="3200" dirty="0">
                <a:solidFill>
                  <a:schemeClr val="accent1">
                    <a:lumMod val="75000"/>
                  </a:schemeClr>
                </a:solidFill>
              </a:rPr>
              <a:t>Practice</a:t>
            </a:r>
          </a:p>
          <a:p>
            <a:pPr marL="457200" indent="-457200">
              <a:buFont typeface="Arial" panose="020B0604020202020204" pitchFamily="34" charset="0"/>
              <a:buChar char="•"/>
            </a:pPr>
            <a:r>
              <a:rPr lang="en-US" sz="3200" dirty="0">
                <a:solidFill>
                  <a:schemeClr val="accent1">
                    <a:lumMod val="75000"/>
                  </a:schemeClr>
                </a:solidFill>
              </a:rPr>
              <a:t>Learn what’s missing</a:t>
            </a:r>
          </a:p>
          <a:p>
            <a:pPr marL="457200" indent="-457200">
              <a:buFont typeface="Arial" panose="020B0604020202020204" pitchFamily="34" charset="0"/>
              <a:buChar char="•"/>
            </a:pPr>
            <a:r>
              <a:rPr lang="en-US" sz="3200" dirty="0">
                <a:solidFill>
                  <a:schemeClr val="accent1">
                    <a:lumMod val="75000"/>
                  </a:schemeClr>
                </a:solidFill>
              </a:rPr>
              <a:t>Fill a gap</a:t>
            </a:r>
          </a:p>
          <a:p>
            <a:pPr marL="457200" indent="-457200">
              <a:buFont typeface="Arial" panose="020B0604020202020204" pitchFamily="34" charset="0"/>
              <a:buChar char="•"/>
            </a:pPr>
            <a:r>
              <a:rPr lang="en-US" sz="3200" dirty="0">
                <a:solidFill>
                  <a:schemeClr val="accent1">
                    <a:lumMod val="75000"/>
                  </a:schemeClr>
                </a:solidFill>
              </a:rPr>
              <a:t>Practice</a:t>
            </a:r>
          </a:p>
        </p:txBody>
      </p:sp>
    </p:spTree>
    <p:extLst>
      <p:ext uri="{BB962C8B-B14F-4D97-AF65-F5344CB8AC3E}">
        <p14:creationId xmlns:p14="http://schemas.microsoft.com/office/powerpoint/2010/main" val="1964103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EC105-C6F9-4540-DC04-B40CB8C81221}"/>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4D34A91C-7D0D-E23C-293A-C1C89FE97109}"/>
              </a:ext>
            </a:extLst>
          </p:cNvPr>
          <p:cNvSpPr>
            <a:spLocks noGrp="1"/>
          </p:cNvSpPr>
          <p:nvPr/>
        </p:nvSpPr>
        <p:spPr>
          <a:xfrm>
            <a:off x="502920" y="548640"/>
            <a:ext cx="2148840" cy="457200"/>
          </a:xfrm>
          <a:prstGeom prst="roundRect">
            <a:avLst>
              <a:gd name="adj" fmla="val 12000"/>
            </a:avLst>
          </a:prstGeom>
          <a:solidFill>
            <a:srgbClr val="BE965C"/>
          </a:solidFill>
          <a:ln w="12700">
            <a:solidFill>
              <a:srgbClr val="002E5D"/>
            </a:solidFill>
            <a:prstDash val="solid"/>
          </a:ln>
        </p:spPr>
        <p:txBody>
          <a:bodyPr/>
          <a:lstStyle/>
          <a:p>
            <a:endParaRPr/>
          </a:p>
        </p:txBody>
      </p:sp>
      <p:sp>
        <p:nvSpPr>
          <p:cNvPr id="4" name="Text 2">
            <a:extLst>
              <a:ext uri="{FF2B5EF4-FFF2-40B4-BE49-F238E27FC236}">
                <a16:creationId xmlns:a16="http://schemas.microsoft.com/office/drawing/2014/main" id="{3ED2FEE1-C3F0-D867-EE40-11780608B749}"/>
              </a:ext>
            </a:extLst>
          </p:cNvPr>
          <p:cNvSpPr>
            <a:spLocks noGrp="1"/>
          </p:cNvSpPr>
          <p:nvPr/>
        </p:nvSpPr>
        <p:spPr>
          <a:xfrm>
            <a:off x="502920" y="548640"/>
            <a:ext cx="2148840" cy="457200"/>
          </a:xfrm>
          <a:prstGeom prst="rect">
            <a:avLst/>
          </a:prstGeom>
          <a:noFill/>
        </p:spPr>
        <p:txBody>
          <a:bodyPr wrap="square" lIns="0" tIns="0" rIns="0" bIns="0" anchor="ctr"/>
          <a:lstStyle/>
          <a:p>
            <a:pPr marL="0" indent="0" algn="ctr">
              <a:buNone/>
            </a:pPr>
            <a:r>
              <a:rPr sz="1300" b="1" dirty="0">
                <a:solidFill>
                  <a:srgbClr val="FFFFFF"/>
                </a:solidFill>
                <a:latin typeface="Calibri"/>
                <a:ea typeface="Calibri"/>
                <a:cs typeface="Calibri"/>
              </a:rPr>
              <a:t>DEMO · </a:t>
            </a:r>
            <a:r>
              <a:rPr lang="en-US" sz="1300" b="1" dirty="0">
                <a:solidFill>
                  <a:srgbClr val="FFFFFF"/>
                </a:solidFill>
                <a:latin typeface="Calibri"/>
                <a:ea typeface="Calibri"/>
                <a:cs typeface="Calibri"/>
              </a:rPr>
              <a:t>2</a:t>
            </a:r>
            <a:endParaRPr sz="1300" dirty="0"/>
          </a:p>
        </p:txBody>
      </p:sp>
      <p:pic>
        <p:nvPicPr>
          <p:cNvPr id="12" name="Image 0">
            <a:extLst>
              <a:ext uri="{FF2B5EF4-FFF2-40B4-BE49-F238E27FC236}">
                <a16:creationId xmlns:a16="http://schemas.microsoft.com/office/drawing/2014/main" id="{07F67E0E-36B8-E21B-C0B5-E9A551BE510A}"/>
              </a:ext>
            </a:extLst>
          </p:cNvPr>
          <p:cNvPicPr>
            <a:picLocks noChangeAspect="1"/>
          </p:cNvPicPr>
          <p:nvPr/>
        </p:nvPicPr>
        <p:blipFill>
          <a:blip r:embed="rId3"/>
          <a:stretch>
            <a:fillRect/>
          </a:stretch>
        </p:blipFill>
        <p:spPr>
          <a:xfrm>
            <a:off x="502920" y="1371600"/>
            <a:ext cx="640080" cy="640080"/>
          </a:xfrm>
          <a:prstGeom prst="rect">
            <a:avLst/>
          </a:prstGeom>
        </p:spPr>
      </p:pic>
      <p:sp>
        <p:nvSpPr>
          <p:cNvPr id="6" name="Text 3">
            <a:extLst>
              <a:ext uri="{FF2B5EF4-FFF2-40B4-BE49-F238E27FC236}">
                <a16:creationId xmlns:a16="http://schemas.microsoft.com/office/drawing/2014/main" id="{1F8EB174-381E-6650-A4A4-B6B5DB8EBA00}"/>
              </a:ext>
            </a:extLst>
          </p:cNvPr>
          <p:cNvSpPr>
            <a:spLocks noGrp="1"/>
          </p:cNvSpPr>
          <p:nvPr/>
        </p:nvSpPr>
        <p:spPr>
          <a:xfrm>
            <a:off x="502920" y="2148840"/>
            <a:ext cx="7589520" cy="1737360"/>
          </a:xfrm>
          <a:prstGeom prst="rect">
            <a:avLst/>
          </a:prstGeom>
          <a:noFill/>
        </p:spPr>
        <p:txBody>
          <a:bodyPr wrap="square" lIns="0" tIns="0" rIns="0" bIns="0" anchor="t"/>
          <a:lstStyle/>
          <a:p>
            <a:pPr marL="0" indent="0" algn="l">
              <a:lnSpc>
                <a:spcPct val="100000"/>
              </a:lnSpc>
              <a:buNone/>
            </a:pPr>
            <a:r>
              <a:rPr sz="3400" b="1" dirty="0">
                <a:solidFill>
                  <a:srgbClr val="FFFFFF"/>
                </a:solidFill>
                <a:latin typeface="Calibri"/>
                <a:ea typeface="Calibri"/>
                <a:cs typeface="Calibri"/>
              </a:rPr>
              <a:t>Same question, </a:t>
            </a:r>
            <a:r>
              <a:rPr lang="en-US" sz="3400" b="1" dirty="0">
                <a:solidFill>
                  <a:srgbClr val="FFFFFF"/>
                </a:solidFill>
                <a:latin typeface="Calibri"/>
                <a:ea typeface="Calibri"/>
                <a:cs typeface="Calibri"/>
              </a:rPr>
              <a:t>several</a:t>
            </a:r>
            <a:r>
              <a:rPr sz="3400" b="1" dirty="0">
                <a:solidFill>
                  <a:srgbClr val="FFFFFF"/>
                </a:solidFill>
                <a:latin typeface="Calibri"/>
                <a:ea typeface="Calibri"/>
                <a:cs typeface="Calibri"/>
              </a:rPr>
              <a:t> ways. </a:t>
            </a:r>
            <a:endParaRPr sz="3400" dirty="0"/>
          </a:p>
        </p:txBody>
      </p:sp>
      <p:sp>
        <p:nvSpPr>
          <p:cNvPr id="7" name="Text 4">
            <a:extLst>
              <a:ext uri="{FF2B5EF4-FFF2-40B4-BE49-F238E27FC236}">
                <a16:creationId xmlns:a16="http://schemas.microsoft.com/office/drawing/2014/main" id="{CC7D59E2-52F9-8597-D93B-717BA4553703}"/>
              </a:ext>
            </a:extLst>
          </p:cNvPr>
          <p:cNvSpPr>
            <a:spLocks noGrp="1"/>
          </p:cNvSpPr>
          <p:nvPr/>
        </p:nvSpPr>
        <p:spPr>
          <a:xfrm>
            <a:off x="502920" y="3886200"/>
            <a:ext cx="7863840" cy="548640"/>
          </a:xfrm>
          <a:prstGeom prst="rect">
            <a:avLst/>
          </a:prstGeom>
          <a:noFill/>
        </p:spPr>
        <p:txBody>
          <a:bodyPr wrap="square" lIns="0" tIns="0" rIns="0" bIns="0" anchor="ctr"/>
          <a:lstStyle/>
          <a:p>
            <a:pPr marL="0" indent="0" algn="l">
              <a:buNone/>
            </a:pPr>
            <a:r>
              <a:rPr sz="1500" dirty="0">
                <a:solidFill>
                  <a:srgbClr val="C5CCD6"/>
                </a:solidFill>
                <a:latin typeface="Cambria"/>
                <a:ea typeface="Cambria"/>
                <a:cs typeface="Cambria"/>
              </a:rPr>
              <a:t>Demo 1 — Getting everyone talking</a:t>
            </a:r>
            <a:endParaRPr sz="1500" dirty="0"/>
          </a:p>
        </p:txBody>
      </p:sp>
      <p:pic>
        <p:nvPicPr>
          <p:cNvPr id="955" name="BYU Linguistics logo" descr="BYU Linguistics logo">
            <a:extLst>
              <a:ext uri="{FF2B5EF4-FFF2-40B4-BE49-F238E27FC236}">
                <a16:creationId xmlns:a16="http://schemas.microsoft.com/office/drawing/2014/main" id="{955B1641-AF21-3C59-281D-3B806C1C2598}"/>
              </a:ext>
            </a:extLst>
          </p:cNvPr>
          <p:cNvPicPr>
            <a:picLocks noChangeAspect="1"/>
          </p:cNvPicPr>
          <p:nvPr/>
        </p:nvPicPr>
        <p:blipFill>
          <a:blip r:embed="rId4"/>
          <a:stretch>
            <a:fillRect/>
          </a:stretch>
        </p:blipFill>
        <p:spPr>
          <a:xfrm>
            <a:off x="7269480" y="457200"/>
            <a:ext cx="1371600" cy="797379"/>
          </a:xfrm>
          <a:prstGeom prst="rect">
            <a:avLst/>
          </a:prstGeom>
        </p:spPr>
      </p:pic>
      <p:sp>
        <p:nvSpPr>
          <p:cNvPr id="2" name="TextBox 1">
            <a:extLst>
              <a:ext uri="{FF2B5EF4-FFF2-40B4-BE49-F238E27FC236}">
                <a16:creationId xmlns:a16="http://schemas.microsoft.com/office/drawing/2014/main" id="{99BFADA7-DCC4-63F6-9D0C-7FC7167D615D}"/>
              </a:ext>
            </a:extLst>
          </p:cNvPr>
          <p:cNvSpPr txBox="1"/>
          <p:nvPr/>
        </p:nvSpPr>
        <p:spPr>
          <a:xfrm>
            <a:off x="2966713" y="1780847"/>
            <a:ext cx="2936253" cy="461665"/>
          </a:xfrm>
          <a:prstGeom prst="rect">
            <a:avLst/>
          </a:prstGeom>
          <a:noFill/>
        </p:spPr>
        <p:txBody>
          <a:bodyPr wrap="none" rtlCol="0">
            <a:spAutoFit/>
          </a:bodyPr>
          <a:lstStyle/>
          <a:p>
            <a:r>
              <a:rPr lang="en-US" sz="2400" dirty="0">
                <a:solidFill>
                  <a:schemeClr val="accent1">
                    <a:lumMod val="75000"/>
                  </a:schemeClr>
                </a:solidFill>
              </a:rPr>
              <a:t>Repetition with Push</a:t>
            </a:r>
          </a:p>
        </p:txBody>
      </p:sp>
    </p:spTree>
    <p:extLst>
      <p:ext uri="{BB962C8B-B14F-4D97-AF65-F5344CB8AC3E}">
        <p14:creationId xmlns:p14="http://schemas.microsoft.com/office/powerpoint/2010/main" val="2532557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57250" y="1048098"/>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ectangle 2"/>
          <p:cNvSpPr/>
          <p:nvPr/>
        </p:nvSpPr>
        <p:spPr>
          <a:xfrm>
            <a:off x="857250" y="1048098"/>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Rectangle 3"/>
          <p:cNvSpPr/>
          <p:nvPr/>
        </p:nvSpPr>
        <p:spPr>
          <a:xfrm>
            <a:off x="1257300" y="2637582"/>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Rectangle 4"/>
          <p:cNvSpPr/>
          <p:nvPr/>
        </p:nvSpPr>
        <p:spPr>
          <a:xfrm>
            <a:off x="1257300" y="2637582"/>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pic>
        <p:nvPicPr>
          <p:cNvPr id="6" name="Picture 5" descr="image.png"/>
          <p:cNvPicPr>
            <a:picLocks noChangeAspect="1"/>
          </p:cNvPicPr>
          <p:nvPr/>
        </p:nvPicPr>
        <p:blipFill>
          <a:blip r:embed="rId3"/>
          <a:stretch>
            <a:fillRect/>
          </a:stretch>
        </p:blipFill>
        <p:spPr>
          <a:xfrm>
            <a:off x="1257300" y="2809032"/>
            <a:ext cx="114300" cy="114300"/>
          </a:xfrm>
          <a:prstGeom prst="rect">
            <a:avLst/>
          </a:prstGeom>
        </p:spPr>
      </p:pic>
      <p:pic>
        <p:nvPicPr>
          <p:cNvPr id="7" name="Picture 6" descr="image.png"/>
          <p:cNvPicPr>
            <a:picLocks noChangeAspect="1"/>
          </p:cNvPicPr>
          <p:nvPr/>
        </p:nvPicPr>
        <p:blipFill>
          <a:blip r:embed="rId4"/>
          <a:stretch>
            <a:fillRect/>
          </a:stretch>
        </p:blipFill>
        <p:spPr>
          <a:xfrm>
            <a:off x="3414713" y="2809032"/>
            <a:ext cx="142875" cy="114300"/>
          </a:xfrm>
          <a:prstGeom prst="rect">
            <a:avLst/>
          </a:prstGeom>
        </p:spPr>
      </p:pic>
      <p:sp>
        <p:nvSpPr>
          <p:cNvPr id="8" name="TextBox 7"/>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p:cNvSpPr txBox="1"/>
          <p:nvPr/>
        </p:nvSpPr>
        <p:spPr>
          <a:xfrm>
            <a:off x="1257300" y="1333849"/>
            <a:ext cx="1452321" cy="161583"/>
          </a:xfrm>
          <a:prstGeom prst="rect">
            <a:avLst/>
          </a:prstGeom>
          <a:noFill/>
        </p:spPr>
        <p:txBody>
          <a:bodyPr wrap="none" lIns="0" tIns="0" rIns="0" bIns="0" anchor="t">
            <a:spAutoFit/>
          </a:bodyPr>
          <a:lstStyle/>
          <a:p>
            <a:pPr algn="l"/>
            <a:r>
              <a:rPr sz="1050" b="1">
                <a:solidFill>
                  <a:srgbClr val="0369A1"/>
                </a:solidFill>
                <a:latin typeface="Plus Jakarta Sans"/>
              </a:rPr>
              <a:t>TOPIC: DECISION MAKING</a:t>
            </a:r>
          </a:p>
        </p:txBody>
      </p:sp>
      <p:sp>
        <p:nvSpPr>
          <p:cNvPr id="11" name="TextBox 10"/>
          <p:cNvSpPr txBox="1"/>
          <p:nvPr/>
        </p:nvSpPr>
        <p:spPr>
          <a:xfrm>
            <a:off x="1257300" y="1598167"/>
            <a:ext cx="6757988" cy="884858"/>
          </a:xfrm>
          <a:prstGeom prst="rect">
            <a:avLst/>
          </a:prstGeom>
          <a:noFill/>
        </p:spPr>
        <p:txBody>
          <a:bodyPr wrap="square" lIns="0" tIns="0" rIns="0" bIns="0" anchor="t">
            <a:spAutoFit/>
          </a:bodyPr>
          <a:lstStyle/>
          <a:p>
            <a:pPr>
              <a:lnSpc>
                <a:spcPts val="2278"/>
              </a:lnSpc>
            </a:pPr>
            <a:r>
              <a:rPr sz="2000" b="1" dirty="0">
                <a:solidFill>
                  <a:srgbClr val="0F172A"/>
                </a:solidFill>
                <a:latin typeface="Plus Jakarta Sans"/>
              </a:rPr>
              <a:t>"When you have a difficult decision to make, do you usually follow your </a:t>
            </a:r>
            <a:r>
              <a:rPr sz="2000" b="1" dirty="0">
                <a:solidFill>
                  <a:schemeClr val="accent1">
                    <a:lumMod val="75000"/>
                  </a:schemeClr>
                </a:solidFill>
                <a:latin typeface="Plus Jakarta Sans"/>
              </a:rPr>
              <a:t>gut feeling </a:t>
            </a:r>
            <a:r>
              <a:rPr sz="2000" b="1" dirty="0">
                <a:solidFill>
                  <a:srgbClr val="0F172A"/>
                </a:solidFill>
                <a:latin typeface="Plus Jakarta Sans"/>
              </a:rPr>
              <a:t>or ask other people for advice? Give an example."</a:t>
            </a:r>
          </a:p>
        </p:txBody>
      </p:sp>
      <p:sp>
        <p:nvSpPr>
          <p:cNvPr id="12" name="TextBox 11"/>
          <p:cNvSpPr txBox="1"/>
          <p:nvPr/>
        </p:nvSpPr>
        <p:spPr>
          <a:xfrm>
            <a:off x="1257300" y="2787601"/>
            <a:ext cx="2071080" cy="161583"/>
          </a:xfrm>
          <a:prstGeom prst="rect">
            <a:avLst/>
          </a:prstGeom>
          <a:noFill/>
        </p:spPr>
        <p:txBody>
          <a:bodyPr wrap="none" lIns="171450" tIns="0" rIns="0" bIns="0" anchor="t">
            <a:spAutoFit/>
          </a:bodyPr>
          <a:lstStyle/>
          <a:p>
            <a:pPr algn="l"/>
            <a:r>
              <a:rPr sz="1050" b="1">
                <a:solidFill>
                  <a:srgbClr val="0369A1"/>
                </a:solidFill>
                <a:latin typeface="Plus Jakarta Sans"/>
              </a:rPr>
              <a:t>Option A: Intuition &amp; Gut Feelings</a:t>
            </a:r>
          </a:p>
        </p:txBody>
      </p:sp>
      <p:sp>
        <p:nvSpPr>
          <p:cNvPr id="13" name="TextBox 12"/>
          <p:cNvSpPr txBox="1"/>
          <p:nvPr/>
        </p:nvSpPr>
        <p:spPr>
          <a:xfrm>
            <a:off x="3414712" y="2787601"/>
            <a:ext cx="2648161" cy="161583"/>
          </a:xfrm>
          <a:prstGeom prst="rect">
            <a:avLst/>
          </a:prstGeom>
          <a:noFill/>
        </p:spPr>
        <p:txBody>
          <a:bodyPr wrap="none" lIns="200025" tIns="0" rIns="0" bIns="0" anchor="t">
            <a:spAutoFit/>
          </a:bodyPr>
          <a:lstStyle/>
          <a:p>
            <a:pPr algn="l"/>
            <a:r>
              <a:rPr sz="1050" b="1">
                <a:solidFill>
                  <a:srgbClr val="0369A1"/>
                </a:solidFill>
                <a:latin typeface="Plus Jakarta Sans"/>
              </a:rPr>
              <a:t>Option B: External Guidance &amp; Consultation</a:t>
            </a:r>
          </a:p>
        </p:txBody>
      </p:sp>
      <p:sp>
        <p:nvSpPr>
          <p:cNvPr id="14" name="TextBox 13">
            <a:extLst>
              <a:ext uri="{FF2B5EF4-FFF2-40B4-BE49-F238E27FC236}">
                <a16:creationId xmlns:a16="http://schemas.microsoft.com/office/drawing/2014/main" id="{235215D8-2EA8-F1FC-3700-CB6E95AF8F29}"/>
              </a:ext>
            </a:extLst>
          </p:cNvPr>
          <p:cNvSpPr txBox="1"/>
          <p:nvPr/>
        </p:nvSpPr>
        <p:spPr>
          <a:xfrm>
            <a:off x="857250" y="3509121"/>
            <a:ext cx="6109734" cy="923330"/>
          </a:xfrm>
          <a:prstGeom prst="rect">
            <a:avLst/>
          </a:prstGeom>
          <a:noFill/>
        </p:spPr>
        <p:txBody>
          <a:bodyPr wrap="square" rtlCol="0">
            <a:spAutoFit/>
          </a:bodyPr>
          <a:lstStyle/>
          <a:p>
            <a:r>
              <a:rPr lang="az-Cyrl-AZ" dirty="0"/>
              <a:t>Хэцүү шийдвэр гаргах шаардлагатай үед та ихэвчлэн дотоод мэдрэмждээ итгэдэг үү, эсвэл бусдаас зөвлөгөө авдаг уу? Жишээ дурдана уу.</a:t>
            </a:r>
            <a:endParaRPr lang="en-US" dirty="0"/>
          </a:p>
        </p:txBody>
      </p:sp>
      <p:sp>
        <p:nvSpPr>
          <p:cNvPr id="15" name="TextBox 14">
            <a:extLst>
              <a:ext uri="{FF2B5EF4-FFF2-40B4-BE49-F238E27FC236}">
                <a16:creationId xmlns:a16="http://schemas.microsoft.com/office/drawing/2014/main" id="{64DBF117-9E9A-1D8F-8898-7030CFDFB4B6}"/>
              </a:ext>
            </a:extLst>
          </p:cNvPr>
          <p:cNvSpPr txBox="1"/>
          <p:nvPr/>
        </p:nvSpPr>
        <p:spPr>
          <a:xfrm>
            <a:off x="7210204" y="3435053"/>
            <a:ext cx="1467292" cy="1077218"/>
          </a:xfrm>
          <a:prstGeom prst="rect">
            <a:avLst/>
          </a:prstGeom>
          <a:noFill/>
        </p:spPr>
        <p:txBody>
          <a:bodyPr wrap="square" rtlCol="0">
            <a:spAutoFit/>
          </a:bodyPr>
          <a:lstStyle/>
          <a:p>
            <a:r>
              <a:rPr lang="az-Cyrl-AZ" sz="3200" b="1" dirty="0">
                <a:solidFill>
                  <a:schemeClr val="accent1">
                    <a:lumMod val="75000"/>
                  </a:schemeClr>
                </a:solidFill>
              </a:rPr>
              <a:t>зөн совин</a:t>
            </a:r>
            <a:endParaRPr lang="en-US" sz="3200" b="1" dirty="0">
              <a:solidFill>
                <a:schemeClr val="accent1">
                  <a:lumMod val="75000"/>
                </a:schemeClr>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71500" y="2133079"/>
            <a:ext cx="2552663" cy="16002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ounded Rectangle 2"/>
          <p:cNvSpPr/>
          <p:nvPr/>
        </p:nvSpPr>
        <p:spPr>
          <a:xfrm>
            <a:off x="3295612" y="2133079"/>
            <a:ext cx="2552663" cy="16002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ounded Rectangle 3"/>
          <p:cNvSpPr/>
          <p:nvPr/>
        </p:nvSpPr>
        <p:spPr>
          <a:xfrm>
            <a:off x="6019725" y="2133079"/>
            <a:ext cx="2552663" cy="1600200"/>
          </a:xfrm>
          <a:prstGeom prst="roundRect">
            <a:avLst>
              <a:gd name="adj" fmla="val 714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5" name="Picture 4" descr="image.png"/>
          <p:cNvPicPr>
            <a:picLocks noChangeAspect="1"/>
          </p:cNvPicPr>
          <p:nvPr/>
        </p:nvPicPr>
        <p:blipFill>
          <a:blip r:embed="rId2"/>
          <a:stretch>
            <a:fillRect/>
          </a:stretch>
        </p:blipFill>
        <p:spPr>
          <a:xfrm>
            <a:off x="778669" y="2397398"/>
            <a:ext cx="342900" cy="342900"/>
          </a:xfrm>
          <a:prstGeom prst="rect">
            <a:avLst/>
          </a:prstGeom>
        </p:spPr>
      </p:pic>
      <p:pic>
        <p:nvPicPr>
          <p:cNvPr id="6" name="Picture 5" descr="image.png"/>
          <p:cNvPicPr>
            <a:picLocks noChangeAspect="1"/>
          </p:cNvPicPr>
          <p:nvPr/>
        </p:nvPicPr>
        <p:blipFill>
          <a:blip r:embed="rId3"/>
          <a:stretch>
            <a:fillRect/>
          </a:stretch>
        </p:blipFill>
        <p:spPr>
          <a:xfrm>
            <a:off x="3502781" y="2397398"/>
            <a:ext cx="342900" cy="342900"/>
          </a:xfrm>
          <a:prstGeom prst="rect">
            <a:avLst/>
          </a:prstGeom>
        </p:spPr>
      </p:pic>
      <p:pic>
        <p:nvPicPr>
          <p:cNvPr id="7" name="Picture 6" descr="image.png"/>
          <p:cNvPicPr>
            <a:picLocks noChangeAspect="1"/>
          </p:cNvPicPr>
          <p:nvPr/>
        </p:nvPicPr>
        <p:blipFill>
          <a:blip r:embed="rId2"/>
          <a:stretch>
            <a:fillRect/>
          </a:stretch>
        </p:blipFill>
        <p:spPr>
          <a:xfrm>
            <a:off x="6226894" y="2397398"/>
            <a:ext cx="342900" cy="342900"/>
          </a:xfrm>
          <a:prstGeom prst="rect">
            <a:avLst/>
          </a:prstGeom>
        </p:spPr>
      </p:pic>
      <p:pic>
        <p:nvPicPr>
          <p:cNvPr id="8" name="Picture 7" descr="image.png"/>
          <p:cNvPicPr>
            <a:picLocks noChangeAspect="1"/>
          </p:cNvPicPr>
          <p:nvPr/>
        </p:nvPicPr>
        <p:blipFill>
          <a:blip r:embed="rId4"/>
          <a:stretch>
            <a:fillRect/>
          </a:stretch>
        </p:blipFill>
        <p:spPr>
          <a:xfrm>
            <a:off x="885825" y="2483123"/>
            <a:ext cx="128588" cy="171450"/>
          </a:xfrm>
          <a:prstGeom prst="rect">
            <a:avLst/>
          </a:prstGeom>
        </p:spPr>
      </p:pic>
      <p:pic>
        <p:nvPicPr>
          <p:cNvPr id="9" name="Picture 8" descr="image.png"/>
          <p:cNvPicPr>
            <a:picLocks noChangeAspect="1"/>
          </p:cNvPicPr>
          <p:nvPr/>
        </p:nvPicPr>
        <p:blipFill>
          <a:blip r:embed="rId5"/>
          <a:stretch>
            <a:fillRect/>
          </a:stretch>
        </p:blipFill>
        <p:spPr>
          <a:xfrm>
            <a:off x="3599222" y="2483123"/>
            <a:ext cx="150019" cy="171450"/>
          </a:xfrm>
          <a:prstGeom prst="rect">
            <a:avLst/>
          </a:prstGeom>
        </p:spPr>
      </p:pic>
      <p:pic>
        <p:nvPicPr>
          <p:cNvPr id="10" name="Picture 9" descr="image.png"/>
          <p:cNvPicPr>
            <a:picLocks noChangeAspect="1"/>
          </p:cNvPicPr>
          <p:nvPr/>
        </p:nvPicPr>
        <p:blipFill>
          <a:blip r:embed="rId6"/>
          <a:stretch>
            <a:fillRect/>
          </a:stretch>
        </p:blipFill>
        <p:spPr>
          <a:xfrm>
            <a:off x="6323335" y="2483123"/>
            <a:ext cx="150019" cy="171450"/>
          </a:xfrm>
          <a:prstGeom prst="rect">
            <a:avLst/>
          </a:prstGeom>
        </p:spPr>
      </p:pic>
      <p:sp>
        <p:nvSpPr>
          <p:cNvPr id="11" name="TextBox 10"/>
          <p:cNvSpPr txBox="1"/>
          <p:nvPr/>
        </p:nvSpPr>
        <p:spPr>
          <a:xfrm>
            <a:off x="457200" y="342900"/>
            <a:ext cx="1016304" cy="121252"/>
          </a:xfrm>
          <a:prstGeom prst="rect">
            <a:avLst/>
          </a:prstGeom>
          <a:noFill/>
        </p:spPr>
        <p:txBody>
          <a:bodyPr wrap="none" lIns="0" tIns="0" rIns="0" bIns="0" anchor="t">
            <a:spAutoFit/>
          </a:bodyPr>
          <a:lstStyle/>
          <a:p>
            <a:pPr algn="l"/>
            <a:r>
              <a:rPr sz="788" b="1">
                <a:solidFill>
                  <a:srgbClr val="0284C7"/>
                </a:solidFill>
                <a:latin typeface="Space Grotesk"/>
              </a:rPr>
              <a:t>STAGE 02 • 90 SECONDS</a:t>
            </a:r>
          </a:p>
        </p:txBody>
      </p:sp>
      <p:sp>
        <p:nvSpPr>
          <p:cNvPr id="12" name="TextBox 11"/>
          <p:cNvSpPr txBox="1"/>
          <p:nvPr/>
        </p:nvSpPr>
        <p:spPr>
          <a:xfrm>
            <a:off x="667133" y="816877"/>
            <a:ext cx="5671296" cy="941155"/>
          </a:xfrm>
          <a:prstGeom prst="rect">
            <a:avLst/>
          </a:prstGeom>
          <a:noFill/>
        </p:spPr>
        <p:txBody>
          <a:bodyPr wrap="none" lIns="0" tIns="0" rIns="0" bIns="0" anchor="t">
            <a:spAutoFit/>
          </a:bodyPr>
          <a:lstStyle/>
          <a:p>
            <a:pPr>
              <a:lnSpc>
                <a:spcPts val="2430"/>
              </a:lnSpc>
            </a:pPr>
            <a:r>
              <a:rPr sz="2800" b="1" dirty="0">
                <a:solidFill>
                  <a:srgbClr val="0F172A"/>
                </a:solidFill>
                <a:latin typeface="Plus Jakarta Sans"/>
              </a:rPr>
              <a:t>Say It: Try It Out</a:t>
            </a:r>
            <a:r>
              <a:rPr lang="en-US" sz="2800" b="1" dirty="0">
                <a:solidFill>
                  <a:srgbClr val="0F172A"/>
                </a:solidFill>
                <a:latin typeface="Plus Jakarta Sans"/>
              </a:rPr>
              <a:t>—Just Speak </a:t>
            </a:r>
            <a:br>
              <a:rPr lang="en-US" sz="2800" b="1" dirty="0">
                <a:solidFill>
                  <a:srgbClr val="0F172A"/>
                </a:solidFill>
                <a:latin typeface="Plus Jakarta Sans"/>
              </a:rPr>
            </a:br>
            <a:r>
              <a:rPr lang="en-US" sz="2800" b="1" dirty="0">
                <a:solidFill>
                  <a:srgbClr val="0F172A"/>
                </a:solidFill>
                <a:latin typeface="Plus Jakarta Sans"/>
              </a:rPr>
              <a:t>	</a:t>
            </a:r>
            <a:br>
              <a:rPr lang="en-US" sz="2800" b="1" dirty="0">
                <a:solidFill>
                  <a:srgbClr val="0F172A"/>
                </a:solidFill>
                <a:latin typeface="Plus Jakarta Sans"/>
              </a:rPr>
            </a:br>
            <a:r>
              <a:rPr lang="en-US" sz="2800" b="1" dirty="0">
                <a:solidFill>
                  <a:srgbClr val="0F172A"/>
                </a:solidFill>
                <a:latin typeface="Plus Jakarta Sans"/>
              </a:rPr>
              <a:t>	(don’t hesitate or second guess)</a:t>
            </a:r>
            <a:endParaRPr sz="2800" b="1" dirty="0">
              <a:solidFill>
                <a:srgbClr val="0F172A"/>
              </a:solidFill>
              <a:latin typeface="Plus Jakarta Sans"/>
            </a:endParaRPr>
          </a:p>
        </p:txBody>
      </p:sp>
      <p:sp>
        <p:nvSpPr>
          <p:cNvPr id="13" name="TextBox 12"/>
          <p:cNvSpPr txBox="1"/>
          <p:nvPr/>
        </p:nvSpPr>
        <p:spPr>
          <a:xfrm>
            <a:off x="778669" y="2883173"/>
            <a:ext cx="1097865" cy="190501"/>
          </a:xfrm>
          <a:prstGeom prst="rect">
            <a:avLst/>
          </a:prstGeom>
          <a:noFill/>
        </p:spPr>
        <p:txBody>
          <a:bodyPr wrap="none" lIns="0" tIns="0" rIns="0" bIns="0" anchor="t">
            <a:spAutoFit/>
          </a:bodyPr>
          <a:lstStyle/>
          <a:p>
            <a:pPr algn="l"/>
            <a:r>
              <a:rPr sz="1238" b="1">
                <a:solidFill>
                  <a:srgbClr val="0F172A"/>
                </a:solidFill>
                <a:latin typeface="Plus Jakarta Sans"/>
              </a:rPr>
              <a:t>Continuous Flow</a:t>
            </a:r>
          </a:p>
        </p:txBody>
      </p:sp>
      <p:sp>
        <p:nvSpPr>
          <p:cNvPr id="14" name="TextBox 13"/>
          <p:cNvSpPr txBox="1"/>
          <p:nvPr/>
        </p:nvSpPr>
        <p:spPr>
          <a:xfrm>
            <a:off x="778669" y="3140348"/>
            <a:ext cx="1575752" cy="155877"/>
          </a:xfrm>
          <a:prstGeom prst="rect">
            <a:avLst/>
          </a:prstGeom>
          <a:noFill/>
        </p:spPr>
        <p:txBody>
          <a:bodyPr wrap="none" lIns="0" tIns="0" rIns="0" bIns="0" anchor="t">
            <a:spAutoFit/>
          </a:bodyPr>
          <a:lstStyle/>
          <a:p>
            <a:pPr algn="l"/>
            <a:r>
              <a:rPr sz="1013">
                <a:solidFill>
                  <a:srgbClr val="64748B"/>
                </a:solidFill>
                <a:latin typeface="Plus Jakarta Sans"/>
              </a:rPr>
              <a:t>Maintain spoken momentum.</a:t>
            </a:r>
          </a:p>
        </p:txBody>
      </p:sp>
      <p:sp>
        <p:nvSpPr>
          <p:cNvPr id="15" name="TextBox 14"/>
          <p:cNvSpPr txBox="1"/>
          <p:nvPr/>
        </p:nvSpPr>
        <p:spPr>
          <a:xfrm>
            <a:off x="3502781" y="2883173"/>
            <a:ext cx="1045286" cy="190501"/>
          </a:xfrm>
          <a:prstGeom prst="rect">
            <a:avLst/>
          </a:prstGeom>
          <a:noFill/>
        </p:spPr>
        <p:txBody>
          <a:bodyPr wrap="none" lIns="0" tIns="0" rIns="0" bIns="0" anchor="t">
            <a:spAutoFit/>
          </a:bodyPr>
          <a:lstStyle/>
          <a:p>
            <a:pPr algn="l"/>
            <a:r>
              <a:rPr sz="1238" b="1">
                <a:solidFill>
                  <a:srgbClr val="0F172A"/>
                </a:solidFill>
                <a:latin typeface="Plus Jakarta Sans"/>
              </a:rPr>
              <a:t>Ignore Mistakes</a:t>
            </a:r>
          </a:p>
        </p:txBody>
      </p:sp>
      <p:sp>
        <p:nvSpPr>
          <p:cNvPr id="16" name="TextBox 15"/>
          <p:cNvSpPr txBox="1"/>
          <p:nvPr/>
        </p:nvSpPr>
        <p:spPr>
          <a:xfrm>
            <a:off x="3502781" y="3140348"/>
            <a:ext cx="2209763" cy="155877"/>
          </a:xfrm>
          <a:prstGeom prst="rect">
            <a:avLst/>
          </a:prstGeom>
          <a:noFill/>
        </p:spPr>
        <p:txBody>
          <a:bodyPr wrap="square" lIns="0" tIns="0" rIns="0" bIns="0" anchor="t">
            <a:spAutoFit/>
          </a:bodyPr>
          <a:lstStyle/>
          <a:p>
            <a:pPr algn="l"/>
            <a:r>
              <a:rPr sz="1013">
                <a:solidFill>
                  <a:srgbClr val="64748B"/>
                </a:solidFill>
                <a:latin typeface="Plus Jakarta Sans"/>
              </a:rPr>
              <a:t>Prioritize communication over perfection.</a:t>
            </a:r>
          </a:p>
        </p:txBody>
      </p:sp>
      <p:sp>
        <p:nvSpPr>
          <p:cNvPr id="17" name="TextBox 16"/>
          <p:cNvSpPr txBox="1"/>
          <p:nvPr/>
        </p:nvSpPr>
        <p:spPr>
          <a:xfrm>
            <a:off x="6226894" y="2883173"/>
            <a:ext cx="846257" cy="190501"/>
          </a:xfrm>
          <a:prstGeom prst="rect">
            <a:avLst/>
          </a:prstGeom>
          <a:noFill/>
        </p:spPr>
        <p:txBody>
          <a:bodyPr wrap="none" lIns="0" tIns="0" rIns="0" bIns="0" anchor="t">
            <a:spAutoFit/>
          </a:bodyPr>
          <a:lstStyle/>
          <a:p>
            <a:pPr algn="l"/>
            <a:r>
              <a:rPr sz="1238" b="1">
                <a:solidFill>
                  <a:srgbClr val="0F172A"/>
                </a:solidFill>
                <a:latin typeface="Plus Jakarta Sans"/>
              </a:rPr>
              <a:t>Full Duration</a:t>
            </a:r>
          </a:p>
        </p:txBody>
      </p:sp>
      <p:sp>
        <p:nvSpPr>
          <p:cNvPr id="18" name="TextBox 17"/>
          <p:cNvSpPr txBox="1"/>
          <p:nvPr/>
        </p:nvSpPr>
        <p:spPr>
          <a:xfrm>
            <a:off x="6226894" y="3140348"/>
            <a:ext cx="1221488" cy="155877"/>
          </a:xfrm>
          <a:prstGeom prst="rect">
            <a:avLst/>
          </a:prstGeom>
          <a:noFill/>
        </p:spPr>
        <p:txBody>
          <a:bodyPr wrap="none" lIns="0" tIns="0" rIns="0" bIns="0" anchor="t">
            <a:spAutoFit/>
          </a:bodyPr>
          <a:lstStyle/>
          <a:p>
            <a:pPr algn="l"/>
            <a:r>
              <a:rPr sz="1013">
                <a:solidFill>
                  <a:srgbClr val="64748B"/>
                </a:solidFill>
                <a:latin typeface="Plus Jakarta Sans"/>
              </a:rPr>
              <a:t>Talk through the timer.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07469" y="3066008"/>
            <a:ext cx="1821656" cy="592931"/>
          </a:xfrm>
          <a:prstGeom prst="roundRect">
            <a:avLst>
              <a:gd name="adj" fmla="val 14457"/>
            </a:avLst>
          </a:prstGeom>
          <a:solidFill>
            <a:srgbClr val="1A2138"/>
          </a:solidFill>
          <a:ln w="9525">
            <a:solidFill>
              <a:srgbClr val="282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ounded Rectangle 2"/>
          <p:cNvSpPr/>
          <p:nvPr/>
        </p:nvSpPr>
        <p:spPr>
          <a:xfrm>
            <a:off x="4657726" y="3066008"/>
            <a:ext cx="1878806" cy="592931"/>
          </a:xfrm>
          <a:prstGeom prst="roundRect">
            <a:avLst>
              <a:gd name="adj" fmla="val 14457"/>
            </a:avLst>
          </a:prstGeom>
          <a:solidFill>
            <a:srgbClr val="1A2138"/>
          </a:solidFill>
          <a:ln w="9525">
            <a:solidFill>
              <a:srgbClr val="282F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4" name="Picture 3" descr="image.png"/>
          <p:cNvPicPr>
            <a:picLocks noChangeAspect="1"/>
          </p:cNvPicPr>
          <p:nvPr/>
        </p:nvPicPr>
        <p:blipFill>
          <a:blip r:embed="rId2"/>
          <a:stretch>
            <a:fillRect/>
          </a:stretch>
        </p:blipFill>
        <p:spPr>
          <a:xfrm>
            <a:off x="2843213" y="3276749"/>
            <a:ext cx="150019" cy="171450"/>
          </a:xfrm>
          <a:prstGeom prst="rect">
            <a:avLst/>
          </a:prstGeom>
        </p:spPr>
      </p:pic>
      <p:pic>
        <p:nvPicPr>
          <p:cNvPr id="5" name="Picture 4" descr="image.png"/>
          <p:cNvPicPr>
            <a:picLocks noChangeAspect="1"/>
          </p:cNvPicPr>
          <p:nvPr/>
        </p:nvPicPr>
        <p:blipFill>
          <a:blip r:embed="rId3"/>
          <a:stretch>
            <a:fillRect/>
          </a:stretch>
        </p:blipFill>
        <p:spPr>
          <a:xfrm>
            <a:off x="4893469" y="3276749"/>
            <a:ext cx="214313" cy="171450"/>
          </a:xfrm>
          <a:prstGeom prst="rect">
            <a:avLst/>
          </a:prstGeom>
        </p:spPr>
      </p:pic>
      <p:sp>
        <p:nvSpPr>
          <p:cNvPr id="6" name="TextBox 5"/>
          <p:cNvSpPr txBox="1"/>
          <p:nvPr/>
        </p:nvSpPr>
        <p:spPr>
          <a:xfrm>
            <a:off x="3565666" y="574794"/>
            <a:ext cx="2012667" cy="276999"/>
          </a:xfrm>
          <a:prstGeom prst="rect">
            <a:avLst/>
          </a:prstGeom>
          <a:noFill/>
        </p:spPr>
        <p:txBody>
          <a:bodyPr wrap="none" lIns="0" tIns="0" rIns="0" bIns="0" anchor="t">
            <a:spAutoFit/>
          </a:bodyPr>
          <a:lstStyle/>
          <a:p>
            <a:pPr algn="ctr"/>
            <a:r>
              <a:rPr b="1" dirty="0">
                <a:solidFill>
                  <a:srgbClr val="38BDF8"/>
                </a:solidFill>
                <a:latin typeface="Space Grotesk"/>
              </a:rPr>
              <a:t>PRACTICE PROTOCOL</a:t>
            </a:r>
          </a:p>
        </p:txBody>
      </p:sp>
      <p:sp>
        <p:nvSpPr>
          <p:cNvPr id="7" name="TextBox 6"/>
          <p:cNvSpPr txBox="1"/>
          <p:nvPr/>
        </p:nvSpPr>
        <p:spPr>
          <a:xfrm>
            <a:off x="2378033" y="1734480"/>
            <a:ext cx="4387932" cy="448841"/>
          </a:xfrm>
          <a:prstGeom prst="rect">
            <a:avLst/>
          </a:prstGeom>
          <a:noFill/>
        </p:spPr>
        <p:txBody>
          <a:bodyPr wrap="none" lIns="0" tIns="0" rIns="0" bIns="0" anchor="t">
            <a:spAutoFit/>
          </a:bodyPr>
          <a:lstStyle/>
          <a:p>
            <a:pPr algn="ctr">
              <a:lnSpc>
                <a:spcPts val="3510"/>
              </a:lnSpc>
            </a:pPr>
            <a:r>
              <a:rPr sz="2925" b="1">
                <a:solidFill>
                  <a:srgbClr val="FFFFFF"/>
                </a:solidFill>
                <a:latin typeface="Plus Jakarta Sans"/>
              </a:rPr>
              <a:t>Ready to Begin Your Round?</a:t>
            </a:r>
          </a:p>
        </p:txBody>
      </p:sp>
      <p:sp>
        <p:nvSpPr>
          <p:cNvPr id="8" name="TextBox 7"/>
          <p:cNvSpPr txBox="1"/>
          <p:nvPr/>
        </p:nvSpPr>
        <p:spPr>
          <a:xfrm>
            <a:off x="1506603" y="1008437"/>
            <a:ext cx="6521497" cy="1563313"/>
          </a:xfrm>
          <a:prstGeom prst="rect">
            <a:avLst/>
          </a:prstGeom>
          <a:noFill/>
        </p:spPr>
        <p:txBody>
          <a:bodyPr wrap="square" lIns="0" tIns="0" rIns="0" bIns="0" anchor="t">
            <a:spAutoFit/>
          </a:bodyPr>
          <a:lstStyle/>
          <a:p>
            <a:pPr algn="ctr">
              <a:lnSpc>
                <a:spcPts val="1688"/>
              </a:lnSpc>
            </a:pPr>
            <a:r>
              <a:rPr sz="2400" dirty="0">
                <a:solidFill>
                  <a:schemeClr val="accent1">
                    <a:lumMod val="75000"/>
                  </a:schemeClr>
                </a:solidFill>
                <a:latin typeface="Abadi" panose="020B0604020104020204" pitchFamily="34" charset="77"/>
              </a:rPr>
              <a:t>Take </a:t>
            </a:r>
            <a:r>
              <a:rPr lang="en-US" sz="2400" dirty="0">
                <a:solidFill>
                  <a:schemeClr val="accent1">
                    <a:lumMod val="75000"/>
                  </a:schemeClr>
                </a:solidFill>
                <a:latin typeface="Abadi" panose="020B0604020104020204" pitchFamily="34" charset="77"/>
              </a:rPr>
              <a:t>time to prepare to speak first (15 seconds in our demo but normally more)</a:t>
            </a:r>
            <a:br>
              <a:rPr lang="en-US" sz="2400" dirty="0">
                <a:solidFill>
                  <a:schemeClr val="accent1">
                    <a:lumMod val="75000"/>
                  </a:schemeClr>
                </a:solidFill>
                <a:latin typeface="Abadi" panose="020B0604020104020204" pitchFamily="34" charset="77"/>
              </a:rPr>
            </a:br>
            <a:br>
              <a:rPr lang="en-US" sz="2400" dirty="0">
                <a:solidFill>
                  <a:schemeClr val="accent1">
                    <a:lumMod val="75000"/>
                  </a:schemeClr>
                </a:solidFill>
                <a:latin typeface="Abadi" panose="020B0604020104020204" pitchFamily="34" charset="77"/>
              </a:rPr>
            </a:br>
            <a:r>
              <a:rPr lang="en-US" sz="2400" dirty="0">
                <a:solidFill>
                  <a:schemeClr val="accent1">
                    <a:lumMod val="75000"/>
                  </a:schemeClr>
                </a:solidFill>
                <a:latin typeface="Abadi" panose="020B0604020104020204" pitchFamily="34" charset="77"/>
              </a:rPr>
              <a:t>Get ready to respond to </a:t>
            </a:r>
            <a:r>
              <a:rPr sz="2400" dirty="0">
                <a:solidFill>
                  <a:schemeClr val="accent1">
                    <a:lumMod val="75000"/>
                  </a:schemeClr>
                </a:solidFill>
                <a:latin typeface="Abadi" panose="020B0604020104020204" pitchFamily="34" charset="77"/>
              </a:rPr>
              <a:t>the prompt</a:t>
            </a:r>
            <a:r>
              <a:rPr lang="en-US" sz="2400" dirty="0">
                <a:solidFill>
                  <a:schemeClr val="accent1">
                    <a:lumMod val="75000"/>
                  </a:schemeClr>
                </a:solidFill>
                <a:latin typeface="Abadi" panose="020B0604020104020204" pitchFamily="34" charset="77"/>
              </a:rPr>
              <a:t>.</a:t>
            </a:r>
          </a:p>
          <a:p>
            <a:pPr algn="ctr">
              <a:lnSpc>
                <a:spcPts val="1688"/>
              </a:lnSpc>
            </a:pPr>
            <a:endParaRPr lang="en-US" sz="2400" dirty="0">
              <a:solidFill>
                <a:schemeClr val="accent1">
                  <a:lumMod val="75000"/>
                </a:schemeClr>
              </a:solidFill>
              <a:latin typeface="Abadi" panose="020B0604020104020204" pitchFamily="34" charset="77"/>
            </a:endParaRPr>
          </a:p>
          <a:p>
            <a:pPr algn="ctr">
              <a:lnSpc>
                <a:spcPts val="1688"/>
              </a:lnSpc>
            </a:pPr>
            <a:r>
              <a:rPr lang="en-US" sz="2400" dirty="0">
                <a:solidFill>
                  <a:schemeClr val="accent1">
                    <a:lumMod val="75000"/>
                  </a:schemeClr>
                </a:solidFill>
                <a:latin typeface="Abadi" panose="020B0604020104020204" pitchFamily="34" charset="77"/>
              </a:rPr>
              <a:t>T</a:t>
            </a:r>
            <a:r>
              <a:rPr sz="2400" dirty="0">
                <a:solidFill>
                  <a:schemeClr val="accent1">
                    <a:lumMod val="75000"/>
                  </a:schemeClr>
                </a:solidFill>
                <a:latin typeface="Abadi" panose="020B0604020104020204" pitchFamily="34" charset="77"/>
              </a:rPr>
              <a:t>hen </a:t>
            </a:r>
            <a:r>
              <a:rPr lang="en-US" sz="2400" dirty="0">
                <a:solidFill>
                  <a:schemeClr val="accent1">
                    <a:lumMod val="75000"/>
                  </a:schemeClr>
                </a:solidFill>
                <a:latin typeface="Abadi" panose="020B0604020104020204" pitchFamily="34" charset="77"/>
              </a:rPr>
              <a:t>you will </a:t>
            </a:r>
            <a:r>
              <a:rPr sz="2400" dirty="0">
                <a:solidFill>
                  <a:schemeClr val="accent1">
                    <a:lumMod val="75000"/>
                  </a:schemeClr>
                </a:solidFill>
                <a:latin typeface="Abadi" panose="020B0604020104020204" pitchFamily="34" charset="77"/>
              </a:rPr>
              <a:t>speak </a:t>
            </a:r>
            <a:r>
              <a:rPr lang="en-US" sz="2400" dirty="0">
                <a:solidFill>
                  <a:schemeClr val="accent1">
                    <a:lumMod val="75000"/>
                  </a:schemeClr>
                </a:solidFill>
                <a:latin typeface="Abadi" panose="020B0604020104020204" pitchFamily="34" charset="77"/>
              </a:rPr>
              <a:t>(30 </a:t>
            </a:r>
            <a:r>
              <a:rPr sz="2400" dirty="0">
                <a:solidFill>
                  <a:schemeClr val="accent1">
                    <a:lumMod val="75000"/>
                  </a:schemeClr>
                </a:solidFill>
                <a:latin typeface="Abadi" panose="020B0604020104020204" pitchFamily="34" charset="77"/>
              </a:rPr>
              <a:t>seconds</a:t>
            </a:r>
            <a:r>
              <a:rPr lang="en-US" sz="2400" dirty="0">
                <a:solidFill>
                  <a:schemeClr val="accent1">
                    <a:lumMod val="75000"/>
                  </a:schemeClr>
                </a:solidFill>
                <a:latin typeface="Abadi" panose="020B0604020104020204" pitchFamily="34" charset="77"/>
              </a:rPr>
              <a:t> each in our demo, but typically more in your classrooms)</a:t>
            </a:r>
            <a:endParaRPr sz="2400" dirty="0">
              <a:solidFill>
                <a:schemeClr val="accent1">
                  <a:lumMod val="75000"/>
                </a:schemeClr>
              </a:solidFill>
              <a:latin typeface="Abadi" panose="020B0604020104020204" pitchFamily="34" charset="77"/>
            </a:endParaRPr>
          </a:p>
        </p:txBody>
      </p:sp>
      <p:sp>
        <p:nvSpPr>
          <p:cNvPr id="9" name="TextBox 8"/>
          <p:cNvSpPr txBox="1"/>
          <p:nvPr/>
        </p:nvSpPr>
        <p:spPr>
          <a:xfrm>
            <a:off x="3107532" y="3216026"/>
            <a:ext cx="339837" cy="121252"/>
          </a:xfrm>
          <a:prstGeom prst="rect">
            <a:avLst/>
          </a:prstGeom>
          <a:noFill/>
        </p:spPr>
        <p:txBody>
          <a:bodyPr wrap="none" lIns="0" tIns="0" rIns="0" bIns="0" anchor="t">
            <a:spAutoFit/>
          </a:bodyPr>
          <a:lstStyle/>
          <a:p>
            <a:pPr algn="l"/>
            <a:r>
              <a:rPr sz="788">
                <a:solidFill>
                  <a:srgbClr val="94A3B8"/>
                </a:solidFill>
                <a:latin typeface="Plus Jakarta Sans"/>
              </a:rPr>
              <a:t>Round 1</a:t>
            </a:r>
          </a:p>
        </p:txBody>
      </p:sp>
      <p:sp>
        <p:nvSpPr>
          <p:cNvPr id="10" name="TextBox 9"/>
          <p:cNvSpPr txBox="1"/>
          <p:nvPr/>
        </p:nvSpPr>
        <p:spPr>
          <a:xfrm>
            <a:off x="3107532" y="3344614"/>
            <a:ext cx="928139" cy="155877"/>
          </a:xfrm>
          <a:prstGeom prst="rect">
            <a:avLst/>
          </a:prstGeom>
          <a:noFill/>
        </p:spPr>
        <p:txBody>
          <a:bodyPr wrap="none" lIns="0" tIns="0" rIns="0" bIns="0" anchor="t">
            <a:spAutoFit/>
          </a:bodyPr>
          <a:lstStyle/>
          <a:p>
            <a:pPr algn="l"/>
            <a:r>
              <a:rPr sz="1013" b="1" dirty="0">
                <a:solidFill>
                  <a:srgbClr val="FFFFFF"/>
                </a:solidFill>
                <a:latin typeface="Plus Jakarta Sans"/>
              </a:rPr>
              <a:t>Speaker A Shares</a:t>
            </a:r>
          </a:p>
        </p:txBody>
      </p:sp>
      <p:sp>
        <p:nvSpPr>
          <p:cNvPr id="11" name="TextBox 10"/>
          <p:cNvSpPr txBox="1"/>
          <p:nvPr/>
        </p:nvSpPr>
        <p:spPr>
          <a:xfrm>
            <a:off x="5222082" y="3216026"/>
            <a:ext cx="339837" cy="121252"/>
          </a:xfrm>
          <a:prstGeom prst="rect">
            <a:avLst/>
          </a:prstGeom>
          <a:noFill/>
        </p:spPr>
        <p:txBody>
          <a:bodyPr wrap="none" lIns="0" tIns="0" rIns="0" bIns="0" anchor="t">
            <a:spAutoFit/>
          </a:bodyPr>
          <a:lstStyle/>
          <a:p>
            <a:pPr algn="l"/>
            <a:r>
              <a:rPr sz="788">
                <a:solidFill>
                  <a:srgbClr val="94A3B8"/>
                </a:solidFill>
                <a:latin typeface="Plus Jakarta Sans"/>
              </a:rPr>
              <a:t>Round 2</a:t>
            </a:r>
          </a:p>
        </p:txBody>
      </p:sp>
      <p:sp>
        <p:nvSpPr>
          <p:cNvPr id="12" name="TextBox 11"/>
          <p:cNvSpPr txBox="1"/>
          <p:nvPr/>
        </p:nvSpPr>
        <p:spPr>
          <a:xfrm>
            <a:off x="5222082" y="3344614"/>
            <a:ext cx="921727" cy="155877"/>
          </a:xfrm>
          <a:prstGeom prst="rect">
            <a:avLst/>
          </a:prstGeom>
          <a:noFill/>
        </p:spPr>
        <p:txBody>
          <a:bodyPr wrap="none" lIns="0" tIns="0" rIns="0" bIns="0" anchor="t">
            <a:spAutoFit/>
          </a:bodyPr>
          <a:lstStyle/>
          <a:p>
            <a:pPr algn="l"/>
            <a:r>
              <a:rPr sz="1013" b="1">
                <a:solidFill>
                  <a:srgbClr val="FFFFFF"/>
                </a:solidFill>
                <a:latin typeface="Plus Jakarta Sans"/>
              </a:rPr>
              <a:t>Speaker B Shares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A9B17-7497-AD7F-D0FD-B611945E9C7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80388649-972E-5225-1DBB-6EDFC83EA982}"/>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9873D7E8-D3D2-316F-DDFC-228A84606A07}"/>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5A819BB6-EE97-AF74-0A11-9BA8B1E7500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D07F10D2-50DA-D5B0-A5B4-D5B291708F04}"/>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73361C1A-D4B1-7287-7729-C9E98BA9A994}"/>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09B6BDD5-A161-2944-B629-34AC20BE14E5}"/>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152837F7-47FD-D310-0B60-C1C425F74202}"/>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A7CC75A1-8BD5-989C-FC37-8F4522B4F8A4}"/>
              </a:ext>
            </a:extLst>
          </p:cNvPr>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a:extLst>
              <a:ext uri="{FF2B5EF4-FFF2-40B4-BE49-F238E27FC236}">
                <a16:creationId xmlns:a16="http://schemas.microsoft.com/office/drawing/2014/main" id="{4174D9C0-54A4-BF94-B167-03280827C54A}"/>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E543FEBE-4781-CA98-CBE2-F21D2F47C477}"/>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7DB26362-242C-A2F2-5483-E87663B7456C}"/>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3A90E7F2-F35B-40E8-9F10-F050839F6618}"/>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5" name="Picture 14">
            <a:extLst>
              <a:ext uri="{FF2B5EF4-FFF2-40B4-BE49-F238E27FC236}">
                <a16:creationId xmlns:a16="http://schemas.microsoft.com/office/drawing/2014/main" id="{7CC0F53B-292E-92C8-B3A7-87194C9FD1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6279" y="260280"/>
            <a:ext cx="2627570" cy="1478009"/>
          </a:xfrm>
          <a:prstGeom prst="rect">
            <a:avLst/>
          </a:prstGeom>
        </p:spPr>
      </p:pic>
      <p:sp>
        <p:nvSpPr>
          <p:cNvPr id="14" name="TextBox 13">
            <a:extLst>
              <a:ext uri="{FF2B5EF4-FFF2-40B4-BE49-F238E27FC236}">
                <a16:creationId xmlns:a16="http://schemas.microsoft.com/office/drawing/2014/main" id="{E9EC215E-C91A-2E6E-6269-8FEE20163690}"/>
              </a:ext>
            </a:extLst>
          </p:cNvPr>
          <p:cNvSpPr txBox="1"/>
          <p:nvPr/>
        </p:nvSpPr>
        <p:spPr>
          <a:xfrm>
            <a:off x="3668107" y="504751"/>
            <a:ext cx="1467292" cy="1077218"/>
          </a:xfrm>
          <a:prstGeom prst="rect">
            <a:avLst/>
          </a:prstGeom>
          <a:noFill/>
        </p:spPr>
        <p:txBody>
          <a:bodyPr wrap="square" rtlCol="0">
            <a:spAutoFit/>
          </a:bodyPr>
          <a:lstStyle/>
          <a:p>
            <a:r>
              <a:rPr lang="az-Cyrl-AZ" sz="3200" b="1" dirty="0">
                <a:solidFill>
                  <a:schemeClr val="accent1">
                    <a:lumMod val="75000"/>
                  </a:schemeClr>
                </a:solidFill>
              </a:rPr>
              <a:t>зөн совин</a:t>
            </a:r>
            <a:endParaRPr lang="en-US" sz="3200" b="1" dirty="0">
              <a:solidFill>
                <a:schemeClr val="accent1">
                  <a:lumMod val="75000"/>
                </a:schemeClr>
              </a:solidFill>
            </a:endParaRPr>
          </a:p>
        </p:txBody>
      </p:sp>
    </p:spTree>
    <p:extLst>
      <p:ext uri="{BB962C8B-B14F-4D97-AF65-F5344CB8AC3E}">
        <p14:creationId xmlns:p14="http://schemas.microsoft.com/office/powerpoint/2010/main" val="3248822648"/>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734390-9D5A-6565-6A9B-3338F9F9D1B3}"/>
              </a:ext>
            </a:extLst>
          </p:cNvPr>
          <p:cNvSpPr txBox="1"/>
          <p:nvPr/>
        </p:nvSpPr>
        <p:spPr>
          <a:xfrm>
            <a:off x="407229" y="1244936"/>
            <a:ext cx="6200906" cy="646331"/>
          </a:xfrm>
          <a:prstGeom prst="rect">
            <a:avLst/>
          </a:prstGeom>
          <a:noFill/>
        </p:spPr>
        <p:txBody>
          <a:bodyPr wrap="square" rtlCol="0">
            <a:spAutoFit/>
          </a:bodyPr>
          <a:lstStyle/>
          <a:p>
            <a:r>
              <a:rPr lang="en-US" sz="3600" dirty="0">
                <a:solidFill>
                  <a:schemeClr val="accent1">
                    <a:lumMod val="75000"/>
                  </a:schemeClr>
                </a:solidFill>
              </a:rPr>
              <a:t>First Person Speaks Next</a:t>
            </a:r>
          </a:p>
        </p:txBody>
      </p:sp>
      <p:pic>
        <p:nvPicPr>
          <p:cNvPr id="3" name="Picture 2">
            <a:extLst>
              <a:ext uri="{FF2B5EF4-FFF2-40B4-BE49-F238E27FC236}">
                <a16:creationId xmlns:a16="http://schemas.microsoft.com/office/drawing/2014/main" id="{673FEE53-E63D-7122-D8F5-94777334E14C}"/>
              </a:ext>
            </a:extLst>
          </p:cNvPr>
          <p:cNvPicPr>
            <a:picLocks noChangeAspect="1"/>
          </p:cNvPicPr>
          <p:nvPr/>
        </p:nvPicPr>
        <p:blipFill>
          <a:blip r:embed="rId2"/>
          <a:srcRect t="20949" b="13172"/>
          <a:stretch>
            <a:fillRect/>
          </a:stretch>
        </p:blipFill>
        <p:spPr>
          <a:xfrm>
            <a:off x="407228" y="2699873"/>
            <a:ext cx="4069080" cy="2144515"/>
          </a:xfrm>
          <a:prstGeom prst="rect">
            <a:avLst/>
          </a:prstGeom>
        </p:spPr>
      </p:pic>
    </p:spTree>
    <p:extLst>
      <p:ext uri="{BB962C8B-B14F-4D97-AF65-F5344CB8AC3E}">
        <p14:creationId xmlns:p14="http://schemas.microsoft.com/office/powerpoint/2010/main" val="451550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6F714-1E15-552A-8114-51F40BEE3BC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729BE124-670C-1F3C-1A83-038F96AF5752}"/>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75061F65-328E-5E93-F629-995618D17290}"/>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39B56786-F537-20AF-588E-3579832D332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9AD35747-B7D7-8C90-8ABE-ECAC994A8D1F}"/>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127D6A2E-DA3E-7C88-26CB-F1261DA45062}"/>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4D383391-3243-B4E4-FDF4-69375563B9DE}"/>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5722458E-6A89-5470-FAC0-83A39CA3E389}"/>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1407325F-657B-E193-B4C1-4BB84D146373}"/>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0" name="TextBox 9">
            <a:extLst>
              <a:ext uri="{FF2B5EF4-FFF2-40B4-BE49-F238E27FC236}">
                <a16:creationId xmlns:a16="http://schemas.microsoft.com/office/drawing/2014/main" id="{03A31A1B-99FC-7265-10DE-75C9E6B149C6}"/>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C48409B3-7C5A-58BE-721D-5F4F6D50BB7C}"/>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CF7C4825-77D4-9FC5-016D-4BEABBD559AD}"/>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9A97CBF9-45DC-7BB1-3292-DAD7B9F6A882}"/>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7" name="Picture 16">
            <a:extLst>
              <a:ext uri="{FF2B5EF4-FFF2-40B4-BE49-F238E27FC236}">
                <a16:creationId xmlns:a16="http://schemas.microsoft.com/office/drawing/2014/main" id="{BA4ACF1B-A32F-64C5-9C1F-0F1F891E4F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8687" y="388882"/>
            <a:ext cx="2335619" cy="1313786"/>
          </a:xfrm>
          <a:prstGeom prst="rect">
            <a:avLst/>
          </a:prstGeom>
        </p:spPr>
      </p:pic>
    </p:spTree>
    <p:extLst>
      <p:ext uri="{BB962C8B-B14F-4D97-AF65-F5344CB8AC3E}">
        <p14:creationId xmlns:p14="http://schemas.microsoft.com/office/powerpoint/2010/main" val="3572533968"/>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4A8CA2-4E1C-5F0E-C2E6-636171810D44}"/>
              </a:ext>
            </a:extLst>
          </p:cNvPr>
          <p:cNvPicPr>
            <a:picLocks noChangeAspect="1"/>
          </p:cNvPicPr>
          <p:nvPr/>
        </p:nvPicPr>
        <p:blipFill>
          <a:blip r:embed="rId2"/>
          <a:srcRect t="20949" b="13172"/>
          <a:stretch>
            <a:fillRect/>
          </a:stretch>
        </p:blipFill>
        <p:spPr>
          <a:xfrm>
            <a:off x="417860" y="2571750"/>
            <a:ext cx="4069080" cy="2144515"/>
          </a:xfrm>
          <a:prstGeom prst="rect">
            <a:avLst/>
          </a:prstGeom>
        </p:spPr>
      </p:pic>
      <p:sp>
        <p:nvSpPr>
          <p:cNvPr id="4" name="TextBox 3">
            <a:extLst>
              <a:ext uri="{FF2B5EF4-FFF2-40B4-BE49-F238E27FC236}">
                <a16:creationId xmlns:a16="http://schemas.microsoft.com/office/drawing/2014/main" id="{060E0711-D50B-14D8-883F-7A3E8612A2FD}"/>
              </a:ext>
            </a:extLst>
          </p:cNvPr>
          <p:cNvSpPr txBox="1"/>
          <p:nvPr/>
        </p:nvSpPr>
        <p:spPr>
          <a:xfrm>
            <a:off x="407228" y="1244936"/>
            <a:ext cx="7510137" cy="646331"/>
          </a:xfrm>
          <a:prstGeom prst="rect">
            <a:avLst/>
          </a:prstGeom>
          <a:noFill/>
        </p:spPr>
        <p:txBody>
          <a:bodyPr wrap="square" rtlCol="0">
            <a:spAutoFit/>
          </a:bodyPr>
          <a:lstStyle/>
          <a:p>
            <a:r>
              <a:rPr lang="en-US" sz="3600" dirty="0">
                <a:solidFill>
                  <a:schemeClr val="accent1">
                    <a:lumMod val="75000"/>
                  </a:schemeClr>
                </a:solidFill>
              </a:rPr>
              <a:t>ROTATE: Second Person Speaks Next</a:t>
            </a:r>
          </a:p>
        </p:txBody>
      </p:sp>
    </p:spTree>
    <p:extLst>
      <p:ext uri="{BB962C8B-B14F-4D97-AF65-F5344CB8AC3E}">
        <p14:creationId xmlns:p14="http://schemas.microsoft.com/office/powerpoint/2010/main" val="3958410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57E1-B2C2-05C2-B0BB-524934920AD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27EDD32-1CC1-0CFE-C61D-5A0A7C1922FF}"/>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CDF8DD8B-143C-B6F6-9BCE-C6C91AEAD6B5}"/>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0BB495DE-CD82-BEE3-432D-1BDEF111FFD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F6128A4A-2EE7-6AD1-825A-A2CB0F65D5A1}"/>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CF42AF07-438B-F2FE-376E-2B2359D4CF30}"/>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317575CC-36FF-D1A8-8362-AC7B5C0A00CB}"/>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A29EE3EB-F2F4-49AF-B689-7FCAB3C270C0}"/>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34FA077D-7354-900D-463B-EB189F7C53AE}"/>
              </a:ext>
            </a:extLst>
          </p:cNvPr>
          <p:cNvSpPr txBox="1"/>
          <p:nvPr/>
        </p:nvSpPr>
        <p:spPr>
          <a:xfrm>
            <a:off x="457200" y="528638"/>
            <a:ext cx="2913426"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a:extLst>
              <a:ext uri="{FF2B5EF4-FFF2-40B4-BE49-F238E27FC236}">
                <a16:creationId xmlns:a16="http://schemas.microsoft.com/office/drawing/2014/main" id="{7314FB6F-4C45-110B-B2E3-A2265F98173C}"/>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2FBB5339-F186-9FA1-FF06-05B8B0C9E538}"/>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EC7B2AEE-D413-2621-2A55-23BE00863C0F}"/>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F626A1F6-ED93-F29B-DA34-07A29C2EB917}"/>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7" name="Picture 16">
            <a:extLst>
              <a:ext uri="{FF2B5EF4-FFF2-40B4-BE49-F238E27FC236}">
                <a16:creationId xmlns:a16="http://schemas.microsoft.com/office/drawing/2014/main" id="{39A6EF1F-B598-11BB-B76B-90C39DC5F4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8687" y="388882"/>
            <a:ext cx="2335619" cy="1313786"/>
          </a:xfrm>
          <a:prstGeom prst="rect">
            <a:avLst/>
          </a:prstGeom>
        </p:spPr>
      </p:pic>
    </p:spTree>
    <p:extLst>
      <p:ext uri="{BB962C8B-B14F-4D97-AF65-F5344CB8AC3E}">
        <p14:creationId xmlns:p14="http://schemas.microsoft.com/office/powerpoint/2010/main" val="1848894657"/>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343275-6A30-6756-26BA-26BCE46F6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9944" y="245916"/>
            <a:ext cx="5146158" cy="2893175"/>
          </a:xfrm>
          <a:prstGeom prst="rect">
            <a:avLst/>
          </a:prstGeom>
        </p:spPr>
      </p:pic>
      <p:sp>
        <p:nvSpPr>
          <p:cNvPr id="5" name="TextBox 4">
            <a:extLst>
              <a:ext uri="{FF2B5EF4-FFF2-40B4-BE49-F238E27FC236}">
                <a16:creationId xmlns:a16="http://schemas.microsoft.com/office/drawing/2014/main" id="{52DD8ECB-3A7C-FD83-44AF-FB39FAF00465}"/>
              </a:ext>
            </a:extLst>
          </p:cNvPr>
          <p:cNvSpPr txBox="1"/>
          <p:nvPr/>
        </p:nvSpPr>
        <p:spPr>
          <a:xfrm>
            <a:off x="935665" y="3508744"/>
            <a:ext cx="5777369" cy="1200329"/>
          </a:xfrm>
          <a:prstGeom prst="rect">
            <a:avLst/>
          </a:prstGeom>
          <a:noFill/>
        </p:spPr>
        <p:txBody>
          <a:bodyPr wrap="square" rtlCol="0">
            <a:spAutoFit/>
          </a:bodyPr>
          <a:lstStyle/>
          <a:p>
            <a:r>
              <a:rPr lang="en-US" dirty="0"/>
              <a:t>Are there things you had difficulty saying?  Can you look them up or ask someone else how to say them?</a:t>
            </a:r>
          </a:p>
          <a:p>
            <a:r>
              <a:rPr lang="en-US" dirty="0"/>
              <a:t>Could you improve your grammar or use something more complex? What could you do better?</a:t>
            </a:r>
          </a:p>
        </p:txBody>
      </p:sp>
    </p:spTree>
    <p:extLst>
      <p:ext uri="{BB962C8B-B14F-4D97-AF65-F5344CB8AC3E}">
        <p14:creationId xmlns:p14="http://schemas.microsoft.com/office/powerpoint/2010/main" val="2181994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18C4-ADB8-5F51-B8F9-08C332A8BF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28FCD6-CAB6-138F-FC50-04A7811988EF}"/>
              </a:ext>
            </a:extLst>
          </p:cNvPr>
          <p:cNvSpPr txBox="1"/>
          <p:nvPr/>
        </p:nvSpPr>
        <p:spPr>
          <a:xfrm>
            <a:off x="407229" y="1244936"/>
            <a:ext cx="6200906" cy="646331"/>
          </a:xfrm>
          <a:prstGeom prst="rect">
            <a:avLst/>
          </a:prstGeom>
          <a:noFill/>
        </p:spPr>
        <p:txBody>
          <a:bodyPr wrap="square" rtlCol="0">
            <a:spAutoFit/>
          </a:bodyPr>
          <a:lstStyle/>
          <a:p>
            <a:r>
              <a:rPr lang="en-US" sz="3600" dirty="0">
                <a:solidFill>
                  <a:schemeClr val="accent1">
                    <a:lumMod val="75000"/>
                  </a:schemeClr>
                </a:solidFill>
              </a:rPr>
              <a:t>First Person Speaks Next</a:t>
            </a:r>
          </a:p>
        </p:txBody>
      </p:sp>
      <p:pic>
        <p:nvPicPr>
          <p:cNvPr id="3" name="Picture 2">
            <a:extLst>
              <a:ext uri="{FF2B5EF4-FFF2-40B4-BE49-F238E27FC236}">
                <a16:creationId xmlns:a16="http://schemas.microsoft.com/office/drawing/2014/main" id="{48E6C51A-A3B4-E3CB-3010-837AD864C355}"/>
              </a:ext>
            </a:extLst>
          </p:cNvPr>
          <p:cNvPicPr>
            <a:picLocks noChangeAspect="1"/>
          </p:cNvPicPr>
          <p:nvPr/>
        </p:nvPicPr>
        <p:blipFill>
          <a:blip r:embed="rId2"/>
          <a:srcRect t="20949" b="13172"/>
          <a:stretch>
            <a:fillRect/>
          </a:stretch>
        </p:blipFill>
        <p:spPr>
          <a:xfrm>
            <a:off x="407228" y="2699873"/>
            <a:ext cx="4069080" cy="2144515"/>
          </a:xfrm>
          <a:prstGeom prst="rect">
            <a:avLst/>
          </a:prstGeom>
        </p:spPr>
      </p:pic>
    </p:spTree>
    <p:extLst>
      <p:ext uri="{BB962C8B-B14F-4D97-AF65-F5344CB8AC3E}">
        <p14:creationId xmlns:p14="http://schemas.microsoft.com/office/powerpoint/2010/main" val="377445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69C83-EF44-F3B1-5F11-5A40BD2FA56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EB7C238-B39A-FFCA-3436-CABEF0FA5665}"/>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BF866A78-20BD-2027-0665-30D0455B4865}"/>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20513010-6238-C4EE-46BE-9AC6491463E9}"/>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499EC317-03D1-8231-4853-C68B5D3C47C2}"/>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C9D151E3-6144-9709-C1D6-6A392FE99555}"/>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87C3AD9F-FC01-2BCB-77F8-FEBAB785F713}"/>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730D08DD-F90A-87A9-E380-7A6543327E94}"/>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34CA2C20-4CF7-5BCC-C5E0-ADF4508B45DE}"/>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0" name="TextBox 9">
            <a:extLst>
              <a:ext uri="{FF2B5EF4-FFF2-40B4-BE49-F238E27FC236}">
                <a16:creationId xmlns:a16="http://schemas.microsoft.com/office/drawing/2014/main" id="{8621468E-1CC3-5BEE-00C7-32F73B82AC97}"/>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93F6954B-9691-51E0-846A-943633ED330A}"/>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A73F1C36-7429-2B53-91B6-CFA330321D70}"/>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49806F16-1347-D8B7-EA4B-D11C88E79AA9}"/>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7" name="Picture 16">
            <a:extLst>
              <a:ext uri="{FF2B5EF4-FFF2-40B4-BE49-F238E27FC236}">
                <a16:creationId xmlns:a16="http://schemas.microsoft.com/office/drawing/2014/main" id="{F269BE1F-2A31-A4BC-8DD4-8CB8AB490C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8687" y="388882"/>
            <a:ext cx="2335619" cy="1313786"/>
          </a:xfrm>
          <a:prstGeom prst="rect">
            <a:avLst/>
          </a:prstGeom>
        </p:spPr>
      </p:pic>
    </p:spTree>
    <p:extLst>
      <p:ext uri="{BB962C8B-B14F-4D97-AF65-F5344CB8AC3E}">
        <p14:creationId xmlns:p14="http://schemas.microsoft.com/office/powerpoint/2010/main" val="3129787370"/>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B1910-CB34-3D51-518E-6C888C428C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273FAF-927F-E3BE-9797-DF17E1AE57A2}"/>
              </a:ext>
            </a:extLst>
          </p:cNvPr>
          <p:cNvPicPr>
            <a:picLocks noChangeAspect="1"/>
          </p:cNvPicPr>
          <p:nvPr/>
        </p:nvPicPr>
        <p:blipFill>
          <a:blip r:embed="rId2"/>
          <a:srcRect t="20949" b="13172"/>
          <a:stretch>
            <a:fillRect/>
          </a:stretch>
        </p:blipFill>
        <p:spPr>
          <a:xfrm>
            <a:off x="417860" y="2571750"/>
            <a:ext cx="4069080" cy="2144515"/>
          </a:xfrm>
          <a:prstGeom prst="rect">
            <a:avLst/>
          </a:prstGeom>
        </p:spPr>
      </p:pic>
      <p:sp>
        <p:nvSpPr>
          <p:cNvPr id="4" name="TextBox 3">
            <a:extLst>
              <a:ext uri="{FF2B5EF4-FFF2-40B4-BE49-F238E27FC236}">
                <a16:creationId xmlns:a16="http://schemas.microsoft.com/office/drawing/2014/main" id="{B19490F5-5172-AD72-4FBE-072675E894F1}"/>
              </a:ext>
            </a:extLst>
          </p:cNvPr>
          <p:cNvSpPr txBox="1"/>
          <p:nvPr/>
        </p:nvSpPr>
        <p:spPr>
          <a:xfrm>
            <a:off x="407228" y="1244936"/>
            <a:ext cx="7510137" cy="646331"/>
          </a:xfrm>
          <a:prstGeom prst="rect">
            <a:avLst/>
          </a:prstGeom>
          <a:noFill/>
        </p:spPr>
        <p:txBody>
          <a:bodyPr wrap="square" rtlCol="0">
            <a:spAutoFit/>
          </a:bodyPr>
          <a:lstStyle/>
          <a:p>
            <a:r>
              <a:rPr lang="en-US" sz="3600" dirty="0">
                <a:solidFill>
                  <a:schemeClr val="accent1">
                    <a:lumMod val="75000"/>
                  </a:schemeClr>
                </a:solidFill>
              </a:rPr>
              <a:t>ROTATE: Second Person Speaks Next</a:t>
            </a:r>
          </a:p>
        </p:txBody>
      </p:sp>
    </p:spTree>
    <p:extLst>
      <p:ext uri="{BB962C8B-B14F-4D97-AF65-F5344CB8AC3E}">
        <p14:creationId xmlns:p14="http://schemas.microsoft.com/office/powerpoint/2010/main" val="39910617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DAEDC-1863-D0DE-EB73-B4DA47CBEA94}"/>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8E0299E-ED28-B105-7413-B8CC543833BD}"/>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94405174-FD7A-6924-E888-ACE1350939A3}"/>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75D74441-A605-2C47-D304-1F38D188398A}"/>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9CA04371-B7F8-9D0D-634D-237713053891}"/>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EDCB7F8F-3DCA-E9AE-ABD1-3D753F6B29E2}"/>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47FB76B6-380F-E86D-A23C-B02A2AD2B702}"/>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7667C404-DBE5-F995-8EB0-2B926F6ECD83}"/>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6B601245-3B35-494F-644E-A4F20C00CBDB}"/>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0" name="TextBox 9">
            <a:extLst>
              <a:ext uri="{FF2B5EF4-FFF2-40B4-BE49-F238E27FC236}">
                <a16:creationId xmlns:a16="http://schemas.microsoft.com/office/drawing/2014/main" id="{43695A66-7B5C-5ADB-C4DE-18217B69219A}"/>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F04102CC-46FB-1E18-050C-17C1D30E0A9F}"/>
              </a:ext>
            </a:extLst>
          </p:cNvPr>
          <p:cNvSpPr txBox="1"/>
          <p:nvPr/>
        </p:nvSpPr>
        <p:spPr>
          <a:xfrm>
            <a:off x="1257300" y="2395612"/>
            <a:ext cx="6757988" cy="573362"/>
          </a:xfrm>
          <a:prstGeom prst="rect">
            <a:avLst/>
          </a:prstGeom>
          <a:noFill/>
        </p:spPr>
        <p:txBody>
          <a:bodyPr wrap="square" lIns="0" tIns="0" rIns="0" bIns="0" anchor="t">
            <a:spAutoFit/>
          </a:bodyPr>
          <a:lstStyle/>
          <a:p>
            <a:pPr>
              <a:lnSpc>
                <a:spcPts val="2278"/>
              </a:lnSpc>
            </a:pPr>
            <a:r>
              <a:rPr sz="1688" b="1" dirty="0">
                <a:solidFill>
                  <a:srgbClr val="0F172A"/>
                </a:solidFill>
                <a:latin typeface="Plus Jakarta Sans"/>
              </a:rPr>
              <a:t>"When you have a difficult decision to make, do you usually follow your gut feeling or ask other people for advice? Give an example."</a:t>
            </a:r>
          </a:p>
        </p:txBody>
      </p:sp>
      <p:sp>
        <p:nvSpPr>
          <p:cNvPr id="12" name="TextBox 11">
            <a:extLst>
              <a:ext uri="{FF2B5EF4-FFF2-40B4-BE49-F238E27FC236}">
                <a16:creationId xmlns:a16="http://schemas.microsoft.com/office/drawing/2014/main" id="{859EF72C-7A05-6569-4100-5B8501953D7E}"/>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9C3219E3-72C1-1EA7-4A9E-FB10EEF15D84}"/>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7" name="Picture 16">
            <a:extLst>
              <a:ext uri="{FF2B5EF4-FFF2-40B4-BE49-F238E27FC236}">
                <a16:creationId xmlns:a16="http://schemas.microsoft.com/office/drawing/2014/main" id="{3DD3E843-F0F3-05AC-D80F-9A79AF7463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8687" y="388882"/>
            <a:ext cx="2335619" cy="1313786"/>
          </a:xfrm>
          <a:prstGeom prst="rect">
            <a:avLst/>
          </a:prstGeom>
        </p:spPr>
      </p:pic>
    </p:spTree>
    <p:extLst>
      <p:ext uri="{BB962C8B-B14F-4D97-AF65-F5344CB8AC3E}">
        <p14:creationId xmlns:p14="http://schemas.microsoft.com/office/powerpoint/2010/main" val="3644848356"/>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22B70B-2C21-AC73-6F3C-F7461B483F13}"/>
              </a:ext>
            </a:extLst>
          </p:cNvPr>
          <p:cNvPicPr>
            <a:picLocks noChangeAspect="1"/>
          </p:cNvPicPr>
          <p:nvPr/>
        </p:nvPicPr>
        <p:blipFill>
          <a:blip r:embed="rId2"/>
          <a:stretch>
            <a:fillRect/>
          </a:stretch>
        </p:blipFill>
        <p:spPr>
          <a:xfrm>
            <a:off x="520995" y="320970"/>
            <a:ext cx="6002079" cy="4501559"/>
          </a:xfrm>
          <a:prstGeom prst="rect">
            <a:avLst/>
          </a:prstGeom>
        </p:spPr>
      </p:pic>
      <p:pic>
        <p:nvPicPr>
          <p:cNvPr id="3" name="Picture 2">
            <a:extLst>
              <a:ext uri="{FF2B5EF4-FFF2-40B4-BE49-F238E27FC236}">
                <a16:creationId xmlns:a16="http://schemas.microsoft.com/office/drawing/2014/main" id="{8A88D118-687B-1F2D-605A-D947FB26F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3059" y="427666"/>
            <a:ext cx="1944281" cy="1966209"/>
          </a:xfrm>
          <a:prstGeom prst="rect">
            <a:avLst/>
          </a:prstGeom>
        </p:spPr>
      </p:pic>
    </p:spTree>
    <p:extLst>
      <p:ext uri="{BB962C8B-B14F-4D97-AF65-F5344CB8AC3E}">
        <p14:creationId xmlns:p14="http://schemas.microsoft.com/office/powerpoint/2010/main" val="1908019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63474" y="1293559"/>
            <a:ext cx="5037204" cy="2556381"/>
          </a:xfrm>
          <a:prstGeom prst="rect">
            <a:avLst/>
          </a:prstGeom>
        </p:spPr>
      </p:pic>
      <p:pic>
        <p:nvPicPr>
          <p:cNvPr id="4" name="Picture 1"/>
          <p:cNvPicPr>
            <a:picLocks noChangeAspect="1"/>
          </p:cNvPicPr>
          <p:nvPr/>
        </p:nvPicPr>
        <p:blipFill>
          <a:blip r:embed="rId4"/>
          <a:stretch>
            <a:fillRect/>
          </a:stretch>
        </p:blipFill>
        <p:spPr>
          <a:xfrm>
            <a:off x="5650991" y="363474"/>
            <a:ext cx="2948048" cy="4416552"/>
          </a:xfrm>
          <a:prstGeom prst="rect">
            <a:avLst/>
          </a:prstGeom>
        </p:spPr>
      </p:pic>
      <p:sp>
        <p:nvSpPr>
          <p:cNvPr id="2" name="TextBox 1">
            <a:extLst>
              <a:ext uri="{FF2B5EF4-FFF2-40B4-BE49-F238E27FC236}">
                <a16:creationId xmlns:a16="http://schemas.microsoft.com/office/drawing/2014/main" id="{4D339BFB-5533-1385-F901-578CF9143B92}"/>
              </a:ext>
            </a:extLst>
          </p:cNvPr>
          <p:cNvSpPr txBox="1"/>
          <p:nvPr/>
        </p:nvSpPr>
        <p:spPr>
          <a:xfrm>
            <a:off x="544961" y="499730"/>
            <a:ext cx="4537402" cy="523220"/>
          </a:xfrm>
          <a:prstGeom prst="rect">
            <a:avLst/>
          </a:prstGeom>
          <a:noFill/>
        </p:spPr>
        <p:txBody>
          <a:bodyPr wrap="square" rtlCol="0">
            <a:spAutoFit/>
          </a:bodyPr>
          <a:lstStyle/>
          <a:p>
            <a:r>
              <a:rPr lang="en-US" sz="2800" b="1" dirty="0"/>
              <a:t>Repetition Yields Fluency</a:t>
            </a:r>
          </a:p>
        </p:txBody>
      </p:sp>
    </p:spTree>
    <p:extLst>
      <p:ext uri="{BB962C8B-B14F-4D97-AF65-F5344CB8AC3E}">
        <p14:creationId xmlns:p14="http://schemas.microsoft.com/office/powerpoint/2010/main" val="635766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8758847-09B1-41A6-B6AE-7E542E1C414E}"/>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WHY A 1985 IDEA STILL MATTERS</a:t>
            </a:r>
            <a:endParaRPr sz="1200"/>
          </a:p>
        </p:txBody>
      </p:sp>
      <p:sp>
        <p:nvSpPr>
          <p:cNvPr id="3" name="Text 1">
            <a:extLst>
              <a:ext uri="{FF2B5EF4-FFF2-40B4-BE49-F238E27FC236}">
                <a16:creationId xmlns:a16="http://schemas.microsoft.com/office/drawing/2014/main" id="{7ED821A2-38C4-4BC5-B5A5-0A5357DD6C3A}"/>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a:solidFill>
                  <a:srgbClr val="002E5D"/>
                </a:solidFill>
                <a:latin typeface="Calibri"/>
                <a:ea typeface="Calibri"/>
                <a:cs typeface="Calibri"/>
              </a:rPr>
              <a:t>You become fluent by using the language.</a:t>
            </a:r>
            <a:endParaRPr sz="3400"/>
          </a:p>
        </p:txBody>
      </p:sp>
      <p:sp>
        <p:nvSpPr>
          <p:cNvPr id="4" name="Text 2">
            <a:extLst>
              <a:ext uri="{FF2B5EF4-FFF2-40B4-BE49-F238E27FC236}">
                <a16:creationId xmlns:a16="http://schemas.microsoft.com/office/drawing/2014/main" id="{F5A164B4-C227-4C0B-8D80-9D7553986C6C}"/>
              </a:ext>
            </a:extLst>
          </p:cNvPr>
          <p:cNvSpPr>
            <a:spLocks noGrp="1"/>
          </p:cNvSpPr>
          <p:nvPr/>
        </p:nvSpPr>
        <p:spPr>
          <a:xfrm>
            <a:off x="502919" y="1783080"/>
            <a:ext cx="6440492" cy="2194560"/>
          </a:xfrm>
          <a:prstGeom prst="rect">
            <a:avLst/>
          </a:prstGeom>
          <a:noFill/>
        </p:spPr>
        <p:txBody>
          <a:bodyPr wrap="square" lIns="0" tIns="0" rIns="0" bIns="0" anchor="t"/>
          <a:lstStyle/>
          <a:p>
            <a:pPr marL="0" indent="0" algn="l">
              <a:lnSpc>
                <a:spcPct val="112000"/>
              </a:lnSpc>
              <a:buNone/>
            </a:pPr>
            <a:endParaRPr sz="1600" dirty="0">
              <a:solidFill>
                <a:srgbClr val="1F2937"/>
              </a:solidFill>
              <a:latin typeface="Cambria"/>
              <a:ea typeface="Cambria"/>
              <a:cs typeface="Cambria"/>
            </a:endParaRPr>
          </a:p>
          <a:p>
            <a:pPr marL="0" indent="0" algn="l">
              <a:lnSpc>
                <a:spcPct val="112000"/>
              </a:lnSpc>
              <a:buNone/>
            </a:pPr>
            <a:r>
              <a:rPr sz="1600" dirty="0">
                <a:solidFill>
                  <a:srgbClr val="0062B8"/>
                </a:solidFill>
                <a:latin typeface="Cambria"/>
                <a:ea typeface="Cambria"/>
                <a:cs typeface="Cambria"/>
              </a:rPr>
              <a:t>Skill Acquisition Theory: </a:t>
            </a:r>
            <a:r>
              <a:rPr sz="1600" dirty="0">
                <a:solidFill>
                  <a:srgbClr val="1F2937"/>
                </a:solidFill>
                <a:latin typeface="Cambria"/>
                <a:ea typeface="Cambria"/>
                <a:cs typeface="Cambria"/>
              </a:rPr>
              <a:t>knowing a rule and using it are different skills. Fluency grows when you </a:t>
            </a:r>
            <a:r>
              <a:rPr sz="1600" b="1" dirty="0">
                <a:solidFill>
                  <a:srgbClr val="1F2937"/>
                </a:solidFill>
                <a:latin typeface="Cambria"/>
                <a:ea typeface="Cambria"/>
                <a:cs typeface="Cambria"/>
              </a:rPr>
              <a:t>use the language again and again</a:t>
            </a:r>
            <a:r>
              <a:rPr sz="1600" dirty="0">
                <a:solidFill>
                  <a:srgbClr val="1F2937"/>
                </a:solidFill>
                <a:latin typeface="Cambria"/>
                <a:ea typeface="Cambria"/>
                <a:cs typeface="Cambria"/>
              </a:rPr>
              <a:t>, until the words come automatically.</a:t>
            </a:r>
            <a:endParaRPr sz="1600" dirty="0"/>
          </a:p>
        </p:txBody>
      </p:sp>
      <p:sp>
        <p:nvSpPr>
          <p:cNvPr id="5" name="Text 3">
            <a:extLst>
              <a:ext uri="{FF2B5EF4-FFF2-40B4-BE49-F238E27FC236}">
                <a16:creationId xmlns:a16="http://schemas.microsoft.com/office/drawing/2014/main" id="{478D0D1C-1961-494C-AB15-65997FF7598C}"/>
              </a:ext>
            </a:extLst>
          </p:cNvPr>
          <p:cNvSpPr>
            <a:spLocks noGrp="1"/>
          </p:cNvSpPr>
          <p:nvPr/>
        </p:nvSpPr>
        <p:spPr>
          <a:xfrm>
            <a:off x="372292" y="4171409"/>
            <a:ext cx="5676816" cy="517717"/>
          </a:xfrm>
          <a:prstGeom prst="rect">
            <a:avLst/>
          </a:prstGeom>
          <a:noFill/>
        </p:spPr>
        <p:txBody>
          <a:bodyPr wrap="square" lIns="0" tIns="0" rIns="0" bIns="0" anchor="t"/>
          <a:lstStyle/>
          <a:p>
            <a:pPr marL="0" indent="0" algn="l">
              <a:buNone/>
            </a:pPr>
            <a:r>
              <a:rPr lang="en-US" sz="1300" i="1" dirty="0">
                <a:solidFill>
                  <a:srgbClr val="4B5563"/>
                </a:solidFill>
                <a:latin typeface="Cambria"/>
                <a:ea typeface="Cambria"/>
                <a:cs typeface="Cambria"/>
              </a:rPr>
              <a:t>A range of</a:t>
            </a:r>
            <a:r>
              <a:rPr sz="1300" i="1" dirty="0">
                <a:solidFill>
                  <a:srgbClr val="4B5563"/>
                </a:solidFill>
                <a:latin typeface="Cambria"/>
                <a:ea typeface="Cambria"/>
                <a:cs typeface="Cambria"/>
              </a:rPr>
              <a:t> research </a:t>
            </a:r>
            <a:r>
              <a:rPr lang="en-US" sz="1300" i="1" dirty="0">
                <a:solidFill>
                  <a:srgbClr val="4B5563"/>
                </a:solidFill>
                <a:latin typeface="Cambria"/>
                <a:ea typeface="Cambria"/>
                <a:cs typeface="Cambria"/>
              </a:rPr>
              <a:t>in multiple languages </a:t>
            </a:r>
            <a:r>
              <a:rPr sz="1300" i="1" dirty="0">
                <a:solidFill>
                  <a:srgbClr val="4B5563"/>
                </a:solidFill>
                <a:latin typeface="Cambria"/>
                <a:ea typeface="Cambria"/>
                <a:cs typeface="Cambria"/>
              </a:rPr>
              <a:t>by Robert DeKeyser supports this idea. The main point is </a:t>
            </a:r>
            <a:r>
              <a:rPr sz="1300" b="1" i="1" dirty="0">
                <a:solidFill>
                  <a:srgbClr val="4B5563"/>
                </a:solidFill>
                <a:latin typeface="Cambria"/>
                <a:ea typeface="Cambria"/>
                <a:cs typeface="Cambria"/>
              </a:rPr>
              <a:t>volume</a:t>
            </a:r>
            <a:r>
              <a:rPr sz="1300" i="1" dirty="0">
                <a:solidFill>
                  <a:srgbClr val="4B5563"/>
                </a:solidFill>
                <a:latin typeface="Cambria"/>
                <a:ea typeface="Cambria"/>
                <a:cs typeface="Cambria"/>
              </a:rPr>
              <a:t>: the more you use the language, the better you know it.</a:t>
            </a:r>
            <a:endParaRPr sz="1300" dirty="0"/>
          </a:p>
        </p:txBody>
      </p:sp>
      <p:pic>
        <p:nvPicPr>
          <p:cNvPr id="27" name="Picture 13"/>
          <p:cNvPicPr>
            <a:picLocks noChangeAspect="1"/>
          </p:cNvPicPr>
          <p:nvPr/>
        </p:nvPicPr>
        <p:blipFill>
          <a:blip r:embed="rId3"/>
          <a:stretch>
            <a:fillRect/>
          </a:stretch>
        </p:blipFill>
        <p:spPr>
          <a:xfrm>
            <a:off x="3532099" y="2694474"/>
            <a:ext cx="2079801" cy="1054081"/>
          </a:xfrm>
          <a:prstGeom prst="rect">
            <a:avLst/>
          </a:prstGeom>
        </p:spPr>
      </p:pic>
    </p:spTree>
    <p:extLst>
      <p:ext uri="{BB962C8B-B14F-4D97-AF65-F5344CB8AC3E}">
        <p14:creationId xmlns:p14="http://schemas.microsoft.com/office/powerpoint/2010/main" val="4873168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812C46-200A-4DEB-A05E-3ED6C68C2387}"/>
              </a:ext>
            </a:extLst>
          </p:cNvPr>
          <p:cNvSpPr>
            <a:spLocks noGrp="1"/>
          </p:cNvSpPr>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3" name="Picture 2"/>
          <p:cNvPicPr>
            <a:picLocks noChangeAspect="1"/>
          </p:cNvPicPr>
          <p:nvPr/>
        </p:nvPicPr>
        <p:blipFill>
          <a:blip r:embed="rId3"/>
          <a:srcRect l="951" r="14450" b="-1"/>
          <a:stretch>
            <a:fillRect/>
          </a:stretch>
        </p:blipFill>
        <p:spPr>
          <a:xfrm>
            <a:off x="1891767" y="10"/>
            <a:ext cx="7252231" cy="5143490"/>
          </a:xfrm>
          <a:prstGeom prst="rect">
            <a:avLst/>
          </a:prstGeom>
        </p:spPr>
      </p:pic>
      <p:sp>
        <p:nvSpPr>
          <p:cNvPr id="10" name="Rectangle 9">
            <a:extLst>
              <a:ext uri="{FF2B5EF4-FFF2-40B4-BE49-F238E27FC236}">
                <a16:creationId xmlns:a16="http://schemas.microsoft.com/office/drawing/2014/main" id="{D1EA859B-E555-4109-94F3-6700E046E008}"/>
              </a:ext>
            </a:extLst>
          </p:cNvPr>
          <p:cNvSpPr>
            <a:spLocks noGrp="1"/>
          </p:cNvSpPr>
          <p:nvPr/>
        </p:nvSpPr>
        <p:spPr>
          <a:xfrm>
            <a:off x="0" y="0"/>
            <a:ext cx="5542696"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BDD2185C-EC6E-0B5D-8F95-3A922414D979}"/>
              </a:ext>
            </a:extLst>
          </p:cNvPr>
          <p:cNvSpPr>
            <a:spLocks noGrp="1"/>
          </p:cNvSpPr>
          <p:nvPr/>
        </p:nvSpPr>
        <p:spPr>
          <a:xfrm>
            <a:off x="119866" y="634593"/>
            <a:ext cx="4452134" cy="2807072"/>
          </a:xfrm>
          <a:prstGeom prst="rect">
            <a:avLst/>
          </a:prstGeom>
        </p:spPr>
        <p:txBody>
          <a:bodyPr vert="horz" lIns="91440" tIns="45720" rIns="91440" bIns="45720">
            <a:normAutofit/>
          </a:bodyPr>
          <a:lstStyle/>
          <a:p>
            <a:pPr algn="ctr">
              <a:lnSpc>
                <a:spcPct val="90000"/>
              </a:lnSpc>
              <a:spcAft>
                <a:spcPts val="600"/>
              </a:spcAft>
              <a:buNone/>
            </a:pPr>
            <a:r>
              <a:rPr sz="2400" b="1" dirty="0"/>
              <a:t>PUSH</a:t>
            </a:r>
            <a:br>
              <a:rPr lang="en-US" sz="2400" b="1" dirty="0"/>
            </a:br>
            <a:r>
              <a:rPr lang="en-US" sz="2400" b="1" dirty="0"/>
              <a:t>But Remember This</a:t>
            </a:r>
            <a:endParaRPr sz="2400" b="1" dirty="0"/>
          </a:p>
          <a:p>
            <a:pPr algn="ctr">
              <a:lnSpc>
                <a:spcPct val="90000"/>
              </a:lnSpc>
              <a:spcAft>
                <a:spcPts val="600"/>
              </a:spcAft>
              <a:buNone/>
            </a:pPr>
            <a:endParaRPr sz="1500" dirty="0"/>
          </a:p>
          <a:p>
            <a:pPr indent="-228600">
              <a:lnSpc>
                <a:spcPct val="90000"/>
              </a:lnSpc>
              <a:spcAft>
                <a:spcPts val="600"/>
              </a:spcAft>
              <a:buFont typeface="Arial"/>
              <a:buChar char="•"/>
            </a:pPr>
            <a:r>
              <a:rPr lang="en-US" sz="2000" dirty="0"/>
              <a:t>Difficulty is good!</a:t>
            </a:r>
          </a:p>
          <a:p>
            <a:pPr indent="-228600">
              <a:lnSpc>
                <a:spcPct val="90000"/>
              </a:lnSpc>
              <a:spcAft>
                <a:spcPts val="600"/>
              </a:spcAft>
              <a:buFont typeface="Arial"/>
              <a:buChar char="•"/>
            </a:pPr>
            <a:r>
              <a:rPr lang="en-US" sz="2000" dirty="0"/>
              <a:t>Stressed and anxious is not.</a:t>
            </a:r>
            <a:endParaRPr sz="2000" dirty="0"/>
          </a:p>
        </p:txBody>
      </p:sp>
    </p:spTree>
    <p:extLst>
      <p:ext uri="{BB962C8B-B14F-4D97-AF65-F5344CB8AC3E}">
        <p14:creationId xmlns:p14="http://schemas.microsoft.com/office/powerpoint/2010/main" val="9230059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1BBFA2-4345-6942-B48D-26F71DDCE273}"/>
              </a:ext>
            </a:extLst>
          </p:cNvPr>
          <p:cNvPicPr>
            <a:picLocks noChangeAspect="1"/>
          </p:cNvPicPr>
          <p:nvPr/>
        </p:nvPicPr>
        <p:blipFill>
          <a:blip r:embed="rId2"/>
          <a:stretch>
            <a:fillRect/>
          </a:stretch>
        </p:blipFill>
        <p:spPr>
          <a:xfrm>
            <a:off x="685800" y="384601"/>
            <a:ext cx="6835758" cy="3847158"/>
          </a:xfrm>
          <a:prstGeom prst="rect">
            <a:avLst/>
          </a:prstGeom>
        </p:spPr>
      </p:pic>
    </p:spTree>
    <p:extLst>
      <p:ext uri="{BB962C8B-B14F-4D97-AF65-F5344CB8AC3E}">
        <p14:creationId xmlns:p14="http://schemas.microsoft.com/office/powerpoint/2010/main" val="42644112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AD1524B-26C4-421F-A891-8234EB10D85E}"/>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TODAY’S BIG IDEA</a:t>
            </a:r>
            <a:endParaRPr sz="1200"/>
          </a:p>
        </p:txBody>
      </p:sp>
      <p:sp>
        <p:nvSpPr>
          <p:cNvPr id="3" name="Text 1">
            <a:extLst>
              <a:ext uri="{FF2B5EF4-FFF2-40B4-BE49-F238E27FC236}">
                <a16:creationId xmlns:a16="http://schemas.microsoft.com/office/drawing/2014/main" id="{2158C395-887C-4BAD-8AA0-4839A2779914}"/>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2800" b="1" dirty="0">
                <a:solidFill>
                  <a:srgbClr val="002E5D"/>
                </a:solidFill>
                <a:latin typeface="Calibri"/>
                <a:ea typeface="Calibri"/>
                <a:cs typeface="Calibri"/>
              </a:rPr>
              <a:t>T</a:t>
            </a:r>
            <a:r>
              <a:rPr lang="en-US" sz="2800" b="1" dirty="0">
                <a:solidFill>
                  <a:srgbClr val="002E5D"/>
                </a:solidFill>
                <a:latin typeface="Calibri"/>
                <a:ea typeface="Calibri"/>
                <a:cs typeface="Calibri"/>
              </a:rPr>
              <a:t>here are t</a:t>
            </a:r>
            <a:r>
              <a:rPr sz="2800" b="1" dirty="0">
                <a:solidFill>
                  <a:srgbClr val="002E5D"/>
                </a:solidFill>
                <a:latin typeface="Calibri"/>
                <a:ea typeface="Calibri"/>
                <a:cs typeface="Calibri"/>
              </a:rPr>
              <a:t>wo dials in the classroom. </a:t>
            </a:r>
            <a:endParaRPr lang="en-US" sz="2800" b="1" dirty="0">
              <a:solidFill>
                <a:srgbClr val="002E5D"/>
              </a:solidFill>
              <a:latin typeface="Calibri"/>
              <a:ea typeface="Calibri"/>
              <a:cs typeface="Calibri"/>
            </a:endParaRPr>
          </a:p>
          <a:p>
            <a:pPr marL="0" indent="0" algn="l">
              <a:buNone/>
            </a:pPr>
            <a:r>
              <a:rPr sz="2800" b="1" dirty="0">
                <a:solidFill>
                  <a:srgbClr val="002E5D"/>
                </a:solidFill>
                <a:latin typeface="Calibri"/>
                <a:ea typeface="Calibri"/>
                <a:cs typeface="Calibri"/>
              </a:rPr>
              <a:t>Turn both up</a:t>
            </a:r>
            <a:r>
              <a:rPr lang="en-US" sz="2800" b="1" dirty="0">
                <a:solidFill>
                  <a:srgbClr val="002E5D"/>
                </a:solidFill>
                <a:latin typeface="Calibri"/>
                <a:ea typeface="Calibri"/>
                <a:cs typeface="Calibri"/>
              </a:rPr>
              <a:t> but sometimes one more than the other</a:t>
            </a:r>
            <a:endParaRPr sz="2800" dirty="0"/>
          </a:p>
        </p:txBody>
      </p:sp>
      <p:sp>
        <p:nvSpPr>
          <p:cNvPr id="4" name="Shape 2">
            <a:extLst>
              <a:ext uri="{FF2B5EF4-FFF2-40B4-BE49-F238E27FC236}">
                <a16:creationId xmlns:a16="http://schemas.microsoft.com/office/drawing/2014/main" id="{BB20ACD5-5EC5-44AE-8BDC-C0DAEEA77887}"/>
              </a:ext>
            </a:extLst>
          </p:cNvPr>
          <p:cNvSpPr>
            <a:spLocks noGrp="1"/>
          </p:cNvSpPr>
          <p:nvPr/>
        </p:nvSpPr>
        <p:spPr>
          <a:xfrm>
            <a:off x="502920" y="2011680"/>
            <a:ext cx="3886200" cy="2514600"/>
          </a:xfrm>
          <a:prstGeom prst="rect">
            <a:avLst/>
          </a:prstGeom>
          <a:solidFill>
            <a:srgbClr val="E6EFF9"/>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Shape 3">
            <a:extLst>
              <a:ext uri="{FF2B5EF4-FFF2-40B4-BE49-F238E27FC236}">
                <a16:creationId xmlns:a16="http://schemas.microsoft.com/office/drawing/2014/main" id="{7B16BCA9-CAA8-45F8-958D-06E802BF9361}"/>
              </a:ext>
            </a:extLst>
          </p:cNvPr>
          <p:cNvSpPr>
            <a:spLocks noGrp="1"/>
          </p:cNvSpPr>
          <p:nvPr/>
        </p:nvSpPr>
        <p:spPr>
          <a:xfrm>
            <a:off x="777240" y="2286000"/>
            <a:ext cx="640080" cy="640080"/>
          </a:xfrm>
          <a:prstGeom prst="ellipse">
            <a:avLst/>
          </a:prstGeom>
          <a:solidFill>
            <a:srgbClr val="0062B8"/>
          </a:solidFill>
          <a:ln w="12700">
            <a:solidFill>
              <a:srgbClr val="002E5D"/>
            </a:solidFill>
            <a:prstDash val="solid"/>
          </a:ln>
        </p:spPr>
        <p:txBody>
          <a:bodyPr/>
          <a:lstStyle/>
          <a:p>
            <a:endParaRPr/>
          </a:p>
        </p:txBody>
      </p:sp>
      <p:pic>
        <p:nvPicPr>
          <p:cNvPr id="22" name="Image 0"/>
          <p:cNvPicPr>
            <a:picLocks noChangeAspect="1"/>
          </p:cNvPicPr>
          <p:nvPr/>
        </p:nvPicPr>
        <p:blipFill>
          <a:blip r:embed="rId3"/>
          <a:stretch>
            <a:fillRect/>
          </a:stretch>
        </p:blipFill>
        <p:spPr>
          <a:xfrm>
            <a:off x="943661" y="2452421"/>
            <a:ext cx="307238" cy="307238"/>
          </a:xfrm>
          <a:prstGeom prst="rect">
            <a:avLst/>
          </a:prstGeom>
        </p:spPr>
      </p:pic>
      <p:sp>
        <p:nvSpPr>
          <p:cNvPr id="7" name="Text 4">
            <a:extLst>
              <a:ext uri="{FF2B5EF4-FFF2-40B4-BE49-F238E27FC236}">
                <a16:creationId xmlns:a16="http://schemas.microsoft.com/office/drawing/2014/main" id="{65842682-4CFD-43AF-9D17-2C5AF6B1B90E}"/>
              </a:ext>
            </a:extLst>
          </p:cNvPr>
          <p:cNvSpPr>
            <a:spLocks noGrp="1"/>
          </p:cNvSpPr>
          <p:nvPr/>
        </p:nvSpPr>
        <p:spPr>
          <a:xfrm>
            <a:off x="1600200" y="2331720"/>
            <a:ext cx="2194560" cy="274320"/>
          </a:xfrm>
          <a:prstGeom prst="rect">
            <a:avLst/>
          </a:prstGeom>
          <a:noFill/>
        </p:spPr>
        <p:txBody>
          <a:bodyPr wrap="square" lIns="0" tIns="0" rIns="0" bIns="0" anchor="ctr"/>
          <a:lstStyle/>
          <a:p>
            <a:pPr marL="0" indent="0">
              <a:buNone/>
            </a:pPr>
            <a:r>
              <a:rPr sz="1100" b="1">
                <a:solidFill>
                  <a:srgbClr val="0062B8"/>
                </a:solidFill>
                <a:latin typeface="Calibri"/>
                <a:ea typeface="Calibri"/>
                <a:cs typeface="Calibri"/>
              </a:rPr>
              <a:t>DIAL 01</a:t>
            </a:r>
            <a:endParaRPr sz="1100"/>
          </a:p>
        </p:txBody>
      </p:sp>
      <p:sp>
        <p:nvSpPr>
          <p:cNvPr id="8" name="Text 5">
            <a:extLst>
              <a:ext uri="{FF2B5EF4-FFF2-40B4-BE49-F238E27FC236}">
                <a16:creationId xmlns:a16="http://schemas.microsoft.com/office/drawing/2014/main" id="{045337AA-01F6-4927-9841-B5B8D32F466A}"/>
              </a:ext>
            </a:extLst>
          </p:cNvPr>
          <p:cNvSpPr>
            <a:spLocks noGrp="1"/>
          </p:cNvSpPr>
          <p:nvPr/>
        </p:nvSpPr>
        <p:spPr>
          <a:xfrm>
            <a:off x="1600200" y="2560320"/>
            <a:ext cx="2194560" cy="502920"/>
          </a:xfrm>
          <a:prstGeom prst="rect">
            <a:avLst/>
          </a:prstGeom>
          <a:noFill/>
        </p:spPr>
        <p:txBody>
          <a:bodyPr wrap="square" lIns="0" tIns="0" rIns="0" bIns="0" anchor="ctr"/>
          <a:lstStyle/>
          <a:p>
            <a:pPr marL="0" indent="0">
              <a:buNone/>
            </a:pPr>
            <a:r>
              <a:rPr sz="2600" b="1">
                <a:solidFill>
                  <a:srgbClr val="002E5D"/>
                </a:solidFill>
                <a:latin typeface="Calibri"/>
                <a:ea typeface="Calibri"/>
                <a:cs typeface="Calibri"/>
              </a:rPr>
              <a:t>Volume</a:t>
            </a:r>
            <a:endParaRPr sz="2600"/>
          </a:p>
        </p:txBody>
      </p:sp>
      <p:sp>
        <p:nvSpPr>
          <p:cNvPr id="9" name="Text 6">
            <a:extLst>
              <a:ext uri="{FF2B5EF4-FFF2-40B4-BE49-F238E27FC236}">
                <a16:creationId xmlns:a16="http://schemas.microsoft.com/office/drawing/2014/main" id="{84361BB7-1ADC-4736-8074-BE910A8AE9D1}"/>
              </a:ext>
            </a:extLst>
          </p:cNvPr>
          <p:cNvSpPr>
            <a:spLocks noGrp="1"/>
          </p:cNvSpPr>
          <p:nvPr/>
        </p:nvSpPr>
        <p:spPr>
          <a:xfrm>
            <a:off x="777240" y="3429000"/>
            <a:ext cx="3337560" cy="914400"/>
          </a:xfrm>
          <a:prstGeom prst="rect">
            <a:avLst/>
          </a:prstGeom>
          <a:noFill/>
        </p:spPr>
        <p:txBody>
          <a:bodyPr wrap="square" lIns="0" tIns="0" rIns="0" bIns="0" anchor="t"/>
          <a:lstStyle/>
          <a:p>
            <a:pPr marL="0" indent="0" algn="l">
              <a:lnSpc>
                <a:spcPct val="106000"/>
              </a:lnSpc>
              <a:buNone/>
            </a:pPr>
            <a:r>
              <a:rPr sz="1400" b="1" dirty="0">
                <a:solidFill>
                  <a:srgbClr val="1F2937"/>
                </a:solidFill>
                <a:latin typeface="Cambria"/>
                <a:ea typeface="Cambria"/>
                <a:cs typeface="Cambria"/>
              </a:rPr>
              <a:t>How much </a:t>
            </a:r>
            <a:r>
              <a:rPr sz="1400" dirty="0">
                <a:solidFill>
                  <a:srgbClr val="1F2937"/>
                </a:solidFill>
                <a:latin typeface="Cambria"/>
                <a:ea typeface="Cambria"/>
                <a:cs typeface="Cambria"/>
              </a:rPr>
              <a:t>each student says in class. More turns, more words, more often.</a:t>
            </a:r>
            <a:endParaRPr sz="1400" dirty="0"/>
          </a:p>
        </p:txBody>
      </p:sp>
      <p:sp>
        <p:nvSpPr>
          <p:cNvPr id="10" name="Shape 7">
            <a:extLst>
              <a:ext uri="{FF2B5EF4-FFF2-40B4-BE49-F238E27FC236}">
                <a16:creationId xmlns:a16="http://schemas.microsoft.com/office/drawing/2014/main" id="{D4AD6E54-BEA5-4BAB-9700-A8B59A79769F}"/>
              </a:ext>
            </a:extLst>
          </p:cNvPr>
          <p:cNvSpPr>
            <a:spLocks noGrp="1"/>
          </p:cNvSpPr>
          <p:nvPr/>
        </p:nvSpPr>
        <p:spPr>
          <a:xfrm>
            <a:off x="4754880" y="2011680"/>
            <a:ext cx="3886200" cy="2514600"/>
          </a:xfrm>
          <a:prstGeom prst="rect">
            <a:avLst/>
          </a:prstGeom>
          <a:solidFill>
            <a:srgbClr val="EEF1F5"/>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1" name="Shape 8">
            <a:extLst>
              <a:ext uri="{FF2B5EF4-FFF2-40B4-BE49-F238E27FC236}">
                <a16:creationId xmlns:a16="http://schemas.microsoft.com/office/drawing/2014/main" id="{0090C840-06BC-46D1-9F9E-80A4D2D311E9}"/>
              </a:ext>
            </a:extLst>
          </p:cNvPr>
          <p:cNvSpPr>
            <a:spLocks noGrp="1"/>
          </p:cNvSpPr>
          <p:nvPr/>
        </p:nvSpPr>
        <p:spPr>
          <a:xfrm>
            <a:off x="5029200" y="2286000"/>
            <a:ext cx="640080" cy="640080"/>
          </a:xfrm>
          <a:prstGeom prst="ellipse">
            <a:avLst/>
          </a:prstGeom>
          <a:solidFill>
            <a:srgbClr val="002E5D"/>
          </a:solidFill>
          <a:ln w="12700">
            <a:solidFill>
              <a:srgbClr val="002E5D"/>
            </a:solidFill>
            <a:prstDash val="solid"/>
          </a:ln>
        </p:spPr>
        <p:txBody>
          <a:bodyPr/>
          <a:lstStyle/>
          <a:p>
            <a:endParaRPr/>
          </a:p>
        </p:txBody>
      </p:sp>
      <p:pic>
        <p:nvPicPr>
          <p:cNvPr id="28" name="Image 1"/>
          <p:cNvPicPr>
            <a:picLocks noChangeAspect="1"/>
          </p:cNvPicPr>
          <p:nvPr/>
        </p:nvPicPr>
        <p:blipFill>
          <a:blip r:embed="rId4"/>
          <a:stretch>
            <a:fillRect/>
          </a:stretch>
        </p:blipFill>
        <p:spPr>
          <a:xfrm>
            <a:off x="5195621" y="2452421"/>
            <a:ext cx="307238" cy="307238"/>
          </a:xfrm>
          <a:prstGeom prst="rect">
            <a:avLst/>
          </a:prstGeom>
        </p:spPr>
      </p:pic>
      <p:sp>
        <p:nvSpPr>
          <p:cNvPr id="13" name="Text 9">
            <a:extLst>
              <a:ext uri="{FF2B5EF4-FFF2-40B4-BE49-F238E27FC236}">
                <a16:creationId xmlns:a16="http://schemas.microsoft.com/office/drawing/2014/main" id="{F1864CA7-BA46-45CF-8A21-D61B71F75AF6}"/>
              </a:ext>
            </a:extLst>
          </p:cNvPr>
          <p:cNvSpPr>
            <a:spLocks noGrp="1"/>
          </p:cNvSpPr>
          <p:nvPr/>
        </p:nvSpPr>
        <p:spPr>
          <a:xfrm>
            <a:off x="5852160" y="2331720"/>
            <a:ext cx="2194560" cy="274320"/>
          </a:xfrm>
          <a:prstGeom prst="rect">
            <a:avLst/>
          </a:prstGeom>
          <a:noFill/>
        </p:spPr>
        <p:txBody>
          <a:bodyPr wrap="square" lIns="0" tIns="0" rIns="0" bIns="0" anchor="ctr"/>
          <a:lstStyle/>
          <a:p>
            <a:pPr marL="0" indent="0">
              <a:buNone/>
            </a:pPr>
            <a:r>
              <a:rPr sz="1100" b="1">
                <a:solidFill>
                  <a:srgbClr val="0062B8"/>
                </a:solidFill>
                <a:latin typeface="Calibri"/>
                <a:ea typeface="Calibri"/>
                <a:cs typeface="Calibri"/>
              </a:rPr>
              <a:t>DIAL 02</a:t>
            </a:r>
            <a:endParaRPr sz="1100"/>
          </a:p>
        </p:txBody>
      </p:sp>
      <p:sp>
        <p:nvSpPr>
          <p:cNvPr id="14" name="Text 10">
            <a:extLst>
              <a:ext uri="{FF2B5EF4-FFF2-40B4-BE49-F238E27FC236}">
                <a16:creationId xmlns:a16="http://schemas.microsoft.com/office/drawing/2014/main" id="{466521DA-6BA0-42ED-8D19-4CB0AB13272B}"/>
              </a:ext>
            </a:extLst>
          </p:cNvPr>
          <p:cNvSpPr>
            <a:spLocks noGrp="1"/>
          </p:cNvSpPr>
          <p:nvPr/>
        </p:nvSpPr>
        <p:spPr>
          <a:xfrm>
            <a:off x="5852160" y="2560320"/>
            <a:ext cx="2194560" cy="502920"/>
          </a:xfrm>
          <a:prstGeom prst="rect">
            <a:avLst/>
          </a:prstGeom>
          <a:noFill/>
        </p:spPr>
        <p:txBody>
          <a:bodyPr wrap="square" lIns="0" tIns="0" rIns="0" bIns="0" anchor="ctr"/>
          <a:lstStyle/>
          <a:p>
            <a:pPr marL="0" indent="0">
              <a:buNone/>
            </a:pPr>
            <a:r>
              <a:rPr sz="2600" b="1">
                <a:solidFill>
                  <a:srgbClr val="002E5D"/>
                </a:solidFill>
                <a:latin typeface="Calibri"/>
                <a:ea typeface="Calibri"/>
                <a:cs typeface="Calibri"/>
              </a:rPr>
              <a:t>Push</a:t>
            </a:r>
            <a:endParaRPr sz="2600"/>
          </a:p>
        </p:txBody>
      </p:sp>
      <p:sp>
        <p:nvSpPr>
          <p:cNvPr id="15" name="Text 11">
            <a:extLst>
              <a:ext uri="{FF2B5EF4-FFF2-40B4-BE49-F238E27FC236}">
                <a16:creationId xmlns:a16="http://schemas.microsoft.com/office/drawing/2014/main" id="{DD50B34C-7090-4572-9B9A-4F2C77A66909}"/>
              </a:ext>
            </a:extLst>
          </p:cNvPr>
          <p:cNvSpPr>
            <a:spLocks noGrp="1"/>
          </p:cNvSpPr>
          <p:nvPr/>
        </p:nvSpPr>
        <p:spPr>
          <a:xfrm>
            <a:off x="5029200" y="3429000"/>
            <a:ext cx="3337560" cy="914400"/>
          </a:xfrm>
          <a:prstGeom prst="rect">
            <a:avLst/>
          </a:prstGeom>
          <a:noFill/>
        </p:spPr>
        <p:txBody>
          <a:bodyPr wrap="square" lIns="0" tIns="0" rIns="0" bIns="0" anchor="t"/>
          <a:lstStyle/>
          <a:p>
            <a:pPr marL="0" indent="0" algn="l">
              <a:lnSpc>
                <a:spcPct val="106000"/>
              </a:lnSpc>
              <a:buNone/>
            </a:pPr>
            <a:r>
              <a:rPr sz="1400" b="1" dirty="0">
                <a:solidFill>
                  <a:srgbClr val="1F2937"/>
                </a:solidFill>
                <a:latin typeface="Cambria"/>
                <a:ea typeface="Cambria"/>
                <a:cs typeface="Cambria"/>
              </a:rPr>
              <a:t>How hard </a:t>
            </a:r>
            <a:r>
              <a:rPr sz="1400" dirty="0">
                <a:solidFill>
                  <a:srgbClr val="1F2937"/>
                </a:solidFill>
                <a:latin typeface="Cambria"/>
                <a:ea typeface="Cambria"/>
                <a:cs typeface="Cambria"/>
              </a:rPr>
              <a:t>they work. </a:t>
            </a:r>
            <a:r>
              <a:rPr lang="en-US" sz="1400" dirty="0">
                <a:solidFill>
                  <a:srgbClr val="1F2937"/>
                </a:solidFill>
                <a:latin typeface="Cambria"/>
                <a:ea typeface="Cambria"/>
                <a:cs typeface="Cambria"/>
              </a:rPr>
              <a:t>They must speak using </a:t>
            </a:r>
            <a:r>
              <a:rPr lang="en-US" sz="1400" b="1" dirty="0">
                <a:solidFill>
                  <a:srgbClr val="1F2937"/>
                </a:solidFill>
                <a:latin typeface="Cambria"/>
                <a:ea typeface="Cambria"/>
                <a:cs typeface="Cambria"/>
              </a:rPr>
              <a:t>things they don’t know well</a:t>
            </a:r>
            <a:r>
              <a:rPr lang="en-US" sz="1400" dirty="0">
                <a:solidFill>
                  <a:srgbClr val="1F2937"/>
                </a:solidFill>
                <a:latin typeface="Cambria"/>
                <a:ea typeface="Cambria"/>
                <a:cs typeface="Cambria"/>
              </a:rPr>
              <a:t>.</a:t>
            </a:r>
            <a:endParaRPr sz="1400" dirty="0"/>
          </a:p>
        </p:txBody>
      </p:sp>
    </p:spTree>
    <p:extLst>
      <p:ext uri="{BB962C8B-B14F-4D97-AF65-F5344CB8AC3E}">
        <p14:creationId xmlns:p14="http://schemas.microsoft.com/office/powerpoint/2010/main" val="7439582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Lst>
          </p:cNvPr>
          <p:cNvSpPr>
            <a:spLocks noGrp="1"/>
          </p:cNvSpPr>
          <p:nvPr/>
        </p:nvSpPr>
        <p:spPr>
          <a:xfrm>
            <a:off x="0" y="0"/>
            <a:ext cx="9144000" cy="5143500"/>
          </a:xfrm>
          <a:prstGeom prst="rect">
            <a:avLst/>
          </a:prstGeom>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E2384209-CB15-4CDF-9D31-C44FD9A3F20D}"/>
              </a:ext>
            </a:extLst>
          </p:cNvPr>
          <p:cNvSpPr>
            <a:spLocks noGrp="1"/>
          </p:cNvSpPr>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2633B3B5-CC90-43F0-8714-D31D1F3F0209}"/>
              </a:ext>
            </a:extLst>
          </p:cNvPr>
          <p:cNvSpPr>
            <a:spLocks noGrp="1"/>
          </p:cNvSpPr>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A8D57A06-A426-446D-B02C-A2DC6B62E45E}"/>
              </a:ext>
            </a:extLst>
          </p:cNvPr>
          <p:cNvSpPr>
            <a:spLocks noGrp="1"/>
          </p:cNvSpPr>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 name="Picture 1"/>
          <p:cNvPicPr>
            <a:picLocks noChangeAspect="1"/>
          </p:cNvPicPr>
          <p:nvPr/>
        </p:nvPicPr>
        <p:blipFill>
          <a:blip r:embed="rId3"/>
          <a:stretch>
            <a:fillRect/>
          </a:stretch>
        </p:blipFill>
        <p:spPr>
          <a:xfrm>
            <a:off x="1232899" y="342900"/>
            <a:ext cx="6678202" cy="4457700"/>
          </a:xfrm>
          <a:prstGeom prst="rect">
            <a:avLst/>
          </a:prstGeom>
        </p:spPr>
      </p:pic>
    </p:spTree>
    <p:extLst>
      <p:ext uri="{BB962C8B-B14F-4D97-AF65-F5344CB8AC3E}">
        <p14:creationId xmlns:p14="http://schemas.microsoft.com/office/powerpoint/2010/main" val="2237595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15D1294-1F3E-4C08-9A1D-F8024375E766}"/>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ONE IMPORTANT POINT</a:t>
            </a:r>
            <a:endParaRPr sz="1200"/>
          </a:p>
        </p:txBody>
      </p:sp>
      <p:sp>
        <p:nvSpPr>
          <p:cNvPr id="3" name="Text 1">
            <a:extLst>
              <a:ext uri="{FF2B5EF4-FFF2-40B4-BE49-F238E27FC236}">
                <a16:creationId xmlns:a16="http://schemas.microsoft.com/office/drawing/2014/main" id="{4293A112-BF6D-4CB9-9011-57B241ECEAFF}"/>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a:solidFill>
                  <a:srgbClr val="002E5D"/>
                </a:solidFill>
                <a:latin typeface="Calibri"/>
                <a:ea typeface="Calibri"/>
                <a:cs typeface="Calibri"/>
              </a:rPr>
              <a:t>Simply talking more isn't the goal.</a:t>
            </a:r>
            <a:endParaRPr sz="3400"/>
          </a:p>
        </p:txBody>
      </p:sp>
      <p:sp>
        <p:nvSpPr>
          <p:cNvPr id="4" name="Shape 2">
            <a:extLst>
              <a:ext uri="{FF2B5EF4-FFF2-40B4-BE49-F238E27FC236}">
                <a16:creationId xmlns:a16="http://schemas.microsoft.com/office/drawing/2014/main" id="{FD1B02E3-7A9A-4B72-834F-F7F3C9B53E76}"/>
              </a:ext>
            </a:extLst>
          </p:cNvPr>
          <p:cNvSpPr>
            <a:spLocks noGrp="1"/>
          </p:cNvSpPr>
          <p:nvPr/>
        </p:nvSpPr>
        <p:spPr>
          <a:xfrm>
            <a:off x="502920" y="1874520"/>
            <a:ext cx="8138160" cy="2377440"/>
          </a:xfrm>
          <a:prstGeom prst="rect">
            <a:avLst/>
          </a:prstGeom>
          <a:solidFill>
            <a:srgbClr val="EEF1F5"/>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5" name="Text 3">
            <a:extLst>
              <a:ext uri="{FF2B5EF4-FFF2-40B4-BE49-F238E27FC236}">
                <a16:creationId xmlns:a16="http://schemas.microsoft.com/office/drawing/2014/main" id="{D4A373EB-6A3D-43FA-8AAC-DEB566E28164}"/>
              </a:ext>
            </a:extLst>
          </p:cNvPr>
          <p:cNvSpPr>
            <a:spLocks noGrp="1"/>
          </p:cNvSpPr>
          <p:nvPr/>
        </p:nvSpPr>
        <p:spPr>
          <a:xfrm>
            <a:off x="914400" y="1874520"/>
            <a:ext cx="7315200" cy="2377440"/>
          </a:xfrm>
          <a:prstGeom prst="rect">
            <a:avLst/>
          </a:prstGeom>
          <a:noFill/>
        </p:spPr>
        <p:txBody>
          <a:bodyPr wrap="square" lIns="0" tIns="0" rIns="0" bIns="0" anchor="ctr"/>
          <a:lstStyle/>
          <a:p>
            <a:pPr marL="0" indent="0" algn="l">
              <a:lnSpc>
                <a:spcPct val="118000"/>
              </a:lnSpc>
              <a:buNone/>
            </a:pPr>
            <a:r>
              <a:rPr sz="1900" dirty="0">
                <a:solidFill>
                  <a:srgbClr val="1F2937"/>
                </a:solidFill>
                <a:latin typeface="Cambria"/>
                <a:ea typeface="Cambria"/>
                <a:cs typeface="Cambria"/>
              </a:rPr>
              <a:t>Output does not replace input — students need both. </a:t>
            </a:r>
            <a:r>
              <a:rPr sz="1900" b="1" dirty="0">
                <a:latin typeface="Cambria"/>
                <a:ea typeface="Cambria"/>
                <a:cs typeface="Cambria"/>
              </a:rPr>
              <a:t>And talking a lot with no push does not help much</a:t>
            </a:r>
            <a:r>
              <a:rPr sz="1900" dirty="0">
                <a:solidFill>
                  <a:srgbClr val="1F2937"/>
                </a:solidFill>
                <a:latin typeface="Cambria"/>
                <a:ea typeface="Cambria"/>
                <a:cs typeface="Cambria"/>
              </a:rPr>
              <a:t>. What works is </a:t>
            </a:r>
            <a:r>
              <a:rPr sz="1900" dirty="0">
                <a:solidFill>
                  <a:srgbClr val="0062B8"/>
                </a:solidFill>
                <a:latin typeface="Cambria"/>
                <a:ea typeface="Cambria"/>
                <a:cs typeface="Cambria"/>
              </a:rPr>
              <a:t>volume and push together</a:t>
            </a:r>
            <a:r>
              <a:rPr sz="1900" dirty="0">
                <a:solidFill>
                  <a:srgbClr val="1F2937"/>
                </a:solidFill>
                <a:latin typeface="Cambria"/>
                <a:ea typeface="Cambria"/>
                <a:cs typeface="Cambria"/>
              </a:rPr>
              <a:t>, with </a:t>
            </a:r>
            <a:r>
              <a:rPr sz="1900" dirty="0">
                <a:solidFill>
                  <a:srgbClr val="0062B8"/>
                </a:solidFill>
                <a:latin typeface="Cambria"/>
                <a:ea typeface="Cambria"/>
                <a:cs typeface="Cambria"/>
              </a:rPr>
              <a:t>feedback</a:t>
            </a:r>
            <a:r>
              <a:rPr sz="1900" dirty="0">
                <a:solidFill>
                  <a:srgbClr val="1F2937"/>
                </a:solidFill>
                <a:latin typeface="Cambria"/>
                <a:ea typeface="Cambria"/>
                <a:cs typeface="Cambria"/>
              </a:rPr>
              <a:t>, in a </a:t>
            </a:r>
            <a:r>
              <a:rPr sz="1900" dirty="0">
                <a:solidFill>
                  <a:srgbClr val="0062B8"/>
                </a:solidFill>
                <a:latin typeface="Cambria"/>
                <a:ea typeface="Cambria"/>
                <a:cs typeface="Cambria"/>
              </a:rPr>
              <a:t>relaxed classroom </a:t>
            </a:r>
            <a:r>
              <a:rPr sz="1900" dirty="0">
                <a:solidFill>
                  <a:srgbClr val="1F2937"/>
                </a:solidFill>
                <a:latin typeface="Cambria"/>
                <a:ea typeface="Cambria"/>
                <a:cs typeface="Cambria"/>
              </a:rPr>
              <a:t>where students have the words and phrases they need.</a:t>
            </a:r>
            <a:endParaRPr sz="1900" dirty="0"/>
          </a:p>
        </p:txBody>
      </p:sp>
    </p:spTree>
    <p:extLst>
      <p:ext uri="{BB962C8B-B14F-4D97-AF65-F5344CB8AC3E}">
        <p14:creationId xmlns:p14="http://schemas.microsoft.com/office/powerpoint/2010/main" val="1114399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01552B-DB2B-0384-31D3-B305A05DDA17}"/>
              </a:ext>
            </a:extLst>
          </p:cNvPr>
          <p:cNvSpPr>
            <a:spLocks noGrp="1"/>
          </p:cNvSpPr>
          <p:nvPr/>
        </p:nvSpPr>
        <p:spPr>
          <a:xfrm>
            <a:off x="1928387" y="196896"/>
            <a:ext cx="4492509" cy="461665"/>
          </a:xfrm>
          <a:prstGeom prst="rect">
            <a:avLst/>
          </a:prstGeom>
          <a:noFill/>
        </p:spPr>
        <p:txBody>
          <a:bodyPr wrap="square">
            <a:spAutoFit/>
          </a:bodyPr>
          <a:lstStyle/>
          <a:p>
            <a:r>
              <a:rPr lang="en-US" sz="2400" b="1" dirty="0"/>
              <a:t>Push: Use t</a:t>
            </a:r>
            <a:r>
              <a:rPr sz="2400" b="1" dirty="0"/>
              <a:t>wo new words</a:t>
            </a:r>
          </a:p>
        </p:txBody>
      </p:sp>
      <p:sp>
        <p:nvSpPr>
          <p:cNvPr id="3" name="TextBox 2">
            <a:extLst>
              <a:ext uri="{FF2B5EF4-FFF2-40B4-BE49-F238E27FC236}">
                <a16:creationId xmlns:a16="http://schemas.microsoft.com/office/drawing/2014/main" id="{EB385E0F-3C58-61CD-9C78-9B381F10A2CD}"/>
              </a:ext>
            </a:extLst>
          </p:cNvPr>
          <p:cNvSpPr>
            <a:spLocks noGrp="1"/>
          </p:cNvSpPr>
          <p:nvPr/>
        </p:nvSpPr>
        <p:spPr>
          <a:xfrm>
            <a:off x="280658" y="1078385"/>
            <a:ext cx="8826712" cy="646331"/>
          </a:xfrm>
          <a:prstGeom prst="rect">
            <a:avLst/>
          </a:prstGeom>
          <a:noFill/>
        </p:spPr>
        <p:txBody>
          <a:bodyPr wrap="none">
            <a:spAutoFit/>
          </a:bodyPr>
          <a:lstStyle/>
          <a:p>
            <a:r>
              <a:rPr b="1" dirty="0"/>
              <a:t>Holed up (Verb/Phrase):</a:t>
            </a:r>
            <a:r>
              <a:rPr dirty="0"/>
              <a:t> To hide away or take refuge.</a:t>
            </a:r>
          </a:p>
          <a:p>
            <a:r>
              <a:rPr i="1" dirty="0"/>
              <a:t>"I completely </a:t>
            </a:r>
            <a:r>
              <a:rPr b="1" i="1" dirty="0"/>
              <a:t>holed up</a:t>
            </a:r>
            <a:r>
              <a:rPr i="1" dirty="0"/>
              <a:t> </a:t>
            </a:r>
            <a:r>
              <a:rPr lang="en-US" i="1" dirty="0"/>
              <a:t>at home </a:t>
            </a:r>
            <a:r>
              <a:rPr i="1" dirty="0"/>
              <a:t>all Sunday and </a:t>
            </a:r>
            <a:r>
              <a:rPr lang="en-US" i="1" dirty="0"/>
              <a:t>watched</a:t>
            </a:r>
            <a:r>
              <a:rPr i="1" dirty="0"/>
              <a:t> a whole season of that new show."</a:t>
            </a:r>
            <a:endParaRPr dirty="0"/>
          </a:p>
        </p:txBody>
      </p:sp>
      <p:sp>
        <p:nvSpPr>
          <p:cNvPr id="4" name="TextBox 3">
            <a:extLst>
              <a:ext uri="{FF2B5EF4-FFF2-40B4-BE49-F238E27FC236}">
                <a16:creationId xmlns:a16="http://schemas.microsoft.com/office/drawing/2014/main" id="{FC863094-B748-755A-69AC-5C608F13FB46}"/>
              </a:ext>
            </a:extLst>
          </p:cNvPr>
          <p:cNvSpPr>
            <a:spLocks noGrp="1"/>
          </p:cNvSpPr>
          <p:nvPr/>
        </p:nvSpPr>
        <p:spPr>
          <a:xfrm>
            <a:off x="280658" y="2551025"/>
            <a:ext cx="7948942" cy="923330"/>
          </a:xfrm>
          <a:prstGeom prst="rect">
            <a:avLst/>
          </a:prstGeom>
          <a:noFill/>
        </p:spPr>
        <p:txBody>
          <a:bodyPr wrap="square">
            <a:spAutoFit/>
          </a:bodyPr>
          <a:lstStyle/>
          <a:p>
            <a:r>
              <a:rPr b="1" dirty="0"/>
              <a:t>Puttered (Verb):</a:t>
            </a:r>
            <a:r>
              <a:rPr dirty="0"/>
              <a:t> To spend time doing small, relaxed tasks with no big plan.</a:t>
            </a:r>
            <a:br>
              <a:rPr lang="en-US" dirty="0"/>
            </a:br>
            <a:r>
              <a:rPr i="1" dirty="0"/>
              <a:t>"I just </a:t>
            </a:r>
            <a:r>
              <a:rPr b="1" i="1" dirty="0"/>
              <a:t>puttered</a:t>
            </a:r>
            <a:r>
              <a:rPr i="1" dirty="0"/>
              <a:t> </a:t>
            </a:r>
            <a:r>
              <a:rPr b="1" i="1" dirty="0"/>
              <a:t>around</a:t>
            </a:r>
            <a:r>
              <a:rPr i="1" dirty="0"/>
              <a:t> the garden and fixed a few things around the house."</a:t>
            </a:r>
            <a:endParaRPr dirty="0"/>
          </a:p>
          <a:p>
            <a:endParaRPr dirty="0"/>
          </a:p>
        </p:txBody>
      </p:sp>
      <p:sp>
        <p:nvSpPr>
          <p:cNvPr id="5" name="TextBox 4">
            <a:extLst>
              <a:ext uri="{FF2B5EF4-FFF2-40B4-BE49-F238E27FC236}">
                <a16:creationId xmlns:a16="http://schemas.microsoft.com/office/drawing/2014/main" id="{A037C8D8-57D7-2EBB-17C3-3D08D97B2C11}"/>
              </a:ext>
            </a:extLst>
          </p:cNvPr>
          <p:cNvSpPr>
            <a:spLocks noGrp="1"/>
          </p:cNvSpPr>
          <p:nvPr/>
        </p:nvSpPr>
        <p:spPr>
          <a:xfrm>
            <a:off x="280658" y="1754374"/>
            <a:ext cx="6631046" cy="923330"/>
          </a:xfrm>
          <a:prstGeom prst="rect">
            <a:avLst/>
          </a:prstGeom>
          <a:noFill/>
        </p:spPr>
        <p:txBody>
          <a:bodyPr wrap="none">
            <a:spAutoFit/>
          </a:bodyPr>
          <a:lstStyle/>
          <a:p>
            <a:r>
              <a:rPr b="1" dirty="0"/>
              <a:t>Rejuvenate (Verb):</a:t>
            </a:r>
            <a:r>
              <a:rPr dirty="0"/>
              <a:t> To make feel fresh, young, or energetic again. </a:t>
            </a:r>
          </a:p>
          <a:p>
            <a:r>
              <a:rPr i="1" dirty="0"/>
              <a:t>"</a:t>
            </a:r>
            <a:r>
              <a:rPr lang="en-US" i="1" dirty="0"/>
              <a:t>I felt </a:t>
            </a:r>
            <a:r>
              <a:rPr i="1" dirty="0"/>
              <a:t>completely </a:t>
            </a:r>
            <a:r>
              <a:rPr b="1" i="1" dirty="0"/>
              <a:t>rejuvenated</a:t>
            </a:r>
            <a:r>
              <a:rPr i="1" dirty="0"/>
              <a:t> </a:t>
            </a:r>
            <a:r>
              <a:rPr lang="en-US" i="1" dirty="0"/>
              <a:t>after relaxing all weekend.</a:t>
            </a:r>
            <a:r>
              <a:rPr i="1" dirty="0"/>
              <a:t>."</a:t>
            </a:r>
            <a:endParaRPr dirty="0"/>
          </a:p>
          <a:p>
            <a:endParaRPr dirty="0"/>
          </a:p>
        </p:txBody>
      </p:sp>
      <p:sp>
        <p:nvSpPr>
          <p:cNvPr id="6" name="TextBox 5">
            <a:extLst>
              <a:ext uri="{FF2B5EF4-FFF2-40B4-BE49-F238E27FC236}">
                <a16:creationId xmlns:a16="http://schemas.microsoft.com/office/drawing/2014/main" id="{A39EF8FB-6A1C-B6A7-6A83-746C7B5931AB}"/>
              </a:ext>
            </a:extLst>
          </p:cNvPr>
          <p:cNvSpPr>
            <a:spLocks noGrp="1"/>
          </p:cNvSpPr>
          <p:nvPr/>
        </p:nvSpPr>
        <p:spPr>
          <a:xfrm>
            <a:off x="317289" y="3418785"/>
            <a:ext cx="8826711" cy="1200329"/>
          </a:xfrm>
          <a:prstGeom prst="rect">
            <a:avLst/>
          </a:prstGeom>
          <a:noFill/>
        </p:spPr>
        <p:txBody>
          <a:bodyPr wrap="square">
            <a:spAutoFit/>
          </a:bodyPr>
          <a:lstStyle/>
          <a:p>
            <a:r>
              <a:rPr b="1" dirty="0"/>
              <a:t>Hiatus (Noun):</a:t>
            </a:r>
            <a:r>
              <a:rPr dirty="0"/>
              <a:t> A pause or break. Often used for a short break from something (like social media or work).</a:t>
            </a:r>
          </a:p>
          <a:p>
            <a:r>
              <a:rPr i="1" dirty="0"/>
              <a:t>"I went on a strict digital </a:t>
            </a:r>
            <a:r>
              <a:rPr b="1" i="1" dirty="0"/>
              <a:t>hiatus</a:t>
            </a:r>
            <a:r>
              <a:rPr i="1" dirty="0"/>
              <a:t> from Friday to Sunday night."</a:t>
            </a:r>
            <a:endParaRPr dirty="0"/>
          </a:p>
          <a:p>
            <a:endParaRPr dirty="0"/>
          </a:p>
        </p:txBody>
      </p:sp>
    </p:spTree>
    <p:extLst>
      <p:ext uri="{BB962C8B-B14F-4D97-AF65-F5344CB8AC3E}">
        <p14:creationId xmlns:p14="http://schemas.microsoft.com/office/powerpoint/2010/main" val="3487900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3363022-C969-41E9-8EB2-E4C94908C1FA}"/>
              </a:ext>
            </a:extLst>
          </p:cNvPr>
          <p:cNvSpPr>
            <a:spLocks noGrp="1"/>
          </p:cNvSpPr>
          <p:nvPr/>
        </p:nvSpPr>
        <p:spPr>
          <a:xfrm>
            <a:off x="0" y="0"/>
            <a:ext cx="9143771" cy="51390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8D1AD6B3-BE88-4CEB-BA17-790657CC4729}"/>
              </a:ext>
            </a:extLst>
          </p:cNvPr>
          <p:cNvSpPr>
            <a:spLocks noGrp="1"/>
          </p:cNvSpPr>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E3CBE2C2-2A97-B0B2-96B8-09AFED785BCE}"/>
              </a:ext>
            </a:extLst>
          </p:cNvPr>
          <p:cNvSpPr>
            <a:spLocks noGrp="1"/>
          </p:cNvSpPr>
          <p:nvPr/>
        </p:nvSpPr>
        <p:spPr>
          <a:xfrm>
            <a:off x="4942996" y="3200874"/>
            <a:ext cx="3604497" cy="972836"/>
          </a:xfrm>
          <a:prstGeom prst="rect">
            <a:avLst/>
          </a:prstGeom>
        </p:spPr>
        <p:txBody>
          <a:bodyPr vert="horz" lIns="91440" tIns="45720" rIns="91440" bIns="45720" anchor="t">
            <a:normAutofit/>
          </a:bodyPr>
          <a:lstStyle/>
          <a:p>
            <a:pPr>
              <a:lnSpc>
                <a:spcPct val="90000"/>
              </a:lnSpc>
              <a:spcBef>
                <a:spcPct val="0"/>
              </a:spcBef>
              <a:spcAft>
                <a:spcPts val="600"/>
              </a:spcAft>
              <a:buNone/>
            </a:pPr>
            <a:r>
              <a:rPr sz="4800">
                <a:solidFill>
                  <a:schemeClr val="tx2"/>
                </a:solidFill>
                <a:latin typeface="+mj-lt"/>
                <a:ea typeface="+mj-lt"/>
                <a:cs typeface="+mj-lt"/>
              </a:rPr>
              <a:t>Moving On</a:t>
            </a:r>
          </a:p>
        </p:txBody>
      </p:sp>
      <p:pic>
        <p:nvPicPr>
          <p:cNvPr id="29" name="Graphic 1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352" y="1361489"/>
            <a:ext cx="3106320" cy="3106320"/>
          </a:xfrm>
        </p:spPr>
      </p:pic>
      <p:sp>
        <p:nvSpPr>
          <p:cNvPr id="22" name="Freeform: Shape 13">
            <a:extLst>
              <a:ext uri="{FF2B5EF4-FFF2-40B4-BE49-F238E27FC236}">
                <a16:creationId xmlns:a16="http://schemas.microsoft.com/office/drawing/2014/main" id="{9E720206-AA49-4786-A932-A2650DE09183}"/>
              </a:ext>
            </a:extLst>
          </p:cNvPr>
          <p:cNvSpPr>
            <a:spLocks noGrp="1"/>
          </p:cNvSpPr>
          <p:nvPr/>
        </p:nvSpPr>
        <p:spPr>
          <a:xfrm flipH="1">
            <a:off x="-3189" y="26140"/>
            <a:ext cx="4521521" cy="5112875"/>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Freeform: Shape 14">
            <a:extLst>
              <a:ext uri="{FF2B5EF4-FFF2-40B4-BE49-F238E27FC236}">
                <a16:creationId xmlns:a16="http://schemas.microsoft.com/office/drawing/2014/main" id="{C72F6EE6-EDE9-45A5-8F6D-02B9B7CB2C2F}"/>
              </a:ext>
            </a:extLst>
          </p:cNvPr>
          <p:cNvSpPr>
            <a:spLocks noGrp="1"/>
          </p:cNvSpPr>
          <p:nvPr/>
        </p:nvSpPr>
        <p:spPr>
          <a:xfrm flipH="1">
            <a:off x="-3189" y="0"/>
            <a:ext cx="462383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Freeform: Shape 15">
            <a:extLst>
              <a:ext uri="{FF2B5EF4-FFF2-40B4-BE49-F238E27FC236}">
                <a16:creationId xmlns:a16="http://schemas.microsoft.com/office/drawing/2014/main" id="{C093DC50-3BD7-46B1-A300-CD207E152FF4}"/>
              </a:ext>
            </a:extLst>
          </p:cNvPr>
          <p:cNvSpPr>
            <a:spLocks noGrp="1"/>
          </p:cNvSpPr>
          <p:nvPr/>
        </p:nvSpPr>
        <p:spPr>
          <a:xfrm flipH="1">
            <a:off x="-3189" y="-4482"/>
            <a:ext cx="467900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57" name="BYU Linguistics logo" descr="BYU Linguistics logo"/>
          <p:cNvPicPr>
            <a:picLocks noChangeAspect="1"/>
          </p:cNvPicPr>
          <p:nvPr/>
        </p:nvPicPr>
        <p:blipFill>
          <a:blip r:embed="rId4"/>
          <a:stretch>
            <a:fillRect/>
          </a:stretch>
        </p:blipFill>
        <p:spPr>
          <a:xfrm>
            <a:off x="7498080" y="365760"/>
            <a:ext cx="1188720" cy="691061"/>
          </a:xfrm>
          <a:prstGeom prst="rect">
            <a:avLst/>
          </a:prstGeom>
        </p:spPr>
      </p:pic>
      <p:pic>
        <p:nvPicPr>
          <p:cNvPr id="3" name="Graphic 2" descr="Chevron Arrows">
            <a:extLst>
              <a:ext uri="{FF2B5EF4-FFF2-40B4-BE49-F238E27FC236}">
                <a16:creationId xmlns:a16="http://schemas.microsoft.com/office/drawing/2014/main" id="{CD78CF09-E49F-69E9-8D18-5A492A931A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7752" y="1513889"/>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17246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rgbClr val="002E5D"/>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FA0D8A49-92B4-4A34-9843-735971ED8EA3}"/>
              </a:ext>
            </a:extLst>
          </p:cNvPr>
          <p:cNvSpPr>
            <a:spLocks noGrp="1"/>
          </p:cNvSpPr>
          <p:nvPr/>
        </p:nvSpPr>
        <p:spPr>
          <a:xfrm>
            <a:off x="502920" y="548640"/>
            <a:ext cx="2148840" cy="457200"/>
          </a:xfrm>
          <a:prstGeom prst="roundRect">
            <a:avLst>
              <a:gd name="adj" fmla="val 12000"/>
            </a:avLst>
          </a:prstGeom>
          <a:solidFill>
            <a:srgbClr val="BE965C"/>
          </a:solidFill>
          <a:ln w="12700">
            <a:solidFill>
              <a:srgbClr val="002E5D"/>
            </a:solidFill>
            <a:prstDash val="solid"/>
          </a:ln>
        </p:spPr>
        <p:txBody>
          <a:bodyPr/>
          <a:lstStyle/>
          <a:p>
            <a:endParaRPr dirty="0"/>
          </a:p>
        </p:txBody>
      </p:sp>
      <p:sp>
        <p:nvSpPr>
          <p:cNvPr id="4" name="Text 2">
            <a:extLst>
              <a:ext uri="{FF2B5EF4-FFF2-40B4-BE49-F238E27FC236}">
                <a16:creationId xmlns:a16="http://schemas.microsoft.com/office/drawing/2014/main" id="{579D9194-A883-432B-9306-474A4811989A}"/>
              </a:ext>
            </a:extLst>
          </p:cNvPr>
          <p:cNvSpPr>
            <a:spLocks noGrp="1"/>
          </p:cNvSpPr>
          <p:nvPr/>
        </p:nvSpPr>
        <p:spPr>
          <a:xfrm>
            <a:off x="502920" y="548640"/>
            <a:ext cx="2148840" cy="457200"/>
          </a:xfrm>
          <a:prstGeom prst="rect">
            <a:avLst/>
          </a:prstGeom>
          <a:noFill/>
        </p:spPr>
        <p:txBody>
          <a:bodyPr wrap="square" lIns="0" tIns="0" rIns="0" bIns="0" anchor="ctr"/>
          <a:lstStyle/>
          <a:p>
            <a:pPr marL="0" indent="0" algn="ctr">
              <a:buNone/>
            </a:pPr>
            <a:r>
              <a:rPr sz="1300" b="1" dirty="0">
                <a:solidFill>
                  <a:srgbClr val="FFFFFF"/>
                </a:solidFill>
                <a:latin typeface="Calibri"/>
                <a:ea typeface="Calibri"/>
                <a:cs typeface="Calibri"/>
              </a:rPr>
              <a:t>DEMO · </a:t>
            </a:r>
            <a:r>
              <a:rPr lang="en-US" sz="1300" b="1" dirty="0">
                <a:solidFill>
                  <a:srgbClr val="FFFFFF"/>
                </a:solidFill>
                <a:latin typeface="Calibri"/>
                <a:ea typeface="Calibri"/>
                <a:cs typeface="Calibri"/>
              </a:rPr>
              <a:t>3</a:t>
            </a:r>
            <a:endParaRPr sz="1300" dirty="0"/>
          </a:p>
        </p:txBody>
      </p:sp>
      <p:pic>
        <p:nvPicPr>
          <p:cNvPr id="12" name="Image 0"/>
          <p:cNvPicPr>
            <a:picLocks noChangeAspect="1"/>
          </p:cNvPicPr>
          <p:nvPr/>
        </p:nvPicPr>
        <p:blipFill>
          <a:blip r:embed="rId3"/>
          <a:stretch>
            <a:fillRect/>
          </a:stretch>
        </p:blipFill>
        <p:spPr>
          <a:xfrm>
            <a:off x="502920" y="1371600"/>
            <a:ext cx="640080" cy="640080"/>
          </a:xfrm>
          <a:prstGeom prst="rect">
            <a:avLst/>
          </a:prstGeom>
        </p:spPr>
      </p:pic>
      <p:sp>
        <p:nvSpPr>
          <p:cNvPr id="6" name="Text 3">
            <a:extLst>
              <a:ext uri="{FF2B5EF4-FFF2-40B4-BE49-F238E27FC236}">
                <a16:creationId xmlns:a16="http://schemas.microsoft.com/office/drawing/2014/main" id="{C852DAFB-73C8-40EF-9C97-4AD970E5F80D}"/>
              </a:ext>
            </a:extLst>
          </p:cNvPr>
          <p:cNvSpPr>
            <a:spLocks noGrp="1"/>
          </p:cNvSpPr>
          <p:nvPr/>
        </p:nvSpPr>
        <p:spPr>
          <a:xfrm>
            <a:off x="502920" y="2148840"/>
            <a:ext cx="7589520" cy="1737360"/>
          </a:xfrm>
          <a:prstGeom prst="rect">
            <a:avLst/>
          </a:prstGeom>
          <a:noFill/>
        </p:spPr>
        <p:txBody>
          <a:bodyPr wrap="square" lIns="0" tIns="0" rIns="0" bIns="0" anchor="t"/>
          <a:lstStyle/>
          <a:p>
            <a:pPr marL="0" indent="0" algn="l">
              <a:lnSpc>
                <a:spcPct val="100000"/>
              </a:lnSpc>
              <a:buNone/>
            </a:pPr>
            <a:r>
              <a:rPr sz="3400" b="1" dirty="0">
                <a:solidFill>
                  <a:srgbClr val="FFFFFF"/>
                </a:solidFill>
                <a:latin typeface="Calibri"/>
                <a:ea typeface="Calibri"/>
                <a:cs typeface="Calibri"/>
              </a:rPr>
              <a:t>Tell the same story three times. </a:t>
            </a:r>
            <a:endParaRPr lang="en-US" sz="3400" b="1" dirty="0">
              <a:solidFill>
                <a:srgbClr val="FFFFFF"/>
              </a:solidFill>
              <a:latin typeface="Calibri"/>
              <a:ea typeface="Calibri"/>
              <a:cs typeface="Calibri"/>
            </a:endParaRPr>
          </a:p>
          <a:p>
            <a:pPr marL="0" indent="0" algn="l">
              <a:lnSpc>
                <a:spcPct val="100000"/>
              </a:lnSpc>
              <a:buNone/>
            </a:pPr>
            <a:r>
              <a:rPr lang="en-US" sz="3400" b="1" dirty="0">
                <a:solidFill>
                  <a:srgbClr val="FFFFFF"/>
                </a:solidFill>
                <a:latin typeface="Calibri"/>
                <a:ea typeface="Calibri"/>
                <a:cs typeface="Calibri"/>
              </a:rPr>
              <a:t>But shrink time to build fluency.</a:t>
            </a:r>
            <a:endParaRPr sz="3400" dirty="0"/>
          </a:p>
        </p:txBody>
      </p:sp>
      <p:sp>
        <p:nvSpPr>
          <p:cNvPr id="7" name="Text 4">
            <a:extLst>
              <a:ext uri="{FF2B5EF4-FFF2-40B4-BE49-F238E27FC236}">
                <a16:creationId xmlns:a16="http://schemas.microsoft.com/office/drawing/2014/main" id="{5FA66E25-909A-4C4B-8420-21D317E9CE8C}"/>
              </a:ext>
            </a:extLst>
          </p:cNvPr>
          <p:cNvSpPr>
            <a:spLocks noGrp="1"/>
          </p:cNvSpPr>
          <p:nvPr/>
        </p:nvSpPr>
        <p:spPr>
          <a:xfrm>
            <a:off x="502920" y="3886200"/>
            <a:ext cx="7863840" cy="548640"/>
          </a:xfrm>
          <a:prstGeom prst="rect">
            <a:avLst/>
          </a:prstGeom>
          <a:noFill/>
        </p:spPr>
        <p:txBody>
          <a:bodyPr wrap="square" lIns="0" tIns="0" rIns="0" bIns="0" anchor="ctr"/>
          <a:lstStyle/>
          <a:p>
            <a:pPr marL="0" indent="0" algn="l">
              <a:buNone/>
            </a:pPr>
            <a:r>
              <a:rPr sz="1500">
                <a:solidFill>
                  <a:srgbClr val="C5CCD6"/>
                </a:solidFill>
                <a:latin typeface="Cambria"/>
                <a:ea typeface="Cambria"/>
                <a:cs typeface="Cambria"/>
              </a:rPr>
              <a:t>Demo 2</a:t>
            </a:r>
            <a:endParaRPr sz="1500"/>
          </a:p>
        </p:txBody>
      </p:sp>
      <p:pic>
        <p:nvPicPr>
          <p:cNvPr id="956" name="BYU Linguistics logo" descr="BYU Linguistics logo"/>
          <p:cNvPicPr>
            <a:picLocks noChangeAspect="1"/>
          </p:cNvPicPr>
          <p:nvPr/>
        </p:nvPicPr>
        <p:blipFill>
          <a:blip r:embed="rId4"/>
          <a:stretch>
            <a:fillRect/>
          </a:stretch>
        </p:blipFill>
        <p:spPr>
          <a:xfrm>
            <a:off x="7269480" y="457200"/>
            <a:ext cx="1371600" cy="797379"/>
          </a:xfrm>
          <a:prstGeom prst="rect">
            <a:avLst/>
          </a:prstGeom>
        </p:spPr>
      </p:pic>
    </p:spTree>
    <p:extLst>
      <p:ext uri="{BB962C8B-B14F-4D97-AF65-F5344CB8AC3E}">
        <p14:creationId xmlns:p14="http://schemas.microsoft.com/office/powerpoint/2010/main" val="8107010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B33D405-2975-4F26-B459-9BA55ABD2232}"/>
              </a:ext>
            </a:extLst>
          </p:cNvPr>
          <p:cNvSpPr>
            <a:spLocks noGrp="1"/>
          </p:cNvSpPr>
          <p:nvPr/>
        </p:nvSpPr>
        <p:spPr>
          <a:xfrm>
            <a:off x="411480" y="647198"/>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Say it again. Faster. New partner.</a:t>
            </a:r>
            <a:endParaRPr sz="3400" dirty="0"/>
          </a:p>
        </p:txBody>
      </p:sp>
      <p:sp>
        <p:nvSpPr>
          <p:cNvPr id="4" name="Text 2">
            <a:extLst>
              <a:ext uri="{FF2B5EF4-FFF2-40B4-BE49-F238E27FC236}">
                <a16:creationId xmlns:a16="http://schemas.microsoft.com/office/drawing/2014/main" id="{1F848975-99ED-46EA-A573-5AFFD87C7123}"/>
              </a:ext>
            </a:extLst>
          </p:cNvPr>
          <p:cNvSpPr>
            <a:spLocks noGrp="1"/>
          </p:cNvSpPr>
          <p:nvPr/>
        </p:nvSpPr>
        <p:spPr>
          <a:xfrm>
            <a:off x="502920" y="1365002"/>
            <a:ext cx="4993309" cy="2894764"/>
          </a:xfrm>
          <a:prstGeom prst="rect">
            <a:avLst/>
          </a:prstGeom>
          <a:noFill/>
        </p:spPr>
        <p:txBody>
          <a:bodyPr wrap="square" lIns="0" tIns="0" rIns="0" bIns="0" anchor="t"/>
          <a:lstStyle/>
          <a:p>
            <a:pPr marL="0" indent="0" algn="l">
              <a:lnSpc>
                <a:spcPct val="112000"/>
              </a:lnSpc>
              <a:buNone/>
            </a:pPr>
            <a:r>
              <a:rPr sz="2000" dirty="0">
                <a:solidFill>
                  <a:srgbClr val="1F2937"/>
                </a:solidFill>
                <a:latin typeface="Cambria"/>
                <a:ea typeface="Cambria"/>
                <a:cs typeface="Cambria"/>
              </a:rPr>
              <a:t>Students repeat the same talk with less time each round</a:t>
            </a:r>
            <a:r>
              <a:rPr lang="en-US" sz="2000" dirty="0">
                <a:solidFill>
                  <a:srgbClr val="1F2937"/>
                </a:solidFill>
                <a:latin typeface="Cambria"/>
                <a:ea typeface="Cambria"/>
                <a:cs typeface="Cambria"/>
              </a:rPr>
              <a:t>.</a:t>
            </a:r>
          </a:p>
          <a:p>
            <a:pPr marL="0" indent="0" algn="l">
              <a:lnSpc>
                <a:spcPct val="112000"/>
              </a:lnSpc>
              <a:buNone/>
            </a:pPr>
            <a:endParaRPr lang="en-US" sz="2000" dirty="0">
              <a:solidFill>
                <a:srgbClr val="1F2937"/>
              </a:solidFill>
              <a:latin typeface="Cambria"/>
              <a:ea typeface="Cambria"/>
              <a:cs typeface="Cambria"/>
            </a:endParaRPr>
          </a:p>
          <a:p>
            <a:pPr marL="0" indent="0" algn="l">
              <a:lnSpc>
                <a:spcPct val="112000"/>
              </a:lnSpc>
              <a:buNone/>
            </a:pPr>
            <a:r>
              <a:rPr lang="en-US" sz="2000" dirty="0">
                <a:solidFill>
                  <a:srgbClr val="1F2937"/>
                </a:solidFill>
                <a:latin typeface="Cambria"/>
                <a:ea typeface="Cambria"/>
                <a:cs typeface="Cambria"/>
              </a:rPr>
              <a:t>T</a:t>
            </a:r>
            <a:r>
              <a:rPr sz="2000" dirty="0">
                <a:solidFill>
                  <a:srgbClr val="1F2937"/>
                </a:solidFill>
                <a:latin typeface="Cambria"/>
                <a:ea typeface="Cambria"/>
                <a:cs typeface="Cambria"/>
              </a:rPr>
              <a:t>he words start to come automatically. </a:t>
            </a:r>
            <a:endParaRPr lang="en-US" sz="2000" dirty="0">
              <a:solidFill>
                <a:srgbClr val="1F2937"/>
              </a:solidFill>
              <a:latin typeface="Cambria"/>
              <a:ea typeface="Cambria"/>
              <a:cs typeface="Cambria"/>
            </a:endParaRPr>
          </a:p>
          <a:p>
            <a:pPr marL="0" indent="0" algn="l">
              <a:lnSpc>
                <a:spcPct val="112000"/>
              </a:lnSpc>
              <a:buNone/>
            </a:pPr>
            <a:endParaRPr lang="en-US" sz="2000" dirty="0">
              <a:solidFill>
                <a:srgbClr val="1F2937"/>
              </a:solidFill>
              <a:latin typeface="Cambria"/>
              <a:ea typeface="Cambria"/>
              <a:cs typeface="Cambria"/>
            </a:endParaRPr>
          </a:p>
          <a:p>
            <a:pPr marL="0" indent="0" algn="l">
              <a:lnSpc>
                <a:spcPct val="112000"/>
              </a:lnSpc>
              <a:buNone/>
            </a:pPr>
            <a:r>
              <a:rPr sz="2000" dirty="0">
                <a:solidFill>
                  <a:srgbClr val="1F2937"/>
                </a:solidFill>
                <a:latin typeface="Cambria"/>
                <a:ea typeface="Cambria"/>
                <a:cs typeface="Cambria"/>
              </a:rPr>
              <a:t>The classic version is 4/3/2: the same talk to three partners — four minutes, then three, then two.</a:t>
            </a:r>
            <a:endParaRPr lang="en-US" sz="2000" dirty="0">
              <a:solidFill>
                <a:srgbClr val="1F2937"/>
              </a:solidFill>
              <a:latin typeface="Cambria"/>
              <a:ea typeface="Cambria"/>
              <a:cs typeface="Cambria"/>
            </a:endParaRPr>
          </a:p>
          <a:p>
            <a:pPr marL="0" indent="0" algn="l">
              <a:lnSpc>
                <a:spcPct val="112000"/>
              </a:lnSpc>
              <a:buNone/>
            </a:pPr>
            <a:endParaRPr lang="en-US" sz="2000" dirty="0">
              <a:solidFill>
                <a:srgbClr val="1F2937"/>
              </a:solidFill>
              <a:latin typeface="Cambria"/>
            </a:endParaRPr>
          </a:p>
          <a:p>
            <a:pPr marL="0" indent="0" algn="l">
              <a:lnSpc>
                <a:spcPct val="112000"/>
              </a:lnSpc>
              <a:buNone/>
            </a:pPr>
            <a:r>
              <a:rPr lang="en-US" sz="2000" dirty="0">
                <a:solidFill>
                  <a:srgbClr val="1F2937"/>
                </a:solidFill>
                <a:latin typeface="Cambria"/>
              </a:rPr>
              <a:t>We will do shorter times for demo purposes.</a:t>
            </a:r>
            <a:endParaRPr sz="2000" dirty="0"/>
          </a:p>
        </p:txBody>
      </p:sp>
      <p:sp>
        <p:nvSpPr>
          <p:cNvPr id="6" name="Shape 4">
            <a:extLst>
              <a:ext uri="{FF2B5EF4-FFF2-40B4-BE49-F238E27FC236}">
                <a16:creationId xmlns:a16="http://schemas.microsoft.com/office/drawing/2014/main" id="{ECC0C02E-2327-4C86-A487-08E1F38B02C1}"/>
              </a:ext>
            </a:extLst>
          </p:cNvPr>
          <p:cNvSpPr>
            <a:spLocks noGrp="1"/>
          </p:cNvSpPr>
          <p:nvPr/>
        </p:nvSpPr>
        <p:spPr>
          <a:xfrm>
            <a:off x="5908513" y="1113542"/>
            <a:ext cx="502920" cy="502920"/>
          </a:xfrm>
          <a:prstGeom prst="ellipse">
            <a:avLst/>
          </a:prstGeom>
          <a:solidFill>
            <a:srgbClr val="0062B8"/>
          </a:solidFill>
          <a:ln w="12700">
            <a:solidFill>
              <a:srgbClr val="002E5D"/>
            </a:solidFill>
            <a:prstDash val="solid"/>
          </a:ln>
        </p:spPr>
        <p:txBody>
          <a:bodyPr/>
          <a:lstStyle/>
          <a:p>
            <a:endParaRPr/>
          </a:p>
        </p:txBody>
      </p:sp>
      <p:pic>
        <p:nvPicPr>
          <p:cNvPr id="25" name="Image 0"/>
          <p:cNvPicPr>
            <a:picLocks noChangeAspect="1"/>
          </p:cNvPicPr>
          <p:nvPr/>
        </p:nvPicPr>
        <p:blipFill>
          <a:blip r:embed="rId3"/>
          <a:stretch>
            <a:fillRect/>
          </a:stretch>
        </p:blipFill>
        <p:spPr>
          <a:xfrm>
            <a:off x="6039272" y="1244301"/>
            <a:ext cx="241402" cy="241402"/>
          </a:xfrm>
          <a:prstGeom prst="rect">
            <a:avLst/>
          </a:prstGeom>
        </p:spPr>
      </p:pic>
      <p:sp>
        <p:nvSpPr>
          <p:cNvPr id="8" name="Shape 5">
            <a:extLst>
              <a:ext uri="{FF2B5EF4-FFF2-40B4-BE49-F238E27FC236}">
                <a16:creationId xmlns:a16="http://schemas.microsoft.com/office/drawing/2014/main" id="{F2C0DFC2-2FBE-4F6E-A817-5F7391CA7FDE}"/>
              </a:ext>
            </a:extLst>
          </p:cNvPr>
          <p:cNvSpPr>
            <a:spLocks noGrp="1"/>
          </p:cNvSpPr>
          <p:nvPr/>
        </p:nvSpPr>
        <p:spPr>
          <a:xfrm>
            <a:off x="5908513" y="1845062"/>
            <a:ext cx="868680" cy="100584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9" name="Text 6">
            <a:extLst>
              <a:ext uri="{FF2B5EF4-FFF2-40B4-BE49-F238E27FC236}">
                <a16:creationId xmlns:a16="http://schemas.microsoft.com/office/drawing/2014/main" id="{D16977F1-3AEC-4C31-9780-1B819336372A}"/>
              </a:ext>
            </a:extLst>
          </p:cNvPr>
          <p:cNvSpPr>
            <a:spLocks noGrp="1"/>
          </p:cNvSpPr>
          <p:nvPr/>
        </p:nvSpPr>
        <p:spPr>
          <a:xfrm>
            <a:off x="5908513" y="1954790"/>
            <a:ext cx="868680" cy="548640"/>
          </a:xfrm>
          <a:prstGeom prst="rect">
            <a:avLst/>
          </a:prstGeom>
          <a:noFill/>
        </p:spPr>
        <p:txBody>
          <a:bodyPr wrap="square" lIns="0" tIns="0" rIns="0" bIns="0" anchor="ctr"/>
          <a:lstStyle/>
          <a:p>
            <a:pPr marL="0" indent="0" algn="ctr">
              <a:buNone/>
            </a:pPr>
            <a:r>
              <a:rPr sz="3000" b="1">
                <a:solidFill>
                  <a:srgbClr val="002E5D"/>
                </a:solidFill>
                <a:latin typeface="Calibri"/>
                <a:ea typeface="Calibri"/>
                <a:cs typeface="Calibri"/>
              </a:rPr>
              <a:t>4</a:t>
            </a:r>
            <a:endParaRPr sz="3000"/>
          </a:p>
        </p:txBody>
      </p:sp>
      <p:sp>
        <p:nvSpPr>
          <p:cNvPr id="10" name="Text 7">
            <a:extLst>
              <a:ext uri="{FF2B5EF4-FFF2-40B4-BE49-F238E27FC236}">
                <a16:creationId xmlns:a16="http://schemas.microsoft.com/office/drawing/2014/main" id="{26825389-AB63-4C4A-B56D-2FC96638891A}"/>
              </a:ext>
            </a:extLst>
          </p:cNvPr>
          <p:cNvSpPr>
            <a:spLocks noGrp="1"/>
          </p:cNvSpPr>
          <p:nvPr/>
        </p:nvSpPr>
        <p:spPr>
          <a:xfrm>
            <a:off x="5908513" y="2503430"/>
            <a:ext cx="868680" cy="274320"/>
          </a:xfrm>
          <a:prstGeom prst="rect">
            <a:avLst/>
          </a:prstGeom>
          <a:noFill/>
        </p:spPr>
        <p:txBody>
          <a:bodyPr wrap="square" lIns="0" tIns="0" rIns="0" bIns="0" anchor="ctr"/>
          <a:lstStyle/>
          <a:p>
            <a:pPr marL="0" indent="0" algn="ctr">
              <a:buNone/>
            </a:pPr>
            <a:r>
              <a:rPr sz="1000">
                <a:solidFill>
                  <a:srgbClr val="4B5563"/>
                </a:solidFill>
                <a:latin typeface="Calibri"/>
                <a:ea typeface="Calibri"/>
                <a:cs typeface="Calibri"/>
              </a:rPr>
              <a:t>min</a:t>
            </a:r>
            <a:endParaRPr sz="1000"/>
          </a:p>
        </p:txBody>
      </p:sp>
      <p:sp>
        <p:nvSpPr>
          <p:cNvPr id="11" name="Text 8">
            <a:extLst>
              <a:ext uri="{FF2B5EF4-FFF2-40B4-BE49-F238E27FC236}">
                <a16:creationId xmlns:a16="http://schemas.microsoft.com/office/drawing/2014/main" id="{87A8DD0B-0E0E-4E3F-B60D-3BDB4D4C7314}"/>
              </a:ext>
            </a:extLst>
          </p:cNvPr>
          <p:cNvSpPr>
            <a:spLocks noGrp="1"/>
          </p:cNvSpPr>
          <p:nvPr/>
        </p:nvSpPr>
        <p:spPr>
          <a:xfrm>
            <a:off x="6777193" y="1845062"/>
            <a:ext cx="164592" cy="1005840"/>
          </a:xfrm>
          <a:prstGeom prst="rect">
            <a:avLst/>
          </a:prstGeom>
          <a:noFill/>
        </p:spPr>
        <p:txBody>
          <a:bodyPr wrap="square" lIns="0" tIns="0" rIns="0" bIns="0" anchor="ctr"/>
          <a:lstStyle/>
          <a:p>
            <a:pPr marL="0" indent="0" algn="ctr">
              <a:buNone/>
            </a:pPr>
            <a:r>
              <a:rPr sz="1600" b="1">
                <a:solidFill>
                  <a:srgbClr val="0062B8"/>
                </a:solidFill>
                <a:latin typeface="Cambria"/>
                <a:ea typeface="Cambria"/>
                <a:cs typeface="Cambria"/>
              </a:rPr>
              <a:t>→</a:t>
            </a:r>
            <a:endParaRPr sz="1600"/>
          </a:p>
        </p:txBody>
      </p:sp>
      <p:sp>
        <p:nvSpPr>
          <p:cNvPr id="12" name="Shape 9">
            <a:extLst>
              <a:ext uri="{FF2B5EF4-FFF2-40B4-BE49-F238E27FC236}">
                <a16:creationId xmlns:a16="http://schemas.microsoft.com/office/drawing/2014/main" id="{FF203213-E991-4887-AE7A-0DB1DC00CF54}"/>
              </a:ext>
            </a:extLst>
          </p:cNvPr>
          <p:cNvSpPr>
            <a:spLocks noGrp="1"/>
          </p:cNvSpPr>
          <p:nvPr/>
        </p:nvSpPr>
        <p:spPr>
          <a:xfrm>
            <a:off x="6941785" y="1845062"/>
            <a:ext cx="868680" cy="1005840"/>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3" name="Text 10">
            <a:extLst>
              <a:ext uri="{FF2B5EF4-FFF2-40B4-BE49-F238E27FC236}">
                <a16:creationId xmlns:a16="http://schemas.microsoft.com/office/drawing/2014/main" id="{CC4C4DFE-F2BB-4C07-8985-83313F79F729}"/>
              </a:ext>
            </a:extLst>
          </p:cNvPr>
          <p:cNvSpPr>
            <a:spLocks noGrp="1"/>
          </p:cNvSpPr>
          <p:nvPr/>
        </p:nvSpPr>
        <p:spPr>
          <a:xfrm>
            <a:off x="6941785" y="1954790"/>
            <a:ext cx="868680" cy="548640"/>
          </a:xfrm>
          <a:prstGeom prst="rect">
            <a:avLst/>
          </a:prstGeom>
          <a:noFill/>
        </p:spPr>
        <p:txBody>
          <a:bodyPr wrap="square" lIns="0" tIns="0" rIns="0" bIns="0" anchor="ctr"/>
          <a:lstStyle/>
          <a:p>
            <a:pPr marL="0" indent="0" algn="ctr">
              <a:buNone/>
            </a:pPr>
            <a:r>
              <a:rPr sz="3000" b="1">
                <a:solidFill>
                  <a:srgbClr val="002E5D"/>
                </a:solidFill>
                <a:latin typeface="Calibri"/>
                <a:ea typeface="Calibri"/>
                <a:cs typeface="Calibri"/>
              </a:rPr>
              <a:t>3</a:t>
            </a:r>
            <a:endParaRPr sz="3000"/>
          </a:p>
        </p:txBody>
      </p:sp>
      <p:sp>
        <p:nvSpPr>
          <p:cNvPr id="14" name="Text 11">
            <a:extLst>
              <a:ext uri="{FF2B5EF4-FFF2-40B4-BE49-F238E27FC236}">
                <a16:creationId xmlns:a16="http://schemas.microsoft.com/office/drawing/2014/main" id="{9B444736-D703-4CB9-834F-A3D1B94C008C}"/>
              </a:ext>
            </a:extLst>
          </p:cNvPr>
          <p:cNvSpPr>
            <a:spLocks noGrp="1"/>
          </p:cNvSpPr>
          <p:nvPr/>
        </p:nvSpPr>
        <p:spPr>
          <a:xfrm>
            <a:off x="6941785" y="2503430"/>
            <a:ext cx="868680" cy="274320"/>
          </a:xfrm>
          <a:prstGeom prst="rect">
            <a:avLst/>
          </a:prstGeom>
          <a:noFill/>
        </p:spPr>
        <p:txBody>
          <a:bodyPr wrap="square" lIns="0" tIns="0" rIns="0" bIns="0" anchor="ctr"/>
          <a:lstStyle/>
          <a:p>
            <a:pPr marL="0" indent="0" algn="ctr">
              <a:buNone/>
            </a:pPr>
            <a:r>
              <a:rPr sz="1000">
                <a:solidFill>
                  <a:srgbClr val="4B5563"/>
                </a:solidFill>
                <a:latin typeface="Calibri"/>
                <a:ea typeface="Calibri"/>
                <a:cs typeface="Calibri"/>
              </a:rPr>
              <a:t>min</a:t>
            </a:r>
            <a:endParaRPr sz="1000"/>
          </a:p>
        </p:txBody>
      </p:sp>
      <p:sp>
        <p:nvSpPr>
          <p:cNvPr id="15" name="Text 12">
            <a:extLst>
              <a:ext uri="{FF2B5EF4-FFF2-40B4-BE49-F238E27FC236}">
                <a16:creationId xmlns:a16="http://schemas.microsoft.com/office/drawing/2014/main" id="{E2AA20BE-7973-475F-8B44-0C6A0CF1E48B}"/>
              </a:ext>
            </a:extLst>
          </p:cNvPr>
          <p:cNvSpPr>
            <a:spLocks noGrp="1"/>
          </p:cNvSpPr>
          <p:nvPr/>
        </p:nvSpPr>
        <p:spPr>
          <a:xfrm>
            <a:off x="7810465" y="1845062"/>
            <a:ext cx="164592" cy="1005840"/>
          </a:xfrm>
          <a:prstGeom prst="rect">
            <a:avLst/>
          </a:prstGeom>
          <a:noFill/>
        </p:spPr>
        <p:txBody>
          <a:bodyPr wrap="square" lIns="0" tIns="0" rIns="0" bIns="0" anchor="ctr"/>
          <a:lstStyle/>
          <a:p>
            <a:pPr marL="0" indent="0" algn="ctr">
              <a:buNone/>
            </a:pPr>
            <a:r>
              <a:rPr sz="1600" b="1">
                <a:solidFill>
                  <a:srgbClr val="0062B8"/>
                </a:solidFill>
                <a:latin typeface="Cambria"/>
                <a:ea typeface="Cambria"/>
                <a:cs typeface="Cambria"/>
              </a:rPr>
              <a:t>→</a:t>
            </a:r>
            <a:endParaRPr sz="1600"/>
          </a:p>
        </p:txBody>
      </p:sp>
      <p:sp>
        <p:nvSpPr>
          <p:cNvPr id="16" name="Shape 13">
            <a:extLst>
              <a:ext uri="{FF2B5EF4-FFF2-40B4-BE49-F238E27FC236}">
                <a16:creationId xmlns:a16="http://schemas.microsoft.com/office/drawing/2014/main" id="{3E46B421-8FE0-4D69-9307-F89C179ABC39}"/>
              </a:ext>
            </a:extLst>
          </p:cNvPr>
          <p:cNvSpPr>
            <a:spLocks noGrp="1"/>
          </p:cNvSpPr>
          <p:nvPr/>
        </p:nvSpPr>
        <p:spPr>
          <a:xfrm>
            <a:off x="7975057" y="1845062"/>
            <a:ext cx="868680" cy="1005840"/>
          </a:xfrm>
          <a:prstGeom prst="rect">
            <a:avLst/>
          </a:prstGeom>
          <a:solidFill>
            <a:srgbClr val="0062B8"/>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7" name="Text 14">
            <a:extLst>
              <a:ext uri="{FF2B5EF4-FFF2-40B4-BE49-F238E27FC236}">
                <a16:creationId xmlns:a16="http://schemas.microsoft.com/office/drawing/2014/main" id="{1D4B35E1-3162-4FA7-B8B7-041F31187F64}"/>
              </a:ext>
            </a:extLst>
          </p:cNvPr>
          <p:cNvSpPr>
            <a:spLocks noGrp="1"/>
          </p:cNvSpPr>
          <p:nvPr/>
        </p:nvSpPr>
        <p:spPr>
          <a:xfrm>
            <a:off x="7975057" y="1954790"/>
            <a:ext cx="868680" cy="548640"/>
          </a:xfrm>
          <a:prstGeom prst="rect">
            <a:avLst/>
          </a:prstGeom>
          <a:noFill/>
        </p:spPr>
        <p:txBody>
          <a:bodyPr wrap="square" lIns="0" tIns="0" rIns="0" bIns="0" anchor="ctr"/>
          <a:lstStyle/>
          <a:p>
            <a:pPr marL="0" indent="0" algn="ctr">
              <a:buNone/>
            </a:pPr>
            <a:r>
              <a:rPr sz="3000" b="1">
                <a:solidFill>
                  <a:srgbClr val="FFFFFF"/>
                </a:solidFill>
                <a:latin typeface="Calibri"/>
                <a:ea typeface="Calibri"/>
                <a:cs typeface="Calibri"/>
              </a:rPr>
              <a:t>2</a:t>
            </a:r>
            <a:endParaRPr sz="3000"/>
          </a:p>
        </p:txBody>
      </p:sp>
      <p:sp>
        <p:nvSpPr>
          <p:cNvPr id="18" name="Text 15">
            <a:extLst>
              <a:ext uri="{FF2B5EF4-FFF2-40B4-BE49-F238E27FC236}">
                <a16:creationId xmlns:a16="http://schemas.microsoft.com/office/drawing/2014/main" id="{D6B11D45-271F-4E52-89B5-9AB9CFFE3FAC}"/>
              </a:ext>
            </a:extLst>
          </p:cNvPr>
          <p:cNvSpPr>
            <a:spLocks noGrp="1"/>
          </p:cNvSpPr>
          <p:nvPr/>
        </p:nvSpPr>
        <p:spPr>
          <a:xfrm>
            <a:off x="7975057" y="2503430"/>
            <a:ext cx="868680" cy="274320"/>
          </a:xfrm>
          <a:prstGeom prst="rect">
            <a:avLst/>
          </a:prstGeom>
          <a:noFill/>
        </p:spPr>
        <p:txBody>
          <a:bodyPr wrap="square" lIns="0" tIns="0" rIns="0" bIns="0" anchor="ctr"/>
          <a:lstStyle/>
          <a:p>
            <a:pPr marL="0" indent="0" algn="ctr">
              <a:buNone/>
            </a:pPr>
            <a:r>
              <a:rPr sz="1000">
                <a:solidFill>
                  <a:srgbClr val="E6EFF9"/>
                </a:solidFill>
                <a:latin typeface="Calibri"/>
                <a:ea typeface="Calibri"/>
                <a:cs typeface="Calibri"/>
              </a:rPr>
              <a:t>min</a:t>
            </a:r>
            <a:endParaRPr sz="1000"/>
          </a:p>
        </p:txBody>
      </p:sp>
      <p:pic>
        <p:nvPicPr>
          <p:cNvPr id="19" name="Picture 18">
            <a:extLst>
              <a:ext uri="{FF2B5EF4-FFF2-40B4-BE49-F238E27FC236}">
                <a16:creationId xmlns:a16="http://schemas.microsoft.com/office/drawing/2014/main" id="{A75A21C5-E584-09DE-BA73-ECD594AB267E}"/>
              </a:ext>
            </a:extLst>
          </p:cNvPr>
          <p:cNvPicPr>
            <a:picLocks noChangeAspect="1"/>
          </p:cNvPicPr>
          <p:nvPr/>
        </p:nvPicPr>
        <p:blipFill>
          <a:blip r:embed="rId4"/>
          <a:stretch>
            <a:fillRect/>
          </a:stretch>
        </p:blipFill>
        <p:spPr>
          <a:xfrm>
            <a:off x="5791735" y="3012783"/>
            <a:ext cx="2178040" cy="892095"/>
          </a:xfrm>
          <a:prstGeom prst="rect">
            <a:avLst/>
          </a:prstGeom>
        </p:spPr>
      </p:pic>
      <p:pic>
        <p:nvPicPr>
          <p:cNvPr id="20" name="Picture 19">
            <a:extLst>
              <a:ext uri="{FF2B5EF4-FFF2-40B4-BE49-F238E27FC236}">
                <a16:creationId xmlns:a16="http://schemas.microsoft.com/office/drawing/2014/main" id="{0EDC03AD-6975-5B23-5415-D1B6A8E073BF}"/>
              </a:ext>
            </a:extLst>
          </p:cNvPr>
          <p:cNvPicPr>
            <a:picLocks noChangeAspect="1"/>
          </p:cNvPicPr>
          <p:nvPr/>
        </p:nvPicPr>
        <p:blipFill>
          <a:blip r:embed="rId5"/>
          <a:stretch>
            <a:fillRect/>
          </a:stretch>
        </p:blipFill>
        <p:spPr>
          <a:xfrm>
            <a:off x="5818283" y="3904878"/>
            <a:ext cx="1829438" cy="749312"/>
          </a:xfrm>
          <a:prstGeom prst="rect">
            <a:avLst/>
          </a:prstGeom>
        </p:spPr>
      </p:pic>
    </p:spTree>
    <p:extLst>
      <p:ext uri="{BB962C8B-B14F-4D97-AF65-F5344CB8AC3E}">
        <p14:creationId xmlns:p14="http://schemas.microsoft.com/office/powerpoint/2010/main" val="816656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2A04-FBC4-F558-B0AF-BAD827BE958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BAEDD69-045F-C7CF-0BE9-14DF10D641B6}"/>
              </a:ext>
            </a:extLst>
          </p:cNvPr>
          <p:cNvPicPr>
            <a:picLocks noChangeAspect="1"/>
          </p:cNvPicPr>
          <p:nvPr/>
        </p:nvPicPr>
        <p:blipFill>
          <a:blip r:embed="rId3"/>
          <a:srcRect t="20949" b="13172"/>
          <a:stretch>
            <a:fillRect/>
          </a:stretch>
        </p:blipFill>
        <p:spPr>
          <a:xfrm>
            <a:off x="342900" y="342900"/>
            <a:ext cx="7705947" cy="4061242"/>
          </a:xfrm>
          <a:prstGeom prst="rect">
            <a:avLst/>
          </a:prstGeom>
        </p:spPr>
      </p:pic>
    </p:spTree>
    <p:extLst>
      <p:ext uri="{BB962C8B-B14F-4D97-AF65-F5344CB8AC3E}">
        <p14:creationId xmlns:p14="http://schemas.microsoft.com/office/powerpoint/2010/main" val="4690425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E5D"/>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C5DF658-5773-599D-1AB8-697B16F9E6CF}"/>
              </a:ext>
            </a:extLst>
          </p:cNvPr>
          <p:cNvSpPr>
            <a:spLocks noGrp="1"/>
          </p:cNvSpPr>
          <p:nvPr/>
        </p:nvSpPr>
        <p:spPr>
          <a:xfrm>
            <a:off x="1465326" y="0"/>
            <a:ext cx="6213348" cy="51435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eform: Shape 9">
            <a:extLst>
              <a:ext uri="{FF2B5EF4-FFF2-40B4-BE49-F238E27FC236}">
                <a16:creationId xmlns:a16="http://schemas.microsoft.com/office/drawing/2014/main" id="{D4AC68EB-3DDC-17B0-23F6-B3F2E57756F0}"/>
              </a:ext>
            </a:extLst>
          </p:cNvPr>
          <p:cNvSpPr>
            <a:spLocks noGrp="1"/>
          </p:cNvSpPr>
          <p:nvPr/>
        </p:nvSpPr>
        <p:spPr>
          <a:xfrm>
            <a:off x="1588770" y="0"/>
            <a:ext cx="5966460" cy="51435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 name="TextBox 2">
            <a:extLst>
              <a:ext uri="{FF2B5EF4-FFF2-40B4-BE49-F238E27FC236}">
                <a16:creationId xmlns:a16="http://schemas.microsoft.com/office/drawing/2014/main" id="{E8E213E7-1DE6-F97F-A971-F3B43905F1B2}"/>
              </a:ext>
            </a:extLst>
          </p:cNvPr>
          <p:cNvSpPr>
            <a:spLocks noGrp="1"/>
          </p:cNvSpPr>
          <p:nvPr/>
        </p:nvSpPr>
        <p:spPr>
          <a:xfrm>
            <a:off x="1916723" y="1418043"/>
            <a:ext cx="5310553" cy="2980593"/>
          </a:xfrm>
          <a:prstGeom prst="rect">
            <a:avLst/>
          </a:prstGeom>
        </p:spPr>
        <p:txBody>
          <a:bodyPr vert="horz" lIns="91440" tIns="45720" rIns="91440" bIns="45720" anchor="ctr">
            <a:normAutofit/>
          </a:bodyPr>
          <a:lstStyle/>
          <a:p>
            <a:pPr algn="ctr">
              <a:lnSpc>
                <a:spcPct val="90000"/>
              </a:lnSpc>
              <a:spcBef>
                <a:spcPct val="0"/>
              </a:spcBef>
              <a:spcAft>
                <a:spcPts val="600"/>
              </a:spcAft>
              <a:buNone/>
            </a:pPr>
            <a:r>
              <a:rPr sz="4100" dirty="0">
                <a:solidFill>
                  <a:schemeClr val="bg1">
                    <a:lumMod val="95000"/>
                    <a:lumOff val="5000"/>
                  </a:schemeClr>
                </a:solidFill>
                <a:latin typeface="+mj-lt"/>
                <a:ea typeface="+mj-lt"/>
                <a:cs typeface="+mj-lt"/>
              </a:rPr>
              <a:t>Tell about the best meal you had recently—</a:t>
            </a:r>
            <a:r>
              <a:rPr sz="4100" dirty="0">
                <a:solidFill>
                  <a:srgbClr val="0062B8"/>
                </a:solidFill>
                <a:latin typeface="+mj-lt"/>
                <a:ea typeface="+mj-lt"/>
                <a:cs typeface="+mj-lt"/>
              </a:rPr>
              <a:t>where</a:t>
            </a:r>
            <a:r>
              <a:rPr sz="4100" dirty="0">
                <a:solidFill>
                  <a:schemeClr val="bg1">
                    <a:lumMod val="95000"/>
                    <a:lumOff val="5000"/>
                  </a:schemeClr>
                </a:solidFill>
                <a:latin typeface="+mj-lt"/>
                <a:ea typeface="+mj-lt"/>
                <a:cs typeface="+mj-lt"/>
              </a:rPr>
              <a:t> you ate, </a:t>
            </a:r>
            <a:r>
              <a:rPr sz="4100" dirty="0">
                <a:solidFill>
                  <a:srgbClr val="0062B8"/>
                </a:solidFill>
                <a:latin typeface="+mj-lt"/>
                <a:ea typeface="+mj-lt"/>
                <a:cs typeface="+mj-lt"/>
              </a:rPr>
              <a:t>what</a:t>
            </a:r>
            <a:r>
              <a:rPr sz="4100" dirty="0">
                <a:solidFill>
                  <a:schemeClr val="bg1">
                    <a:lumMod val="95000"/>
                    <a:lumOff val="5000"/>
                  </a:schemeClr>
                </a:solidFill>
                <a:latin typeface="+mj-lt"/>
                <a:ea typeface="+mj-lt"/>
                <a:cs typeface="+mj-lt"/>
              </a:rPr>
              <a:t> you ate, </a:t>
            </a:r>
            <a:r>
              <a:rPr sz="4100" dirty="0">
                <a:solidFill>
                  <a:srgbClr val="0062B8"/>
                </a:solidFill>
                <a:latin typeface="+mj-lt"/>
                <a:ea typeface="+mj-lt"/>
                <a:cs typeface="+mj-lt"/>
              </a:rPr>
              <a:t>who</a:t>
            </a:r>
            <a:r>
              <a:rPr sz="4100" dirty="0">
                <a:solidFill>
                  <a:schemeClr val="bg1">
                    <a:lumMod val="95000"/>
                    <a:lumOff val="5000"/>
                  </a:schemeClr>
                </a:solidFill>
                <a:latin typeface="+mj-lt"/>
                <a:ea typeface="+mj-lt"/>
                <a:cs typeface="+mj-lt"/>
              </a:rPr>
              <a:t> you ate it </a:t>
            </a:r>
            <a:r>
              <a:rPr sz="4100" dirty="0">
                <a:solidFill>
                  <a:srgbClr val="0062B8"/>
                </a:solidFill>
                <a:latin typeface="+mj-lt"/>
                <a:ea typeface="+mj-lt"/>
                <a:cs typeface="+mj-lt"/>
              </a:rPr>
              <a:t>with</a:t>
            </a:r>
            <a:r>
              <a:rPr sz="4100" dirty="0">
                <a:solidFill>
                  <a:schemeClr val="bg1">
                    <a:lumMod val="95000"/>
                    <a:lumOff val="5000"/>
                  </a:schemeClr>
                </a:solidFill>
                <a:latin typeface="+mj-lt"/>
                <a:ea typeface="+mj-lt"/>
                <a:cs typeface="+mj-lt"/>
              </a:rPr>
              <a:t>, etc.</a:t>
            </a:r>
          </a:p>
        </p:txBody>
      </p:sp>
      <p:sp>
        <p:nvSpPr>
          <p:cNvPr id="2" name="TextBox 1">
            <a:extLst>
              <a:ext uri="{FF2B5EF4-FFF2-40B4-BE49-F238E27FC236}">
                <a16:creationId xmlns:a16="http://schemas.microsoft.com/office/drawing/2014/main" id="{CA927775-6B39-0A58-0537-7B55E45E7542}"/>
              </a:ext>
            </a:extLst>
          </p:cNvPr>
          <p:cNvSpPr>
            <a:spLocks noGrp="1"/>
          </p:cNvSpPr>
          <p:nvPr/>
        </p:nvSpPr>
        <p:spPr>
          <a:xfrm>
            <a:off x="1531088" y="1233377"/>
            <a:ext cx="184731" cy="369332"/>
          </a:xfrm>
          <a:prstGeom prst="rect">
            <a:avLst/>
          </a:prstGeom>
          <a:noFill/>
        </p:spPr>
        <p:txBody>
          <a:bodyPr wrap="none">
            <a:spAutoFit/>
          </a:bodyPr>
          <a:lstStyle/>
          <a:p>
            <a:endParaRPr/>
          </a:p>
        </p:txBody>
      </p:sp>
    </p:spTree>
    <p:extLst>
      <p:ext uri="{BB962C8B-B14F-4D97-AF65-F5344CB8AC3E}">
        <p14:creationId xmlns:p14="http://schemas.microsoft.com/office/powerpoint/2010/main" val="39569434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0" advTm="120000"/>
    </mc:Choice>
    <mc:Fallback xmlns="">
      <p:transition spd="slow" advTm="120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C9801-6DEF-4846-1FB4-FE9B713E26FA}"/>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EDF868E-0C4A-90F8-F1A1-30D53529041D}"/>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2A4CE339-EDB0-0D13-D117-A60891338731}"/>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156609D8-C986-EA55-BDF8-9400003A126E}"/>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1F38217C-B0C2-E761-83B4-36E7C764B6F3}"/>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pic>
        <p:nvPicPr>
          <p:cNvPr id="6" name="Picture 5" descr="image.png">
            <a:extLst>
              <a:ext uri="{FF2B5EF4-FFF2-40B4-BE49-F238E27FC236}">
                <a16:creationId xmlns:a16="http://schemas.microsoft.com/office/drawing/2014/main" id="{8758187D-47AC-AD17-833D-1FD35EE09A94}"/>
              </a:ext>
            </a:extLst>
          </p:cNvPr>
          <p:cNvPicPr>
            <a:picLocks noChangeAspect="1"/>
          </p:cNvPicPr>
          <p:nvPr/>
        </p:nvPicPr>
        <p:blipFill>
          <a:blip r:embed="rId2"/>
          <a:stretch>
            <a:fillRect/>
          </a:stretch>
        </p:blipFill>
        <p:spPr>
          <a:xfrm>
            <a:off x="1257300" y="3606477"/>
            <a:ext cx="114300" cy="114300"/>
          </a:xfrm>
          <a:prstGeom prst="rect">
            <a:avLst/>
          </a:prstGeom>
        </p:spPr>
      </p:pic>
      <p:pic>
        <p:nvPicPr>
          <p:cNvPr id="7" name="Picture 6" descr="image.png">
            <a:extLst>
              <a:ext uri="{FF2B5EF4-FFF2-40B4-BE49-F238E27FC236}">
                <a16:creationId xmlns:a16="http://schemas.microsoft.com/office/drawing/2014/main" id="{F488700C-EA39-C90F-56B2-29A6A3F0C9C7}"/>
              </a:ext>
            </a:extLst>
          </p:cNvPr>
          <p:cNvPicPr>
            <a:picLocks noChangeAspect="1"/>
          </p:cNvPicPr>
          <p:nvPr/>
        </p:nvPicPr>
        <p:blipFill>
          <a:blip r:embed="rId3"/>
          <a:stretch>
            <a:fillRect/>
          </a:stretch>
        </p:blipFill>
        <p:spPr>
          <a:xfrm>
            <a:off x="3414713" y="3606477"/>
            <a:ext cx="142875" cy="114300"/>
          </a:xfrm>
          <a:prstGeom prst="rect">
            <a:avLst/>
          </a:prstGeom>
        </p:spPr>
      </p:pic>
      <p:sp>
        <p:nvSpPr>
          <p:cNvPr id="8" name="TextBox 7">
            <a:extLst>
              <a:ext uri="{FF2B5EF4-FFF2-40B4-BE49-F238E27FC236}">
                <a16:creationId xmlns:a16="http://schemas.microsoft.com/office/drawing/2014/main" id="{CD736A27-39D6-0EA7-8575-C3FC10826BEC}"/>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3597DEC0-0238-AD40-0603-EB1F59436EF1}"/>
              </a:ext>
            </a:extLst>
          </p:cNvPr>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0" name="TextBox 9">
            <a:extLst>
              <a:ext uri="{FF2B5EF4-FFF2-40B4-BE49-F238E27FC236}">
                <a16:creationId xmlns:a16="http://schemas.microsoft.com/office/drawing/2014/main" id="{DDDE2ABA-3E22-415F-3E77-985F3626DEFB}"/>
              </a:ext>
            </a:extLst>
          </p:cNvPr>
          <p:cNvSpPr txBox="1"/>
          <p:nvPr/>
        </p:nvSpPr>
        <p:spPr>
          <a:xfrm>
            <a:off x="1257300" y="2131294"/>
            <a:ext cx="1243930" cy="138499"/>
          </a:xfrm>
          <a:prstGeom prst="rect">
            <a:avLst/>
          </a:prstGeom>
          <a:noFill/>
        </p:spPr>
        <p:txBody>
          <a:bodyPr wrap="none" lIns="0" tIns="0" rIns="0" bIns="0" anchor="t">
            <a:spAutoFit/>
          </a:bodyPr>
          <a:lstStyle/>
          <a:p>
            <a:pPr algn="l"/>
            <a:r>
              <a:rPr sz="900" b="1">
                <a:solidFill>
                  <a:srgbClr val="0369A1"/>
                </a:solidFill>
                <a:latin typeface="Plus Jakarta Sans"/>
              </a:rPr>
              <a:t>TOPIC: DECISION MAKING</a:t>
            </a:r>
          </a:p>
        </p:txBody>
      </p:sp>
      <p:sp>
        <p:nvSpPr>
          <p:cNvPr id="11" name="TextBox 10">
            <a:extLst>
              <a:ext uri="{FF2B5EF4-FFF2-40B4-BE49-F238E27FC236}">
                <a16:creationId xmlns:a16="http://schemas.microsoft.com/office/drawing/2014/main" id="{AF58C446-4305-2FE5-52BF-58396CC790BC}"/>
              </a:ext>
            </a:extLst>
          </p:cNvPr>
          <p:cNvSpPr txBox="1"/>
          <p:nvPr/>
        </p:nvSpPr>
        <p:spPr>
          <a:xfrm>
            <a:off x="1257300" y="2395612"/>
            <a:ext cx="6757988" cy="868315"/>
          </a:xfrm>
          <a:prstGeom prst="rect">
            <a:avLst/>
          </a:prstGeom>
          <a:noFill/>
        </p:spPr>
        <p:txBody>
          <a:bodyPr wrap="square" lIns="0" tIns="0" rIns="0" bIns="0" anchor="t">
            <a:spAutoFit/>
          </a:bodyPr>
          <a:lstStyle/>
          <a:p>
            <a:pPr>
              <a:lnSpc>
                <a:spcPts val="2278"/>
              </a:lnSpc>
            </a:pPr>
            <a:r>
              <a:rPr lang="en-US" dirty="0">
                <a:solidFill>
                  <a:schemeClr val="accent1">
                    <a:lumMod val="75000"/>
                  </a:schemeClr>
                </a:solidFill>
                <a:ea typeface="+mj-lt"/>
                <a:cs typeface="+mj-lt"/>
              </a:rPr>
              <a:t>Tell about the best meal you had recently—where you ate, what you ate, who you ate it with, etc.</a:t>
            </a:r>
          </a:p>
          <a:p>
            <a:pPr>
              <a:lnSpc>
                <a:spcPts val="2278"/>
              </a:lnSpc>
            </a:pPr>
            <a:endParaRPr sz="1688" b="1" dirty="0">
              <a:solidFill>
                <a:schemeClr val="accent1">
                  <a:lumMod val="75000"/>
                </a:schemeClr>
              </a:solidFill>
              <a:latin typeface="Plus Jakarta Sans"/>
            </a:endParaRPr>
          </a:p>
        </p:txBody>
      </p:sp>
      <p:sp>
        <p:nvSpPr>
          <p:cNvPr id="12" name="TextBox 11">
            <a:extLst>
              <a:ext uri="{FF2B5EF4-FFF2-40B4-BE49-F238E27FC236}">
                <a16:creationId xmlns:a16="http://schemas.microsoft.com/office/drawing/2014/main" id="{D5046053-4BC2-AEDF-B1F6-E78D0291B31A}"/>
              </a:ext>
            </a:extLst>
          </p:cNvPr>
          <p:cNvSpPr txBox="1"/>
          <p:nvPr/>
        </p:nvSpPr>
        <p:spPr>
          <a:xfrm>
            <a:off x="1257300" y="3585046"/>
            <a:ext cx="1804981" cy="138499"/>
          </a:xfrm>
          <a:prstGeom prst="rect">
            <a:avLst/>
          </a:prstGeom>
          <a:noFill/>
        </p:spPr>
        <p:txBody>
          <a:bodyPr wrap="none" lIns="171450" tIns="0" rIns="0" bIns="0" anchor="t">
            <a:spAutoFit/>
          </a:bodyPr>
          <a:lstStyle/>
          <a:p>
            <a:pPr algn="l"/>
            <a:r>
              <a:rPr sz="900" b="1">
                <a:solidFill>
                  <a:srgbClr val="0369A1"/>
                </a:solidFill>
                <a:latin typeface="Plus Jakarta Sans"/>
              </a:rPr>
              <a:t>Option A: Intuition &amp; Gut Feelings</a:t>
            </a:r>
          </a:p>
        </p:txBody>
      </p:sp>
      <p:sp>
        <p:nvSpPr>
          <p:cNvPr id="13" name="TextBox 12">
            <a:extLst>
              <a:ext uri="{FF2B5EF4-FFF2-40B4-BE49-F238E27FC236}">
                <a16:creationId xmlns:a16="http://schemas.microsoft.com/office/drawing/2014/main" id="{441637C8-3DCB-E044-ADF4-52B6A92BFB91}"/>
              </a:ext>
            </a:extLst>
          </p:cNvPr>
          <p:cNvSpPr txBox="1"/>
          <p:nvPr/>
        </p:nvSpPr>
        <p:spPr>
          <a:xfrm>
            <a:off x="3414712" y="3585046"/>
            <a:ext cx="2309928" cy="138499"/>
          </a:xfrm>
          <a:prstGeom prst="rect">
            <a:avLst/>
          </a:prstGeom>
          <a:noFill/>
        </p:spPr>
        <p:txBody>
          <a:bodyPr wrap="none" lIns="200025" tIns="0" rIns="0" bIns="0" anchor="t">
            <a:spAutoFit/>
          </a:bodyPr>
          <a:lstStyle/>
          <a:p>
            <a:pPr algn="l"/>
            <a:r>
              <a:rPr sz="900" b="1">
                <a:solidFill>
                  <a:srgbClr val="0369A1"/>
                </a:solidFill>
                <a:latin typeface="Plus Jakarta Sans"/>
              </a:rPr>
              <a:t>Option B: External Guidance &amp; Consultation</a:t>
            </a:r>
          </a:p>
        </p:txBody>
      </p:sp>
      <p:pic>
        <p:nvPicPr>
          <p:cNvPr id="15" name="Picture 14">
            <a:extLst>
              <a:ext uri="{FF2B5EF4-FFF2-40B4-BE49-F238E27FC236}">
                <a16:creationId xmlns:a16="http://schemas.microsoft.com/office/drawing/2014/main" id="{BB32E850-C1FA-2ECA-44DA-1D8B8A340B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6279" y="260280"/>
            <a:ext cx="2627570" cy="1478009"/>
          </a:xfrm>
          <a:prstGeom prst="rect">
            <a:avLst/>
          </a:prstGeom>
        </p:spPr>
      </p:pic>
      <p:sp>
        <p:nvSpPr>
          <p:cNvPr id="14" name="TextBox 13">
            <a:extLst>
              <a:ext uri="{FF2B5EF4-FFF2-40B4-BE49-F238E27FC236}">
                <a16:creationId xmlns:a16="http://schemas.microsoft.com/office/drawing/2014/main" id="{97DA6E3B-3948-7682-C0F5-807905C58F6D}"/>
              </a:ext>
            </a:extLst>
          </p:cNvPr>
          <p:cNvSpPr txBox="1"/>
          <p:nvPr/>
        </p:nvSpPr>
        <p:spPr>
          <a:xfrm>
            <a:off x="3668107" y="504751"/>
            <a:ext cx="1467292" cy="1077218"/>
          </a:xfrm>
          <a:prstGeom prst="rect">
            <a:avLst/>
          </a:prstGeom>
          <a:noFill/>
        </p:spPr>
        <p:txBody>
          <a:bodyPr wrap="square" rtlCol="0">
            <a:spAutoFit/>
          </a:bodyPr>
          <a:lstStyle/>
          <a:p>
            <a:r>
              <a:rPr lang="az-Cyrl-AZ" sz="3200" b="1" dirty="0">
                <a:solidFill>
                  <a:schemeClr val="accent1">
                    <a:lumMod val="75000"/>
                  </a:schemeClr>
                </a:solidFill>
              </a:rPr>
              <a:t>зөн совин</a:t>
            </a:r>
            <a:endParaRPr lang="en-US" sz="3200" b="1" dirty="0">
              <a:solidFill>
                <a:schemeClr val="accent1">
                  <a:lumMod val="75000"/>
                </a:schemeClr>
              </a:solidFill>
            </a:endParaRPr>
          </a:p>
        </p:txBody>
      </p:sp>
    </p:spTree>
    <p:extLst>
      <p:ext uri="{BB962C8B-B14F-4D97-AF65-F5344CB8AC3E}">
        <p14:creationId xmlns:p14="http://schemas.microsoft.com/office/powerpoint/2010/main" val="133963637"/>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8A3F8-5BCF-A64A-B6E2-07B856C6AD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26C55F-C28D-2D81-31C9-F03F80BE5E87}"/>
              </a:ext>
            </a:extLst>
          </p:cNvPr>
          <p:cNvSpPr txBox="1"/>
          <p:nvPr/>
        </p:nvSpPr>
        <p:spPr>
          <a:xfrm>
            <a:off x="407229" y="1244936"/>
            <a:ext cx="6200906" cy="646331"/>
          </a:xfrm>
          <a:prstGeom prst="rect">
            <a:avLst/>
          </a:prstGeom>
          <a:noFill/>
        </p:spPr>
        <p:txBody>
          <a:bodyPr wrap="square" rtlCol="0">
            <a:spAutoFit/>
          </a:bodyPr>
          <a:lstStyle/>
          <a:p>
            <a:r>
              <a:rPr lang="en-US" sz="3600" dirty="0">
                <a:solidFill>
                  <a:schemeClr val="accent1">
                    <a:lumMod val="75000"/>
                  </a:schemeClr>
                </a:solidFill>
              </a:rPr>
              <a:t>First Person Speaks Next</a:t>
            </a:r>
          </a:p>
        </p:txBody>
      </p:sp>
      <p:pic>
        <p:nvPicPr>
          <p:cNvPr id="3" name="Picture 2">
            <a:extLst>
              <a:ext uri="{FF2B5EF4-FFF2-40B4-BE49-F238E27FC236}">
                <a16:creationId xmlns:a16="http://schemas.microsoft.com/office/drawing/2014/main" id="{36A649AC-B17D-3020-B6A0-153DF22779F1}"/>
              </a:ext>
            </a:extLst>
          </p:cNvPr>
          <p:cNvPicPr>
            <a:picLocks noChangeAspect="1"/>
          </p:cNvPicPr>
          <p:nvPr/>
        </p:nvPicPr>
        <p:blipFill>
          <a:blip r:embed="rId2"/>
          <a:srcRect t="20949" b="13172"/>
          <a:stretch>
            <a:fillRect/>
          </a:stretch>
        </p:blipFill>
        <p:spPr>
          <a:xfrm>
            <a:off x="407228" y="2699873"/>
            <a:ext cx="4069080" cy="2144515"/>
          </a:xfrm>
          <a:prstGeom prst="rect">
            <a:avLst/>
          </a:prstGeom>
        </p:spPr>
      </p:pic>
    </p:spTree>
    <p:extLst>
      <p:ext uri="{BB962C8B-B14F-4D97-AF65-F5344CB8AC3E}">
        <p14:creationId xmlns:p14="http://schemas.microsoft.com/office/powerpoint/2010/main" val="37948689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08A56-AD46-61C9-384A-C661D324FC6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72F44586-DFA6-4F85-1FC3-E64987A0C813}"/>
              </a:ext>
            </a:extLst>
          </p:cNvPr>
          <p:cNvSpPr/>
          <p:nvPr/>
        </p:nvSpPr>
        <p:spPr>
          <a:xfrm>
            <a:off x="91440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A0E04306-96C3-D5E9-80FD-DE8BF9FA4542}"/>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6155D801-989F-3E5D-CC86-3BF0D5BD3DFF}"/>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F2B520B1-B368-3C7F-917E-D34AAAE8F756}"/>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45D11C14-B77C-BAD9-225B-66A129826D53}"/>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6CB87637-019A-6F2B-BE7B-62746E54C601}"/>
              </a:ext>
            </a:extLst>
          </p:cNvPr>
          <p:cNvSpPr txBox="1"/>
          <p:nvPr/>
        </p:nvSpPr>
        <p:spPr>
          <a:xfrm>
            <a:off x="457200" y="528638"/>
            <a:ext cx="285411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Discussion Prompt</a:t>
            </a:r>
          </a:p>
        </p:txBody>
      </p:sp>
      <p:sp>
        <p:nvSpPr>
          <p:cNvPr id="11" name="TextBox 10">
            <a:extLst>
              <a:ext uri="{FF2B5EF4-FFF2-40B4-BE49-F238E27FC236}">
                <a16:creationId xmlns:a16="http://schemas.microsoft.com/office/drawing/2014/main" id="{C8176231-F781-097D-D954-101690838A0C}"/>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17" name="Picture 16">
            <a:extLst>
              <a:ext uri="{FF2B5EF4-FFF2-40B4-BE49-F238E27FC236}">
                <a16:creationId xmlns:a16="http://schemas.microsoft.com/office/drawing/2014/main" id="{5922BCFA-C2B9-DD2D-AE3E-584D39CEB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8687" y="388882"/>
            <a:ext cx="2335619" cy="1313786"/>
          </a:xfrm>
          <a:prstGeom prst="rect">
            <a:avLst/>
          </a:prstGeom>
        </p:spPr>
      </p:pic>
    </p:spTree>
    <p:extLst>
      <p:ext uri="{BB962C8B-B14F-4D97-AF65-F5344CB8AC3E}">
        <p14:creationId xmlns:p14="http://schemas.microsoft.com/office/powerpoint/2010/main" val="953768499"/>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C4006-B54E-A522-0433-CC40C76A5D4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170CE48-273D-1C5F-2B23-76F83FE08820}"/>
              </a:ext>
            </a:extLst>
          </p:cNvPr>
          <p:cNvPicPr>
            <a:picLocks noChangeAspect="1"/>
          </p:cNvPicPr>
          <p:nvPr/>
        </p:nvPicPr>
        <p:blipFill>
          <a:blip r:embed="rId2"/>
          <a:srcRect t="20949" b="13172"/>
          <a:stretch>
            <a:fillRect/>
          </a:stretch>
        </p:blipFill>
        <p:spPr>
          <a:xfrm>
            <a:off x="417860" y="2571750"/>
            <a:ext cx="4069080" cy="2144515"/>
          </a:xfrm>
          <a:prstGeom prst="rect">
            <a:avLst/>
          </a:prstGeom>
        </p:spPr>
      </p:pic>
      <p:sp>
        <p:nvSpPr>
          <p:cNvPr id="4" name="TextBox 3">
            <a:extLst>
              <a:ext uri="{FF2B5EF4-FFF2-40B4-BE49-F238E27FC236}">
                <a16:creationId xmlns:a16="http://schemas.microsoft.com/office/drawing/2014/main" id="{BEEE24E9-724A-73A2-4267-C21629F76BF6}"/>
              </a:ext>
            </a:extLst>
          </p:cNvPr>
          <p:cNvSpPr txBox="1"/>
          <p:nvPr/>
        </p:nvSpPr>
        <p:spPr>
          <a:xfrm>
            <a:off x="407228" y="1244936"/>
            <a:ext cx="7510137" cy="646331"/>
          </a:xfrm>
          <a:prstGeom prst="rect">
            <a:avLst/>
          </a:prstGeom>
          <a:noFill/>
        </p:spPr>
        <p:txBody>
          <a:bodyPr wrap="square" rtlCol="0">
            <a:spAutoFit/>
          </a:bodyPr>
          <a:lstStyle/>
          <a:p>
            <a:r>
              <a:rPr lang="en-US" sz="3600" dirty="0">
                <a:solidFill>
                  <a:schemeClr val="accent1">
                    <a:lumMod val="75000"/>
                  </a:schemeClr>
                </a:solidFill>
              </a:rPr>
              <a:t>ROTATE: Second Person Speaks Next</a:t>
            </a:r>
          </a:p>
        </p:txBody>
      </p:sp>
    </p:spTree>
    <p:extLst>
      <p:ext uri="{BB962C8B-B14F-4D97-AF65-F5344CB8AC3E}">
        <p14:creationId xmlns:p14="http://schemas.microsoft.com/office/powerpoint/2010/main" val="1246567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F9AC-6829-74FA-3FA8-F348E846DA7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5C26664C-D11F-E6F8-0548-98716A7EEEA2}"/>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41DD5953-3FA7-997D-2C04-86DB12DCE9B7}"/>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D23E916F-95A7-9ABE-3211-40587D2C658D}"/>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5E46A3F8-939D-8458-4421-86688FF06679}"/>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939B20A7-6E67-B1D1-432C-472E7337ACA1}"/>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13FD6C56-2899-7C6C-0F5A-1F0831A8C63D}"/>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pic>
        <p:nvPicPr>
          <p:cNvPr id="17" name="Picture 16">
            <a:extLst>
              <a:ext uri="{FF2B5EF4-FFF2-40B4-BE49-F238E27FC236}">
                <a16:creationId xmlns:a16="http://schemas.microsoft.com/office/drawing/2014/main" id="{96F244BD-9C23-D021-8DDC-E20895B35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8687" y="388882"/>
            <a:ext cx="2335619" cy="1313786"/>
          </a:xfrm>
          <a:prstGeom prst="rect">
            <a:avLst/>
          </a:prstGeom>
        </p:spPr>
      </p:pic>
      <p:sp>
        <p:nvSpPr>
          <p:cNvPr id="14" name="TextBox 13">
            <a:extLst>
              <a:ext uri="{FF2B5EF4-FFF2-40B4-BE49-F238E27FC236}">
                <a16:creationId xmlns:a16="http://schemas.microsoft.com/office/drawing/2014/main" id="{11FE1A64-16E7-5EC8-2621-50421BF55766}"/>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spTree>
    <p:extLst>
      <p:ext uri="{BB962C8B-B14F-4D97-AF65-F5344CB8AC3E}">
        <p14:creationId xmlns:p14="http://schemas.microsoft.com/office/powerpoint/2010/main" val="73554618"/>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5FDA1ED-4F8B-4DE7-8EA9-5E873DB99BD7}"/>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LEVER 3 · TURN UP THE PUSH DIAL</a:t>
            </a:r>
            <a:endParaRPr sz="1200"/>
          </a:p>
        </p:txBody>
      </p:sp>
      <p:sp>
        <p:nvSpPr>
          <p:cNvPr id="3" name="Text 1">
            <a:extLst>
              <a:ext uri="{FF2B5EF4-FFF2-40B4-BE49-F238E27FC236}">
                <a16:creationId xmlns:a16="http://schemas.microsoft.com/office/drawing/2014/main" id="{8B56B16F-634D-47D0-8169-F2CA54C398CE}"/>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The second time, ask for more</a:t>
            </a:r>
            <a:r>
              <a:rPr lang="en-US" sz="3400" b="1" dirty="0">
                <a:solidFill>
                  <a:srgbClr val="002E5D"/>
                </a:solidFill>
                <a:latin typeface="Calibri"/>
                <a:ea typeface="Calibri"/>
                <a:cs typeface="Calibri"/>
              </a:rPr>
              <a:t>.</a:t>
            </a:r>
          </a:p>
          <a:p>
            <a:pPr marL="0" indent="0" algn="l">
              <a:buNone/>
            </a:pPr>
            <a:r>
              <a:rPr lang="en-US" sz="2400" b="1" dirty="0">
                <a:solidFill>
                  <a:srgbClr val="002E5D"/>
                </a:solidFill>
                <a:latin typeface="Calibri"/>
                <a:cs typeface="Calibri"/>
              </a:rPr>
              <a:t>	</a:t>
            </a:r>
            <a:r>
              <a:rPr lang="en-US" sz="2400" b="1" dirty="0">
                <a:solidFill>
                  <a:srgbClr val="00B050"/>
                </a:solidFill>
                <a:latin typeface="Calibri"/>
                <a:cs typeface="Calibri"/>
              </a:rPr>
              <a:t>Think Andrea’s request to add WHY</a:t>
            </a:r>
            <a:endParaRPr sz="2400" dirty="0"/>
          </a:p>
        </p:txBody>
      </p:sp>
      <p:sp>
        <p:nvSpPr>
          <p:cNvPr id="4" name="Text 2">
            <a:extLst>
              <a:ext uri="{FF2B5EF4-FFF2-40B4-BE49-F238E27FC236}">
                <a16:creationId xmlns:a16="http://schemas.microsoft.com/office/drawing/2014/main" id="{7657F991-A67E-4854-8D6D-553FB4B069B2}"/>
              </a:ext>
            </a:extLst>
          </p:cNvPr>
          <p:cNvSpPr>
            <a:spLocks noGrp="1"/>
          </p:cNvSpPr>
          <p:nvPr/>
        </p:nvSpPr>
        <p:spPr>
          <a:xfrm>
            <a:off x="502920" y="1737360"/>
            <a:ext cx="8138160" cy="822960"/>
          </a:xfrm>
          <a:prstGeom prst="rect">
            <a:avLst/>
          </a:prstGeom>
          <a:noFill/>
        </p:spPr>
        <p:txBody>
          <a:bodyPr wrap="square" lIns="0" tIns="0" rIns="0" bIns="0" anchor="t"/>
          <a:lstStyle/>
          <a:p>
            <a:pPr marL="0" indent="0" algn="l">
              <a:lnSpc>
                <a:spcPct val="108000"/>
              </a:lnSpc>
              <a:buNone/>
            </a:pPr>
            <a:r>
              <a:rPr sz="1700" dirty="0">
                <a:solidFill>
                  <a:srgbClr val="1F2937"/>
                </a:solidFill>
                <a:latin typeface="Cambria"/>
                <a:ea typeface="Cambria"/>
                <a:cs typeface="Cambria"/>
              </a:rPr>
              <a:t>Volume gives them the practice. </a:t>
            </a:r>
            <a:r>
              <a:rPr sz="1700" b="1" dirty="0">
                <a:solidFill>
                  <a:srgbClr val="0062B8"/>
                </a:solidFill>
                <a:latin typeface="Cambria"/>
                <a:ea typeface="Cambria"/>
                <a:cs typeface="Cambria"/>
              </a:rPr>
              <a:t>Push</a:t>
            </a:r>
            <a:r>
              <a:rPr lang="en-US" sz="1700" b="1" dirty="0">
                <a:solidFill>
                  <a:srgbClr val="1F2937"/>
                </a:solidFill>
                <a:latin typeface="Cambria"/>
                <a:ea typeface="Cambria"/>
                <a:cs typeface="Cambria"/>
              </a:rPr>
              <a:t> </a:t>
            </a:r>
            <a:r>
              <a:rPr lang="en-US" sz="1700" dirty="0">
                <a:solidFill>
                  <a:srgbClr val="1F2937"/>
                </a:solidFill>
                <a:latin typeface="Cambria"/>
                <a:ea typeface="Cambria"/>
                <a:cs typeface="Cambria"/>
              </a:rPr>
              <a:t>produces more complexity and accuracy. </a:t>
            </a:r>
            <a:r>
              <a:rPr sz="1700" dirty="0">
                <a:solidFill>
                  <a:srgbClr val="1F2937"/>
                </a:solidFill>
                <a:latin typeface="Cambria"/>
                <a:ea typeface="Cambria"/>
                <a:cs typeface="Cambria"/>
              </a:rPr>
              <a:t> Between rounds, say: “Now say it again — but better.”</a:t>
            </a:r>
            <a:endParaRPr sz="1700" dirty="0"/>
          </a:p>
        </p:txBody>
      </p:sp>
      <p:sp>
        <p:nvSpPr>
          <p:cNvPr id="5" name="Shape 3">
            <a:extLst>
              <a:ext uri="{FF2B5EF4-FFF2-40B4-BE49-F238E27FC236}">
                <a16:creationId xmlns:a16="http://schemas.microsoft.com/office/drawing/2014/main" id="{D9FAE857-DFA6-4760-B496-3711C1F4C816}"/>
              </a:ext>
            </a:extLst>
          </p:cNvPr>
          <p:cNvSpPr>
            <a:spLocks noGrp="1"/>
          </p:cNvSpPr>
          <p:nvPr/>
        </p:nvSpPr>
        <p:spPr>
          <a:xfrm>
            <a:off x="502920" y="2487168"/>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Shape 4">
            <a:extLst>
              <a:ext uri="{FF2B5EF4-FFF2-40B4-BE49-F238E27FC236}">
                <a16:creationId xmlns:a16="http://schemas.microsoft.com/office/drawing/2014/main" id="{C467C23D-C98D-4583-A4B5-D9014DEB8274}"/>
              </a:ext>
            </a:extLst>
          </p:cNvPr>
          <p:cNvSpPr>
            <a:spLocks noGrp="1"/>
          </p:cNvSpPr>
          <p:nvPr/>
        </p:nvSpPr>
        <p:spPr>
          <a:xfrm>
            <a:off x="658368" y="2606040"/>
            <a:ext cx="365760" cy="365760"/>
          </a:xfrm>
          <a:prstGeom prst="ellipse">
            <a:avLst/>
          </a:prstGeom>
          <a:solidFill>
            <a:srgbClr val="002E5D"/>
          </a:solidFill>
          <a:ln w="12700">
            <a:solidFill>
              <a:srgbClr val="002E5D"/>
            </a:solidFill>
            <a:prstDash val="solid"/>
          </a:ln>
        </p:spPr>
        <p:txBody>
          <a:bodyPr/>
          <a:lstStyle/>
          <a:p>
            <a:endParaRPr/>
          </a:p>
        </p:txBody>
      </p:sp>
      <p:sp>
        <p:nvSpPr>
          <p:cNvPr id="7" name="Text 5">
            <a:extLst>
              <a:ext uri="{FF2B5EF4-FFF2-40B4-BE49-F238E27FC236}">
                <a16:creationId xmlns:a16="http://schemas.microsoft.com/office/drawing/2014/main" id="{32AE431E-A5B5-4AAB-8DB6-B76B871CBDA9}"/>
              </a:ext>
            </a:extLst>
          </p:cNvPr>
          <p:cNvSpPr>
            <a:spLocks noGrp="1"/>
          </p:cNvSpPr>
          <p:nvPr/>
        </p:nvSpPr>
        <p:spPr>
          <a:xfrm>
            <a:off x="658368" y="2606040"/>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1</a:t>
            </a:r>
            <a:endParaRPr sz="1300"/>
          </a:p>
        </p:txBody>
      </p:sp>
      <p:sp>
        <p:nvSpPr>
          <p:cNvPr id="8" name="Text 6">
            <a:extLst>
              <a:ext uri="{FF2B5EF4-FFF2-40B4-BE49-F238E27FC236}">
                <a16:creationId xmlns:a16="http://schemas.microsoft.com/office/drawing/2014/main" id="{83E5A611-7387-4FBD-9A4E-ED12153AE46B}"/>
              </a:ext>
            </a:extLst>
          </p:cNvPr>
          <p:cNvSpPr>
            <a:spLocks noGrp="1"/>
          </p:cNvSpPr>
          <p:nvPr/>
        </p:nvSpPr>
        <p:spPr>
          <a:xfrm>
            <a:off x="1188720" y="2487168"/>
            <a:ext cx="7315200" cy="603504"/>
          </a:xfrm>
          <a:prstGeom prst="rect">
            <a:avLst/>
          </a:prstGeom>
          <a:noFill/>
        </p:spPr>
        <p:txBody>
          <a:bodyPr wrap="square" lIns="0" tIns="0" rIns="0" bIns="0" anchor="ctr"/>
          <a:lstStyle/>
          <a:p>
            <a:pPr marL="0" indent="0" algn="l">
              <a:buNone/>
            </a:pPr>
            <a:r>
              <a:rPr sz="1500" dirty="0">
                <a:solidFill>
                  <a:srgbClr val="1F2937"/>
                </a:solidFill>
                <a:latin typeface="Cambria"/>
                <a:ea typeface="Cambria"/>
                <a:cs typeface="Cambria"/>
              </a:rPr>
              <a:t>Ask for one more detail or </a:t>
            </a:r>
            <a:r>
              <a:rPr lang="en-US" sz="1500" dirty="0">
                <a:solidFill>
                  <a:srgbClr val="1F2937"/>
                </a:solidFill>
                <a:latin typeface="Cambria"/>
                <a:ea typeface="Cambria"/>
                <a:cs typeface="Cambria"/>
              </a:rPr>
              <a:t>give </a:t>
            </a:r>
            <a:r>
              <a:rPr sz="1500" dirty="0">
                <a:solidFill>
                  <a:srgbClr val="1F2937"/>
                </a:solidFill>
                <a:latin typeface="Cambria"/>
                <a:ea typeface="Cambria"/>
                <a:cs typeface="Cambria"/>
              </a:rPr>
              <a:t>one grammar point to use.</a:t>
            </a:r>
            <a:endParaRPr sz="1500" dirty="0"/>
          </a:p>
        </p:txBody>
      </p:sp>
      <p:sp>
        <p:nvSpPr>
          <p:cNvPr id="9" name="Shape 7">
            <a:extLst>
              <a:ext uri="{FF2B5EF4-FFF2-40B4-BE49-F238E27FC236}">
                <a16:creationId xmlns:a16="http://schemas.microsoft.com/office/drawing/2014/main" id="{2B167002-44BF-4211-A989-A9647F94C4C7}"/>
              </a:ext>
            </a:extLst>
          </p:cNvPr>
          <p:cNvSpPr>
            <a:spLocks noGrp="1"/>
          </p:cNvSpPr>
          <p:nvPr/>
        </p:nvSpPr>
        <p:spPr>
          <a:xfrm>
            <a:off x="502920" y="3200400"/>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dirty="0"/>
          </a:p>
        </p:txBody>
      </p:sp>
      <p:sp>
        <p:nvSpPr>
          <p:cNvPr id="10" name="Shape 8">
            <a:extLst>
              <a:ext uri="{FF2B5EF4-FFF2-40B4-BE49-F238E27FC236}">
                <a16:creationId xmlns:a16="http://schemas.microsoft.com/office/drawing/2014/main" id="{4290EBDE-B2FA-4651-B722-CDB9D99F9DF9}"/>
              </a:ext>
            </a:extLst>
          </p:cNvPr>
          <p:cNvSpPr>
            <a:spLocks noGrp="1"/>
          </p:cNvSpPr>
          <p:nvPr/>
        </p:nvSpPr>
        <p:spPr>
          <a:xfrm>
            <a:off x="658368" y="3319272"/>
            <a:ext cx="365760" cy="365760"/>
          </a:xfrm>
          <a:prstGeom prst="ellipse">
            <a:avLst/>
          </a:prstGeom>
          <a:solidFill>
            <a:srgbClr val="002E5D"/>
          </a:solidFill>
          <a:ln w="12700">
            <a:solidFill>
              <a:srgbClr val="002E5D"/>
            </a:solidFill>
            <a:prstDash val="solid"/>
          </a:ln>
        </p:spPr>
        <p:txBody>
          <a:bodyPr/>
          <a:lstStyle/>
          <a:p>
            <a:endParaRPr/>
          </a:p>
        </p:txBody>
      </p:sp>
      <p:sp>
        <p:nvSpPr>
          <p:cNvPr id="11" name="Text 9">
            <a:extLst>
              <a:ext uri="{FF2B5EF4-FFF2-40B4-BE49-F238E27FC236}">
                <a16:creationId xmlns:a16="http://schemas.microsoft.com/office/drawing/2014/main" id="{3E45A0C3-0324-4A50-B48B-89084A98CCAD}"/>
              </a:ext>
            </a:extLst>
          </p:cNvPr>
          <p:cNvSpPr>
            <a:spLocks noGrp="1"/>
          </p:cNvSpPr>
          <p:nvPr/>
        </p:nvSpPr>
        <p:spPr>
          <a:xfrm>
            <a:off x="658368" y="3319272"/>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2</a:t>
            </a:r>
            <a:endParaRPr sz="1300"/>
          </a:p>
        </p:txBody>
      </p:sp>
      <p:sp>
        <p:nvSpPr>
          <p:cNvPr id="12" name="Text 10">
            <a:extLst>
              <a:ext uri="{FF2B5EF4-FFF2-40B4-BE49-F238E27FC236}">
                <a16:creationId xmlns:a16="http://schemas.microsoft.com/office/drawing/2014/main" id="{4A859D34-4751-4C75-BF84-E4331506014B}"/>
              </a:ext>
            </a:extLst>
          </p:cNvPr>
          <p:cNvSpPr>
            <a:spLocks noGrp="1"/>
          </p:cNvSpPr>
          <p:nvPr/>
        </p:nvSpPr>
        <p:spPr>
          <a:xfrm>
            <a:off x="1188720" y="3200400"/>
            <a:ext cx="7315200" cy="603504"/>
          </a:xfrm>
          <a:prstGeom prst="rect">
            <a:avLst/>
          </a:prstGeom>
          <a:noFill/>
        </p:spPr>
        <p:txBody>
          <a:bodyPr wrap="square" lIns="0" tIns="0" rIns="0" bIns="0" anchor="ctr"/>
          <a:lstStyle/>
          <a:p>
            <a:r>
              <a:rPr lang="en-US" sz="1500" dirty="0">
                <a:solidFill>
                  <a:srgbClr val="1F2937"/>
                </a:solidFill>
              </a:rPr>
              <a:t>Give one grammar point to use</a:t>
            </a:r>
            <a:endParaRPr sz="1500" dirty="0"/>
          </a:p>
        </p:txBody>
      </p:sp>
      <p:sp>
        <p:nvSpPr>
          <p:cNvPr id="13" name="Shape 11">
            <a:extLst>
              <a:ext uri="{FF2B5EF4-FFF2-40B4-BE49-F238E27FC236}">
                <a16:creationId xmlns:a16="http://schemas.microsoft.com/office/drawing/2014/main" id="{32E69A8C-AFEF-4667-893E-8FDFE10B958A}"/>
              </a:ext>
            </a:extLst>
          </p:cNvPr>
          <p:cNvSpPr>
            <a:spLocks noGrp="1"/>
          </p:cNvSpPr>
          <p:nvPr/>
        </p:nvSpPr>
        <p:spPr>
          <a:xfrm>
            <a:off x="502920" y="3913632"/>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14" name="Shape 12">
            <a:extLst>
              <a:ext uri="{FF2B5EF4-FFF2-40B4-BE49-F238E27FC236}">
                <a16:creationId xmlns:a16="http://schemas.microsoft.com/office/drawing/2014/main" id="{CC30B8CE-817D-4280-8F64-4947FDD4B9D0}"/>
              </a:ext>
            </a:extLst>
          </p:cNvPr>
          <p:cNvSpPr>
            <a:spLocks noGrp="1"/>
          </p:cNvSpPr>
          <p:nvPr/>
        </p:nvSpPr>
        <p:spPr>
          <a:xfrm>
            <a:off x="658368" y="4032504"/>
            <a:ext cx="365760" cy="365760"/>
          </a:xfrm>
          <a:prstGeom prst="ellipse">
            <a:avLst/>
          </a:prstGeom>
          <a:solidFill>
            <a:srgbClr val="002E5D"/>
          </a:solidFill>
          <a:ln w="12700">
            <a:solidFill>
              <a:srgbClr val="002E5D"/>
            </a:solidFill>
            <a:prstDash val="solid"/>
          </a:ln>
        </p:spPr>
        <p:txBody>
          <a:bodyPr/>
          <a:lstStyle/>
          <a:p>
            <a:endParaRPr/>
          </a:p>
        </p:txBody>
      </p:sp>
      <p:sp>
        <p:nvSpPr>
          <p:cNvPr id="15" name="Text 13">
            <a:extLst>
              <a:ext uri="{FF2B5EF4-FFF2-40B4-BE49-F238E27FC236}">
                <a16:creationId xmlns:a16="http://schemas.microsoft.com/office/drawing/2014/main" id="{372FFBD6-97DD-4047-B980-58ADD4E56848}"/>
              </a:ext>
            </a:extLst>
          </p:cNvPr>
          <p:cNvSpPr>
            <a:spLocks noGrp="1"/>
          </p:cNvSpPr>
          <p:nvPr/>
        </p:nvSpPr>
        <p:spPr>
          <a:xfrm>
            <a:off x="658368" y="4032504"/>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3</a:t>
            </a:r>
            <a:endParaRPr sz="1300"/>
          </a:p>
        </p:txBody>
      </p:sp>
      <p:sp>
        <p:nvSpPr>
          <p:cNvPr id="16" name="Text 14">
            <a:extLst>
              <a:ext uri="{FF2B5EF4-FFF2-40B4-BE49-F238E27FC236}">
                <a16:creationId xmlns:a16="http://schemas.microsoft.com/office/drawing/2014/main" id="{A959B28C-9916-46C8-9890-C5EA94892BB5}"/>
              </a:ext>
            </a:extLst>
          </p:cNvPr>
          <p:cNvSpPr>
            <a:spLocks noGrp="1"/>
          </p:cNvSpPr>
          <p:nvPr/>
        </p:nvSpPr>
        <p:spPr>
          <a:xfrm>
            <a:off x="1188720" y="3913632"/>
            <a:ext cx="7315200" cy="603504"/>
          </a:xfrm>
          <a:prstGeom prst="rect">
            <a:avLst/>
          </a:prstGeom>
          <a:noFill/>
        </p:spPr>
        <p:txBody>
          <a:bodyPr wrap="square" lIns="0" tIns="0" rIns="0" bIns="0" anchor="ctr"/>
          <a:lstStyle/>
          <a:p>
            <a:pPr marL="0" indent="0" algn="l">
              <a:buNone/>
            </a:pPr>
            <a:r>
              <a:rPr lang="en-US" sz="1500" dirty="0">
                <a:solidFill>
                  <a:srgbClr val="1F2937"/>
                </a:solidFill>
                <a:latin typeface="Cambria"/>
                <a:ea typeface="Cambria"/>
                <a:cs typeface="Cambria"/>
              </a:rPr>
              <a:t>Give some new words to use</a:t>
            </a:r>
            <a:r>
              <a:rPr sz="1500" dirty="0">
                <a:solidFill>
                  <a:srgbClr val="1F2937"/>
                </a:solidFill>
                <a:latin typeface="Cambria"/>
                <a:ea typeface="Cambria"/>
                <a:cs typeface="Cambria"/>
              </a:rPr>
              <a:t>.</a:t>
            </a:r>
            <a:endParaRPr sz="1500" dirty="0"/>
          </a:p>
        </p:txBody>
      </p:sp>
    </p:spTree>
    <p:extLst>
      <p:ext uri="{BB962C8B-B14F-4D97-AF65-F5344CB8AC3E}">
        <p14:creationId xmlns:p14="http://schemas.microsoft.com/office/powerpoint/2010/main" val="1443604653"/>
      </p:ext>
    </p:extLst>
  </p:cSld>
  <p:clrMapOvr>
    <a:masterClrMapping/>
  </p:clrMapOvr>
  <mc:AlternateContent xmlns:mc="http://schemas.openxmlformats.org/markup-compatibility/2006" xmlns:p14="http://schemas.microsoft.com/office/powerpoint/2010/main">
    <mc:Choice Requires="p14">
      <p:transition spd="slow" p14:dur="2000" advTm="60000"/>
    </mc:Choice>
    <mc:Fallback xmlns="">
      <p:transition spd="slow" advTm="60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5233FD-8212-1530-80DE-B518CB5EF7AA}"/>
              </a:ext>
            </a:extLst>
          </p:cNvPr>
          <p:cNvPicPr>
            <a:picLocks noChangeAspect="1"/>
          </p:cNvPicPr>
          <p:nvPr/>
        </p:nvPicPr>
        <p:blipFill>
          <a:blip r:embed="rId2"/>
          <a:stretch>
            <a:fillRect/>
          </a:stretch>
        </p:blipFill>
        <p:spPr>
          <a:xfrm>
            <a:off x="685800" y="521762"/>
            <a:ext cx="7772400" cy="4099975"/>
          </a:xfrm>
          <a:prstGeom prst="rect">
            <a:avLst/>
          </a:prstGeom>
        </p:spPr>
      </p:pic>
      <p:sp>
        <p:nvSpPr>
          <p:cNvPr id="3" name="TextBox 2">
            <a:extLst>
              <a:ext uri="{FF2B5EF4-FFF2-40B4-BE49-F238E27FC236}">
                <a16:creationId xmlns:a16="http://schemas.microsoft.com/office/drawing/2014/main" id="{B9948852-001F-FA40-8F07-2B7DA41E214B}"/>
              </a:ext>
            </a:extLst>
          </p:cNvPr>
          <p:cNvSpPr txBox="1"/>
          <p:nvPr/>
        </p:nvSpPr>
        <p:spPr>
          <a:xfrm>
            <a:off x="2575932" y="4092498"/>
            <a:ext cx="3600473" cy="369332"/>
          </a:xfrm>
          <a:prstGeom prst="rect">
            <a:avLst/>
          </a:prstGeom>
          <a:noFill/>
        </p:spPr>
        <p:txBody>
          <a:bodyPr wrap="none" rtlCol="0">
            <a:spAutoFit/>
          </a:bodyPr>
          <a:lstStyle/>
          <a:p>
            <a:r>
              <a:rPr lang="en-US" dirty="0"/>
              <a:t>Rotate Partner—Tell Someone Else</a:t>
            </a:r>
          </a:p>
        </p:txBody>
      </p:sp>
    </p:spTree>
    <p:extLst>
      <p:ext uri="{BB962C8B-B14F-4D97-AF65-F5344CB8AC3E}">
        <p14:creationId xmlns:p14="http://schemas.microsoft.com/office/powerpoint/2010/main" val="319870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B3834-5C3C-9A3E-86BB-1C727660494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DD16730-11FF-B107-6ED7-4515442D78DD}"/>
              </a:ext>
            </a:extLst>
          </p:cNvPr>
          <p:cNvSpPr/>
          <p:nvPr/>
        </p:nvSpPr>
        <p:spPr>
          <a:xfrm>
            <a:off x="91440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EFB7AD47-31F9-3AFF-C322-C47DE7F5AAB3}"/>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92518A28-2BEB-2AD4-7B4E-D9D5FD5C92B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A825415A-4982-E3BD-F334-F85DBA44DCD7}"/>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349897AD-6251-90F1-21B6-ED7951960A6B}"/>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02833279-1CEF-58AB-D6D8-59D118D6DF03}"/>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B1 Discussion Prompt</a:t>
            </a:r>
          </a:p>
        </p:txBody>
      </p:sp>
      <p:sp>
        <p:nvSpPr>
          <p:cNvPr id="11" name="TextBox 10">
            <a:extLst>
              <a:ext uri="{FF2B5EF4-FFF2-40B4-BE49-F238E27FC236}">
                <a16:creationId xmlns:a16="http://schemas.microsoft.com/office/drawing/2014/main" id="{340AAC4A-3236-910F-C2AE-0F906E32DBEB}"/>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6" name="Picture 5">
            <a:extLst>
              <a:ext uri="{FF2B5EF4-FFF2-40B4-BE49-F238E27FC236}">
                <a16:creationId xmlns:a16="http://schemas.microsoft.com/office/drawing/2014/main" id="{BBE9B595-55CD-4077-0506-8946A4CD53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6911" y="316987"/>
            <a:ext cx="2282456" cy="1283882"/>
          </a:xfrm>
          <a:prstGeom prst="rect">
            <a:avLst/>
          </a:prstGeom>
        </p:spPr>
      </p:pic>
    </p:spTree>
    <p:extLst>
      <p:ext uri="{BB962C8B-B14F-4D97-AF65-F5344CB8AC3E}">
        <p14:creationId xmlns:p14="http://schemas.microsoft.com/office/powerpoint/2010/main" val="483272973"/>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104576-4810-7C05-CC57-168FCC9D266E}"/>
              </a:ext>
            </a:extLst>
          </p:cNvPr>
          <p:cNvPicPr>
            <a:picLocks noChangeAspect="1"/>
          </p:cNvPicPr>
          <p:nvPr/>
        </p:nvPicPr>
        <p:blipFill>
          <a:blip r:embed="rId2"/>
          <a:stretch>
            <a:fillRect/>
          </a:stretch>
        </p:blipFill>
        <p:spPr>
          <a:xfrm>
            <a:off x="685800" y="524013"/>
            <a:ext cx="7772400" cy="4095474"/>
          </a:xfrm>
          <a:prstGeom prst="rect">
            <a:avLst/>
          </a:prstGeom>
        </p:spPr>
      </p:pic>
      <p:sp>
        <p:nvSpPr>
          <p:cNvPr id="3" name="TextBox 2">
            <a:extLst>
              <a:ext uri="{FF2B5EF4-FFF2-40B4-BE49-F238E27FC236}">
                <a16:creationId xmlns:a16="http://schemas.microsoft.com/office/drawing/2014/main" id="{6C91D4B8-DC05-963B-AE2B-C6869CDA6261}"/>
              </a:ext>
            </a:extLst>
          </p:cNvPr>
          <p:cNvSpPr txBox="1"/>
          <p:nvPr/>
        </p:nvSpPr>
        <p:spPr>
          <a:xfrm>
            <a:off x="2575932" y="4092498"/>
            <a:ext cx="2946063" cy="369332"/>
          </a:xfrm>
          <a:prstGeom prst="rect">
            <a:avLst/>
          </a:prstGeom>
          <a:noFill/>
        </p:spPr>
        <p:txBody>
          <a:bodyPr wrap="none" rtlCol="0">
            <a:spAutoFit/>
          </a:bodyPr>
          <a:lstStyle/>
          <a:p>
            <a:r>
              <a:rPr lang="en-US" dirty="0"/>
              <a:t>Next Person’s Turn to Speak</a:t>
            </a:r>
          </a:p>
        </p:txBody>
      </p:sp>
    </p:spTree>
    <p:extLst>
      <p:ext uri="{BB962C8B-B14F-4D97-AF65-F5344CB8AC3E}">
        <p14:creationId xmlns:p14="http://schemas.microsoft.com/office/powerpoint/2010/main" val="20762857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A277-CFE4-FB3A-3436-E731160AA66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53D21E9-2E37-64DE-AED8-B00F87E6E40B}"/>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86DC756C-D141-1EC9-7E61-B3D3F91AD3D9}"/>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8974D0C2-A584-CC8A-601F-0A86B690EE39}"/>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75FF1A80-2C2D-3FFB-2FA5-5BEF59E993BE}"/>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66F445F5-D846-3562-FC30-484A7AAB42A4}"/>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0098CED2-E5C1-8811-5127-1D4754CDA7BB}"/>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4" name="TextBox 13">
            <a:extLst>
              <a:ext uri="{FF2B5EF4-FFF2-40B4-BE49-F238E27FC236}">
                <a16:creationId xmlns:a16="http://schemas.microsoft.com/office/drawing/2014/main" id="{8CFBBAD9-BD94-0A6C-ED01-F6EE9F3930AE}"/>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7" name="Picture 6">
            <a:extLst>
              <a:ext uri="{FF2B5EF4-FFF2-40B4-BE49-F238E27FC236}">
                <a16:creationId xmlns:a16="http://schemas.microsoft.com/office/drawing/2014/main" id="{E00D357A-E4C2-0048-43BB-B617A322C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6911" y="316987"/>
            <a:ext cx="2282456" cy="1283882"/>
          </a:xfrm>
          <a:prstGeom prst="rect">
            <a:avLst/>
          </a:prstGeom>
        </p:spPr>
      </p:pic>
    </p:spTree>
    <p:extLst>
      <p:ext uri="{BB962C8B-B14F-4D97-AF65-F5344CB8AC3E}">
        <p14:creationId xmlns:p14="http://schemas.microsoft.com/office/powerpoint/2010/main" val="3226309690"/>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47C13FB-9ADE-39A8-7027-ED1AC619CD24}"/>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LEVER 3 · TURN UP THE PUSH DIAL</a:t>
            </a:r>
            <a:endParaRPr sz="1200"/>
          </a:p>
        </p:txBody>
      </p:sp>
      <p:sp>
        <p:nvSpPr>
          <p:cNvPr id="3" name="Text 1">
            <a:extLst>
              <a:ext uri="{FF2B5EF4-FFF2-40B4-BE49-F238E27FC236}">
                <a16:creationId xmlns:a16="http://schemas.microsoft.com/office/drawing/2014/main" id="{4798AD58-2967-01A9-9D13-6D08F086A7BE}"/>
              </a:ext>
            </a:extLst>
          </p:cNvPr>
          <p:cNvSpPr>
            <a:spLocks noGrp="1"/>
          </p:cNvSpPr>
          <p:nvPr/>
        </p:nvSpPr>
        <p:spPr>
          <a:xfrm>
            <a:off x="502920" y="713232"/>
            <a:ext cx="8229600" cy="1143000"/>
          </a:xfrm>
          <a:prstGeom prst="rect">
            <a:avLst/>
          </a:prstGeom>
          <a:noFill/>
        </p:spPr>
        <p:txBody>
          <a:bodyPr wrap="square" lIns="0" tIns="0" rIns="0" bIns="0" anchor="t"/>
          <a:lstStyle/>
          <a:p>
            <a:pPr marL="0" indent="0" algn="l">
              <a:buNone/>
            </a:pPr>
            <a:r>
              <a:rPr sz="3400" b="1" dirty="0">
                <a:solidFill>
                  <a:srgbClr val="002E5D"/>
                </a:solidFill>
                <a:latin typeface="Calibri"/>
                <a:ea typeface="Calibri"/>
                <a:cs typeface="Calibri"/>
              </a:rPr>
              <a:t>The </a:t>
            </a:r>
            <a:r>
              <a:rPr lang="en-US" sz="3400" b="1" dirty="0">
                <a:solidFill>
                  <a:srgbClr val="002E5D"/>
                </a:solidFill>
                <a:latin typeface="Calibri"/>
                <a:ea typeface="Calibri"/>
                <a:cs typeface="Calibri"/>
              </a:rPr>
              <a:t>third</a:t>
            </a:r>
            <a:r>
              <a:rPr sz="3400" b="1" dirty="0">
                <a:solidFill>
                  <a:srgbClr val="002E5D"/>
                </a:solidFill>
                <a:latin typeface="Calibri"/>
                <a:ea typeface="Calibri"/>
                <a:cs typeface="Calibri"/>
              </a:rPr>
              <a:t> time, ask for more.</a:t>
            </a:r>
            <a:endParaRPr sz="3400" dirty="0"/>
          </a:p>
        </p:txBody>
      </p:sp>
      <p:sp>
        <p:nvSpPr>
          <p:cNvPr id="5" name="Shape 3">
            <a:extLst>
              <a:ext uri="{FF2B5EF4-FFF2-40B4-BE49-F238E27FC236}">
                <a16:creationId xmlns:a16="http://schemas.microsoft.com/office/drawing/2014/main" id="{97148C19-1C7E-9921-BD36-5BB1E242D3E4}"/>
              </a:ext>
            </a:extLst>
          </p:cNvPr>
          <p:cNvSpPr>
            <a:spLocks noGrp="1"/>
          </p:cNvSpPr>
          <p:nvPr/>
        </p:nvSpPr>
        <p:spPr>
          <a:xfrm>
            <a:off x="502920" y="2743200"/>
            <a:ext cx="8138160" cy="603504"/>
          </a:xfrm>
          <a:prstGeom prst="rect">
            <a:avLst/>
          </a:prstGeom>
          <a:solidFill>
            <a:srgbClr val="FFFFFF"/>
          </a:solidFill>
          <a:ln w="12700">
            <a:solidFill>
              <a:srgbClr val="002E5D"/>
            </a:solidFill>
            <a:prstDash val="solid"/>
          </a:ln>
          <a:effectLst>
            <a:outerShdw blurRad="38100" dist="50800" dir="2700000" algn="bl" rotWithShape="0">
              <a:srgbClr val="002E5D">
                <a:alpha val="20000"/>
              </a:srgbClr>
            </a:outerShdw>
          </a:effectLst>
        </p:spPr>
        <p:txBody>
          <a:bodyPr/>
          <a:lstStyle/>
          <a:p>
            <a:endParaRPr/>
          </a:p>
        </p:txBody>
      </p:sp>
      <p:sp>
        <p:nvSpPr>
          <p:cNvPr id="6" name="Shape 4">
            <a:extLst>
              <a:ext uri="{FF2B5EF4-FFF2-40B4-BE49-F238E27FC236}">
                <a16:creationId xmlns:a16="http://schemas.microsoft.com/office/drawing/2014/main" id="{A88E8DE6-3E23-B100-109A-338E2CF44480}"/>
              </a:ext>
            </a:extLst>
          </p:cNvPr>
          <p:cNvSpPr>
            <a:spLocks noGrp="1"/>
          </p:cNvSpPr>
          <p:nvPr/>
        </p:nvSpPr>
        <p:spPr>
          <a:xfrm>
            <a:off x="658368" y="2862072"/>
            <a:ext cx="365760" cy="365760"/>
          </a:xfrm>
          <a:prstGeom prst="ellipse">
            <a:avLst/>
          </a:prstGeom>
          <a:solidFill>
            <a:srgbClr val="002E5D"/>
          </a:solidFill>
          <a:ln w="12700">
            <a:solidFill>
              <a:srgbClr val="002E5D"/>
            </a:solidFill>
            <a:prstDash val="solid"/>
          </a:ln>
        </p:spPr>
        <p:txBody>
          <a:bodyPr/>
          <a:lstStyle/>
          <a:p>
            <a:endParaRPr/>
          </a:p>
        </p:txBody>
      </p:sp>
      <p:sp>
        <p:nvSpPr>
          <p:cNvPr id="7" name="Text 5">
            <a:extLst>
              <a:ext uri="{FF2B5EF4-FFF2-40B4-BE49-F238E27FC236}">
                <a16:creationId xmlns:a16="http://schemas.microsoft.com/office/drawing/2014/main" id="{AB77DBF2-5119-8E5B-B321-8896A8771585}"/>
              </a:ext>
            </a:extLst>
          </p:cNvPr>
          <p:cNvSpPr>
            <a:spLocks noGrp="1"/>
          </p:cNvSpPr>
          <p:nvPr/>
        </p:nvSpPr>
        <p:spPr>
          <a:xfrm>
            <a:off x="658368" y="2862072"/>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1</a:t>
            </a:r>
            <a:endParaRPr sz="1300"/>
          </a:p>
        </p:txBody>
      </p:sp>
      <p:sp>
        <p:nvSpPr>
          <p:cNvPr id="8" name="Text 6">
            <a:extLst>
              <a:ext uri="{FF2B5EF4-FFF2-40B4-BE49-F238E27FC236}">
                <a16:creationId xmlns:a16="http://schemas.microsoft.com/office/drawing/2014/main" id="{F8469E67-CB8D-94A8-57C7-FAB5ABA3FFB7}"/>
              </a:ext>
            </a:extLst>
          </p:cNvPr>
          <p:cNvSpPr>
            <a:spLocks noGrp="1"/>
          </p:cNvSpPr>
          <p:nvPr/>
        </p:nvSpPr>
        <p:spPr>
          <a:xfrm>
            <a:off x="1188720" y="2743200"/>
            <a:ext cx="7315200" cy="603504"/>
          </a:xfrm>
          <a:prstGeom prst="rect">
            <a:avLst/>
          </a:prstGeom>
          <a:noFill/>
        </p:spPr>
        <p:txBody>
          <a:bodyPr wrap="square" lIns="0" tIns="0" rIns="0" bIns="0" anchor="ctr"/>
          <a:lstStyle/>
          <a:p>
            <a:pPr marL="0" indent="0" algn="l">
              <a:buNone/>
            </a:pPr>
            <a:r>
              <a:rPr sz="1500" dirty="0">
                <a:solidFill>
                  <a:srgbClr val="1F2937"/>
                </a:solidFill>
                <a:latin typeface="Cambria"/>
                <a:ea typeface="Cambria"/>
                <a:cs typeface="Cambria"/>
              </a:rPr>
              <a:t>Use two new words—look them up now.</a:t>
            </a:r>
            <a:endParaRPr sz="1500" dirty="0"/>
          </a:p>
        </p:txBody>
      </p:sp>
      <p:sp>
        <p:nvSpPr>
          <p:cNvPr id="11" name="Text 9">
            <a:extLst>
              <a:ext uri="{FF2B5EF4-FFF2-40B4-BE49-F238E27FC236}">
                <a16:creationId xmlns:a16="http://schemas.microsoft.com/office/drawing/2014/main" id="{937A5E2B-F361-8A71-ED77-997FE75712EF}"/>
              </a:ext>
            </a:extLst>
          </p:cNvPr>
          <p:cNvSpPr>
            <a:spLocks noGrp="1"/>
          </p:cNvSpPr>
          <p:nvPr/>
        </p:nvSpPr>
        <p:spPr>
          <a:xfrm>
            <a:off x="658368" y="3575304"/>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2</a:t>
            </a:r>
            <a:endParaRPr sz="1300"/>
          </a:p>
        </p:txBody>
      </p:sp>
      <p:sp>
        <p:nvSpPr>
          <p:cNvPr id="15" name="Text 13">
            <a:extLst>
              <a:ext uri="{FF2B5EF4-FFF2-40B4-BE49-F238E27FC236}">
                <a16:creationId xmlns:a16="http://schemas.microsoft.com/office/drawing/2014/main" id="{E7AE1223-5DC2-1330-A8F3-2FC230AB1E82}"/>
              </a:ext>
            </a:extLst>
          </p:cNvPr>
          <p:cNvSpPr>
            <a:spLocks noGrp="1"/>
          </p:cNvSpPr>
          <p:nvPr/>
        </p:nvSpPr>
        <p:spPr>
          <a:xfrm>
            <a:off x="658368" y="4288536"/>
            <a:ext cx="365760" cy="365760"/>
          </a:xfrm>
          <a:prstGeom prst="rect">
            <a:avLst/>
          </a:prstGeom>
          <a:noFill/>
        </p:spPr>
        <p:txBody>
          <a:bodyPr wrap="square" lIns="0" tIns="0" rIns="0" bIns="0" anchor="ctr"/>
          <a:lstStyle/>
          <a:p>
            <a:pPr marL="0" indent="0" algn="ctr">
              <a:buNone/>
            </a:pPr>
            <a:r>
              <a:rPr sz="1300" b="1">
                <a:solidFill>
                  <a:srgbClr val="FFFFFF"/>
                </a:solidFill>
                <a:latin typeface="Calibri"/>
                <a:ea typeface="Calibri"/>
                <a:cs typeface="Calibri"/>
              </a:rPr>
              <a:t>3</a:t>
            </a:r>
            <a:endParaRPr sz="1300"/>
          </a:p>
        </p:txBody>
      </p:sp>
      <p:sp>
        <p:nvSpPr>
          <p:cNvPr id="9" name="TextBox 8">
            <a:extLst>
              <a:ext uri="{FF2B5EF4-FFF2-40B4-BE49-F238E27FC236}">
                <a16:creationId xmlns:a16="http://schemas.microsoft.com/office/drawing/2014/main" id="{505107CA-7183-A7C1-58EF-96FA6B3338A8}"/>
              </a:ext>
            </a:extLst>
          </p:cNvPr>
          <p:cNvSpPr txBox="1"/>
          <p:nvPr/>
        </p:nvSpPr>
        <p:spPr>
          <a:xfrm>
            <a:off x="6730410" y="1284732"/>
            <a:ext cx="1542730" cy="923330"/>
          </a:xfrm>
          <a:prstGeom prst="rect">
            <a:avLst/>
          </a:prstGeom>
          <a:noFill/>
        </p:spPr>
        <p:txBody>
          <a:bodyPr wrap="none" rtlCol="0">
            <a:spAutoFit/>
          </a:bodyPr>
          <a:lstStyle/>
          <a:p>
            <a:r>
              <a:rPr lang="en-US" dirty="0"/>
              <a:t>SYNONYMS</a:t>
            </a:r>
          </a:p>
          <a:p>
            <a:r>
              <a:rPr lang="en-US" dirty="0"/>
              <a:t>FOOD NAMES</a:t>
            </a:r>
          </a:p>
          <a:p>
            <a:r>
              <a:rPr lang="en-US" dirty="0"/>
              <a:t>ADJECTIVES</a:t>
            </a:r>
          </a:p>
        </p:txBody>
      </p:sp>
    </p:spTree>
    <p:extLst>
      <p:ext uri="{BB962C8B-B14F-4D97-AF65-F5344CB8AC3E}">
        <p14:creationId xmlns:p14="http://schemas.microsoft.com/office/powerpoint/2010/main" val="35443460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7A6CAE-3ACE-DD67-2E62-800E652ED940}"/>
              </a:ext>
            </a:extLst>
          </p:cNvPr>
          <p:cNvPicPr>
            <a:picLocks noChangeAspect="1"/>
          </p:cNvPicPr>
          <p:nvPr/>
        </p:nvPicPr>
        <p:blipFill>
          <a:blip r:embed="rId2"/>
          <a:stretch>
            <a:fillRect/>
          </a:stretch>
        </p:blipFill>
        <p:spPr>
          <a:xfrm>
            <a:off x="685800" y="524013"/>
            <a:ext cx="7772400" cy="4095474"/>
          </a:xfrm>
          <a:prstGeom prst="rect">
            <a:avLst/>
          </a:prstGeom>
        </p:spPr>
      </p:pic>
      <p:sp>
        <p:nvSpPr>
          <p:cNvPr id="3" name="TextBox 2">
            <a:extLst>
              <a:ext uri="{FF2B5EF4-FFF2-40B4-BE49-F238E27FC236}">
                <a16:creationId xmlns:a16="http://schemas.microsoft.com/office/drawing/2014/main" id="{9562361F-8B62-B613-3C9B-56851F94843A}"/>
              </a:ext>
            </a:extLst>
          </p:cNvPr>
          <p:cNvSpPr txBox="1"/>
          <p:nvPr/>
        </p:nvSpPr>
        <p:spPr>
          <a:xfrm>
            <a:off x="2575932" y="4092498"/>
            <a:ext cx="3600473" cy="369332"/>
          </a:xfrm>
          <a:prstGeom prst="rect">
            <a:avLst/>
          </a:prstGeom>
          <a:noFill/>
        </p:spPr>
        <p:txBody>
          <a:bodyPr wrap="none" rtlCol="0">
            <a:spAutoFit/>
          </a:bodyPr>
          <a:lstStyle/>
          <a:p>
            <a:r>
              <a:rPr lang="en-US" dirty="0"/>
              <a:t>Rotate Partner—Tell Someone Else</a:t>
            </a:r>
          </a:p>
        </p:txBody>
      </p:sp>
    </p:spTree>
    <p:extLst>
      <p:ext uri="{BB962C8B-B14F-4D97-AF65-F5344CB8AC3E}">
        <p14:creationId xmlns:p14="http://schemas.microsoft.com/office/powerpoint/2010/main" val="6966879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0D26-D793-37CD-78CC-5B1C61AAAFE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AF0B098-3CBF-74C8-99F6-8A0779F5DFE4}"/>
              </a:ext>
            </a:extLst>
          </p:cNvPr>
          <p:cNvSpPr/>
          <p:nvPr/>
        </p:nvSpPr>
        <p:spPr>
          <a:xfrm>
            <a:off x="91440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8812FA1E-E137-2330-C8F4-026CE6E58C9F}"/>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3DD93304-06C9-9077-6368-954D36A9A754}"/>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A01C6394-AFBF-C9C6-0FA2-3D621244D097}"/>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53C6E9A6-E18A-5314-556F-528EF28809CE}"/>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CAAF5479-9B03-32A9-D58B-8219B1942E0B}"/>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dirty="0">
                <a:solidFill>
                  <a:srgbClr val="0F172A"/>
                </a:solidFill>
                <a:latin typeface="Plus Jakarta Sans"/>
              </a:rPr>
              <a:t>Today's B1 Discussion Prompt</a:t>
            </a:r>
          </a:p>
        </p:txBody>
      </p:sp>
      <p:sp>
        <p:nvSpPr>
          <p:cNvPr id="11" name="TextBox 10">
            <a:extLst>
              <a:ext uri="{FF2B5EF4-FFF2-40B4-BE49-F238E27FC236}">
                <a16:creationId xmlns:a16="http://schemas.microsoft.com/office/drawing/2014/main" id="{900C6ED4-C412-DD1C-9C3A-DEFCEFCB343A}"/>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7" name="Picture 6">
            <a:extLst>
              <a:ext uri="{FF2B5EF4-FFF2-40B4-BE49-F238E27FC236}">
                <a16:creationId xmlns:a16="http://schemas.microsoft.com/office/drawing/2014/main" id="{FD5BF406-95A6-2C7C-B437-86890E00B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6057" y="16743"/>
            <a:ext cx="3133060" cy="1762346"/>
          </a:xfrm>
          <a:prstGeom prst="rect">
            <a:avLst/>
          </a:prstGeom>
        </p:spPr>
      </p:pic>
    </p:spTree>
    <p:extLst>
      <p:ext uri="{BB962C8B-B14F-4D97-AF65-F5344CB8AC3E}">
        <p14:creationId xmlns:p14="http://schemas.microsoft.com/office/powerpoint/2010/main" val="477438365"/>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CED6C-41C3-D909-9074-AABDD3B8104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C781E5-0C39-ADF7-6A3A-D72BA62E7272}"/>
              </a:ext>
            </a:extLst>
          </p:cNvPr>
          <p:cNvPicPr>
            <a:picLocks noChangeAspect="1"/>
          </p:cNvPicPr>
          <p:nvPr/>
        </p:nvPicPr>
        <p:blipFill>
          <a:blip r:embed="rId2"/>
          <a:stretch>
            <a:fillRect/>
          </a:stretch>
        </p:blipFill>
        <p:spPr>
          <a:xfrm>
            <a:off x="685800" y="525198"/>
            <a:ext cx="7772400" cy="4093104"/>
          </a:xfrm>
          <a:prstGeom prst="rect">
            <a:avLst/>
          </a:prstGeom>
        </p:spPr>
      </p:pic>
      <p:sp>
        <p:nvSpPr>
          <p:cNvPr id="5" name="TextBox 4">
            <a:extLst>
              <a:ext uri="{FF2B5EF4-FFF2-40B4-BE49-F238E27FC236}">
                <a16:creationId xmlns:a16="http://schemas.microsoft.com/office/drawing/2014/main" id="{CB406422-2CEB-570F-21F8-40DB9EFC5548}"/>
              </a:ext>
            </a:extLst>
          </p:cNvPr>
          <p:cNvSpPr txBox="1"/>
          <p:nvPr/>
        </p:nvSpPr>
        <p:spPr>
          <a:xfrm>
            <a:off x="2575932" y="4248970"/>
            <a:ext cx="2946063" cy="369332"/>
          </a:xfrm>
          <a:prstGeom prst="rect">
            <a:avLst/>
          </a:prstGeom>
          <a:noFill/>
        </p:spPr>
        <p:txBody>
          <a:bodyPr wrap="none" rtlCol="0">
            <a:spAutoFit/>
          </a:bodyPr>
          <a:lstStyle/>
          <a:p>
            <a:r>
              <a:rPr lang="en-US" dirty="0"/>
              <a:t>Next Person’s Turn to Speak</a:t>
            </a:r>
          </a:p>
        </p:txBody>
      </p:sp>
    </p:spTree>
    <p:extLst>
      <p:ext uri="{BB962C8B-B14F-4D97-AF65-F5344CB8AC3E}">
        <p14:creationId xmlns:p14="http://schemas.microsoft.com/office/powerpoint/2010/main" val="42780325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604D3-EC72-B60C-27CC-F20C08D9583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8B013B8-8AB4-1998-7666-BF967395E3BA}"/>
              </a:ext>
            </a:extLst>
          </p:cNvPr>
          <p:cNvSpPr/>
          <p:nvPr/>
        </p:nvSpPr>
        <p:spPr>
          <a:xfrm>
            <a:off x="857250" y="1845543"/>
            <a:ext cx="7429500" cy="2175272"/>
          </a:xfrm>
          <a:prstGeom prst="roundRect">
            <a:avLst>
              <a:gd name="adj" fmla="val 5254"/>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a:extLst>
              <a:ext uri="{FF2B5EF4-FFF2-40B4-BE49-F238E27FC236}">
                <a16:creationId xmlns:a16="http://schemas.microsoft.com/office/drawing/2014/main" id="{1971EFC3-3214-1F2C-E423-7940F6E72B8F}"/>
              </a:ext>
            </a:extLst>
          </p:cNvPr>
          <p:cNvSpPr/>
          <p:nvPr/>
        </p:nvSpPr>
        <p:spPr>
          <a:xfrm>
            <a:off x="857250" y="1845543"/>
            <a:ext cx="57150" cy="2175272"/>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a:extLst>
              <a:ext uri="{FF2B5EF4-FFF2-40B4-BE49-F238E27FC236}">
                <a16:creationId xmlns:a16="http://schemas.microsoft.com/office/drawing/2014/main" id="{1CE89C4B-D08E-2070-357C-DA25103394A5}"/>
              </a:ext>
            </a:extLst>
          </p:cNvPr>
          <p:cNvSpPr/>
          <p:nvPr/>
        </p:nvSpPr>
        <p:spPr>
          <a:xfrm>
            <a:off x="1257300" y="3435027"/>
            <a:ext cx="6686550" cy="300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a:extLst>
              <a:ext uri="{FF2B5EF4-FFF2-40B4-BE49-F238E27FC236}">
                <a16:creationId xmlns:a16="http://schemas.microsoft.com/office/drawing/2014/main" id="{436CA371-DCBA-544D-DC94-ABA3A4D6591A}"/>
              </a:ext>
            </a:extLst>
          </p:cNvPr>
          <p:cNvSpPr/>
          <p:nvPr/>
        </p:nvSpPr>
        <p:spPr>
          <a:xfrm>
            <a:off x="1257300" y="3435027"/>
            <a:ext cx="6686550" cy="7144"/>
          </a:xfrm>
          <a:prstGeom prst="rect">
            <a:avLst/>
          </a:prstGeom>
          <a:solidFill>
            <a:srgbClr val="BAE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52378273-9898-D7B7-34F4-EA634CF890F4}"/>
              </a:ext>
            </a:extLst>
          </p:cNvPr>
          <p:cNvSpPr txBox="1"/>
          <p:nvPr/>
        </p:nvSpPr>
        <p:spPr>
          <a:xfrm>
            <a:off x="457201" y="342900"/>
            <a:ext cx="639599" cy="121252"/>
          </a:xfrm>
          <a:prstGeom prst="rect">
            <a:avLst/>
          </a:prstGeom>
          <a:noFill/>
        </p:spPr>
        <p:txBody>
          <a:bodyPr wrap="none" lIns="0" tIns="0" rIns="0" bIns="0" anchor="t">
            <a:spAutoFit/>
          </a:bodyPr>
          <a:lstStyle/>
          <a:p>
            <a:pPr algn="l"/>
            <a:r>
              <a:rPr sz="788" b="1">
                <a:solidFill>
                  <a:srgbClr val="0284C7"/>
                </a:solidFill>
                <a:latin typeface="Space Grotesk"/>
              </a:rPr>
              <a:t>PRACTICE TASK</a:t>
            </a:r>
          </a:p>
        </p:txBody>
      </p:sp>
      <p:sp>
        <p:nvSpPr>
          <p:cNvPr id="9" name="TextBox 8">
            <a:extLst>
              <a:ext uri="{FF2B5EF4-FFF2-40B4-BE49-F238E27FC236}">
                <a16:creationId xmlns:a16="http://schemas.microsoft.com/office/drawing/2014/main" id="{5D5864A1-3702-D3A6-731A-4DCD6A2067A1}"/>
              </a:ext>
            </a:extLst>
          </p:cNvPr>
          <p:cNvSpPr txBox="1"/>
          <p:nvPr/>
        </p:nvSpPr>
        <p:spPr>
          <a:xfrm>
            <a:off x="457200" y="528638"/>
            <a:ext cx="3190745" cy="307777"/>
          </a:xfrm>
          <a:prstGeom prst="rect">
            <a:avLst/>
          </a:prstGeom>
          <a:noFill/>
        </p:spPr>
        <p:txBody>
          <a:bodyPr wrap="none" lIns="0" tIns="0" rIns="0" bIns="0" anchor="t">
            <a:spAutoFit/>
          </a:bodyPr>
          <a:lstStyle/>
          <a:p>
            <a:pPr>
              <a:lnSpc>
                <a:spcPts val="2430"/>
              </a:lnSpc>
            </a:pPr>
            <a:r>
              <a:rPr sz="2025" b="1">
                <a:solidFill>
                  <a:srgbClr val="0F172A"/>
                </a:solidFill>
                <a:latin typeface="Plus Jakarta Sans"/>
              </a:rPr>
              <a:t>Today's B1 Discussion Prompt</a:t>
            </a:r>
          </a:p>
        </p:txBody>
      </p:sp>
      <p:sp>
        <p:nvSpPr>
          <p:cNvPr id="14" name="TextBox 13">
            <a:extLst>
              <a:ext uri="{FF2B5EF4-FFF2-40B4-BE49-F238E27FC236}">
                <a16:creationId xmlns:a16="http://schemas.microsoft.com/office/drawing/2014/main" id="{7F48F909-1B61-1446-20FF-09CCB390917C}"/>
              </a:ext>
            </a:extLst>
          </p:cNvPr>
          <p:cNvSpPr txBox="1"/>
          <p:nvPr/>
        </p:nvSpPr>
        <p:spPr>
          <a:xfrm>
            <a:off x="1257300" y="2395611"/>
            <a:ext cx="5611333" cy="1163395"/>
          </a:xfrm>
          <a:prstGeom prst="rect">
            <a:avLst/>
          </a:prstGeom>
          <a:noFill/>
        </p:spPr>
        <p:txBody>
          <a:bodyPr wrap="square" lIns="0" tIns="0" rIns="0" bIns="0" anchor="t">
            <a:spAutoFit/>
          </a:bodyPr>
          <a:lstStyle/>
          <a:p>
            <a:pPr algn="ctr">
              <a:lnSpc>
                <a:spcPct val="90000"/>
              </a:lnSpc>
              <a:spcBef>
                <a:spcPct val="0"/>
              </a:spcBef>
              <a:spcAft>
                <a:spcPts val="600"/>
              </a:spcAft>
            </a:pPr>
            <a:r>
              <a:rPr lang="en-US" sz="2800" dirty="0">
                <a:solidFill>
                  <a:schemeClr val="accent1">
                    <a:lumMod val="75000"/>
                  </a:schemeClr>
                </a:solidFill>
                <a:ea typeface="+mj-lt"/>
                <a:cs typeface="+mj-lt"/>
              </a:rPr>
              <a:t>Tell about the best meal you had recently—</a:t>
            </a:r>
            <a:r>
              <a:rPr lang="en-US" sz="2800" b="1" dirty="0">
                <a:solidFill>
                  <a:schemeClr val="accent1">
                    <a:lumMod val="75000"/>
                  </a:schemeClr>
                </a:solidFill>
                <a:ea typeface="+mj-lt"/>
                <a:cs typeface="+mj-lt"/>
              </a:rPr>
              <a:t>where</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what</a:t>
            </a:r>
            <a:r>
              <a:rPr lang="en-US" sz="2800" dirty="0">
                <a:solidFill>
                  <a:schemeClr val="accent1">
                    <a:lumMod val="75000"/>
                  </a:schemeClr>
                </a:solidFill>
                <a:ea typeface="+mj-lt"/>
                <a:cs typeface="+mj-lt"/>
              </a:rPr>
              <a:t> you ate, </a:t>
            </a:r>
            <a:r>
              <a:rPr lang="en-US" sz="2800" b="1" dirty="0">
                <a:solidFill>
                  <a:schemeClr val="accent1">
                    <a:lumMod val="75000"/>
                  </a:schemeClr>
                </a:solidFill>
                <a:ea typeface="+mj-lt"/>
                <a:cs typeface="+mj-lt"/>
              </a:rPr>
              <a:t>who</a:t>
            </a:r>
            <a:r>
              <a:rPr lang="en-US" sz="2800" dirty="0">
                <a:solidFill>
                  <a:schemeClr val="accent1">
                    <a:lumMod val="75000"/>
                  </a:schemeClr>
                </a:solidFill>
                <a:ea typeface="+mj-lt"/>
                <a:cs typeface="+mj-lt"/>
              </a:rPr>
              <a:t> you ate it </a:t>
            </a:r>
            <a:r>
              <a:rPr lang="en-US" sz="2800" b="1" dirty="0">
                <a:solidFill>
                  <a:schemeClr val="accent1">
                    <a:lumMod val="75000"/>
                  </a:schemeClr>
                </a:solidFill>
                <a:ea typeface="+mj-lt"/>
                <a:cs typeface="+mj-lt"/>
              </a:rPr>
              <a:t>with</a:t>
            </a:r>
            <a:r>
              <a:rPr lang="en-US" sz="2800" dirty="0">
                <a:solidFill>
                  <a:schemeClr val="accent1">
                    <a:lumMod val="75000"/>
                  </a:schemeClr>
                </a:solidFill>
                <a:ea typeface="+mj-lt"/>
                <a:cs typeface="+mj-lt"/>
              </a:rPr>
              <a:t>, etc.</a:t>
            </a:r>
          </a:p>
        </p:txBody>
      </p:sp>
      <p:pic>
        <p:nvPicPr>
          <p:cNvPr id="6" name="Picture 5">
            <a:extLst>
              <a:ext uri="{FF2B5EF4-FFF2-40B4-BE49-F238E27FC236}">
                <a16:creationId xmlns:a16="http://schemas.microsoft.com/office/drawing/2014/main" id="{D6E07ED3-E65A-22D1-40CC-B4ACD368F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6057" y="16743"/>
            <a:ext cx="3133060" cy="1762346"/>
          </a:xfrm>
          <a:prstGeom prst="rect">
            <a:avLst/>
          </a:prstGeom>
        </p:spPr>
      </p:pic>
    </p:spTree>
    <p:extLst>
      <p:ext uri="{BB962C8B-B14F-4D97-AF65-F5344CB8AC3E}">
        <p14:creationId xmlns:p14="http://schemas.microsoft.com/office/powerpoint/2010/main" val="859792340"/>
      </p:ext>
    </p:extLst>
  </p:cSld>
  <p:clrMapOvr>
    <a:masterClrMapping/>
  </p:clrMapOvr>
  <mc:AlternateContent xmlns:mc="http://schemas.openxmlformats.org/markup-compatibility/2006" xmlns:p14="http://schemas.microsoft.com/office/powerpoint/2010/main">
    <mc:Choice Requires="p14">
      <p:transition spd="slow" p14:dur="2000" advTm="30000"/>
    </mc:Choice>
    <mc:Fallback xmlns="">
      <p:transition spd="slow" advTm="30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2752F2-0D53-454D-019A-3AD561D17E22}"/>
              </a:ext>
            </a:extLst>
          </p:cNvPr>
          <p:cNvSpPr txBox="1"/>
          <p:nvPr/>
        </p:nvSpPr>
        <p:spPr>
          <a:xfrm>
            <a:off x="962528" y="1982805"/>
            <a:ext cx="6670306" cy="2246769"/>
          </a:xfrm>
          <a:prstGeom prst="rect">
            <a:avLst/>
          </a:prstGeom>
          <a:noFill/>
        </p:spPr>
        <p:txBody>
          <a:bodyPr wrap="square" rtlCol="0">
            <a:spAutoFit/>
          </a:bodyPr>
          <a:lstStyle/>
          <a:p>
            <a:r>
              <a:rPr lang="en-US" sz="2800" dirty="0">
                <a:solidFill>
                  <a:schemeClr val="accent1">
                    <a:lumMod val="75000"/>
                  </a:schemeClr>
                </a:solidFill>
              </a:rPr>
              <a:t>How was it? </a:t>
            </a:r>
          </a:p>
          <a:p>
            <a:r>
              <a:rPr lang="en-US" sz="2800" dirty="0">
                <a:solidFill>
                  <a:schemeClr val="accent1">
                    <a:lumMod val="75000"/>
                  </a:schemeClr>
                </a:solidFill>
              </a:rPr>
              <a:t>Did you feel pushed?</a:t>
            </a:r>
          </a:p>
          <a:p>
            <a:r>
              <a:rPr lang="en-US" sz="2800" dirty="0">
                <a:solidFill>
                  <a:schemeClr val="accent1">
                    <a:lumMod val="75000"/>
                  </a:schemeClr>
                </a:solidFill>
              </a:rPr>
              <a:t>Did it become more fluent with repetition?</a:t>
            </a:r>
          </a:p>
          <a:p>
            <a:r>
              <a:rPr lang="en-US" sz="2800" dirty="0">
                <a:solidFill>
                  <a:schemeClr val="accent1">
                    <a:lumMod val="75000"/>
                  </a:schemeClr>
                </a:solidFill>
              </a:rPr>
              <a:t>What could you have done better?</a:t>
            </a:r>
          </a:p>
          <a:p>
            <a:r>
              <a:rPr lang="en-US" sz="2800" dirty="0">
                <a:solidFill>
                  <a:schemeClr val="accent1">
                    <a:lumMod val="75000"/>
                  </a:schemeClr>
                </a:solidFill>
              </a:rPr>
              <a:t>What language would you like to learn?</a:t>
            </a:r>
          </a:p>
        </p:txBody>
      </p:sp>
      <p:sp>
        <p:nvSpPr>
          <p:cNvPr id="4" name="TextBox 3">
            <a:extLst>
              <a:ext uri="{FF2B5EF4-FFF2-40B4-BE49-F238E27FC236}">
                <a16:creationId xmlns:a16="http://schemas.microsoft.com/office/drawing/2014/main" id="{E9AA4E21-55EC-C6C6-ED1E-25BB733DF91E}"/>
              </a:ext>
            </a:extLst>
          </p:cNvPr>
          <p:cNvSpPr txBox="1"/>
          <p:nvPr/>
        </p:nvSpPr>
        <p:spPr>
          <a:xfrm>
            <a:off x="2569945" y="750771"/>
            <a:ext cx="2390719" cy="707886"/>
          </a:xfrm>
          <a:prstGeom prst="rect">
            <a:avLst/>
          </a:prstGeom>
          <a:noFill/>
        </p:spPr>
        <p:txBody>
          <a:bodyPr wrap="none" rtlCol="0">
            <a:spAutoFit/>
          </a:bodyPr>
          <a:lstStyle/>
          <a:p>
            <a:r>
              <a:rPr lang="en-US" sz="4000" dirty="0">
                <a:solidFill>
                  <a:schemeClr val="accent1">
                    <a:lumMod val="75000"/>
                  </a:schemeClr>
                </a:solidFill>
              </a:rPr>
              <a:t>Reflection</a:t>
            </a:r>
          </a:p>
        </p:txBody>
      </p:sp>
    </p:spTree>
    <p:extLst>
      <p:ext uri="{BB962C8B-B14F-4D97-AF65-F5344CB8AC3E}">
        <p14:creationId xmlns:p14="http://schemas.microsoft.com/office/powerpoint/2010/main" val="7026299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A6F9A2-7B83-6FBC-BF7F-0DE7B26193A8}"/>
              </a:ext>
            </a:extLst>
          </p:cNvPr>
          <p:cNvSpPr txBox="1"/>
          <p:nvPr/>
        </p:nvSpPr>
        <p:spPr>
          <a:xfrm>
            <a:off x="2964581" y="567890"/>
            <a:ext cx="1877437" cy="523220"/>
          </a:xfrm>
          <a:prstGeom prst="rect">
            <a:avLst/>
          </a:prstGeom>
          <a:noFill/>
        </p:spPr>
        <p:txBody>
          <a:bodyPr wrap="none" rtlCol="0">
            <a:spAutoFit/>
          </a:bodyPr>
          <a:lstStyle/>
          <a:p>
            <a:r>
              <a:rPr lang="en-US" sz="2800" dirty="0">
                <a:solidFill>
                  <a:schemeClr val="accent1">
                    <a:lumMod val="75000"/>
                  </a:schemeClr>
                </a:solidFill>
              </a:rPr>
              <a:t>Conclusion</a:t>
            </a:r>
          </a:p>
        </p:txBody>
      </p:sp>
      <p:sp>
        <p:nvSpPr>
          <p:cNvPr id="3" name="TextBox 2">
            <a:extLst>
              <a:ext uri="{FF2B5EF4-FFF2-40B4-BE49-F238E27FC236}">
                <a16:creationId xmlns:a16="http://schemas.microsoft.com/office/drawing/2014/main" id="{016F1796-F14E-DEA8-5AC1-A2050FA74B57}"/>
              </a:ext>
            </a:extLst>
          </p:cNvPr>
          <p:cNvSpPr txBox="1"/>
          <p:nvPr/>
        </p:nvSpPr>
        <p:spPr>
          <a:xfrm>
            <a:off x="904775" y="1328285"/>
            <a:ext cx="6968690"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are the main points that stood out to you?</a:t>
            </a:r>
          </a:p>
          <a:p>
            <a:endParaRPr lang="en-US" sz="2400" dirty="0"/>
          </a:p>
          <a:p>
            <a:pPr marL="285750" indent="-285750">
              <a:buFont typeface="Arial" panose="020B0604020202020204" pitchFamily="34" charset="0"/>
              <a:buChar char="•"/>
            </a:pPr>
            <a:r>
              <a:rPr lang="en-US" sz="2400" dirty="0"/>
              <a:t>What will you do to change your teaching?</a:t>
            </a:r>
          </a:p>
          <a:p>
            <a:endParaRPr lang="en-US" sz="2400" dirty="0"/>
          </a:p>
          <a:p>
            <a:pPr marL="285750" indent="-285750">
              <a:buFont typeface="Arial" panose="020B0604020202020204" pitchFamily="34" charset="0"/>
              <a:buChar char="•"/>
            </a:pPr>
            <a:r>
              <a:rPr lang="en-US" sz="2400" dirty="0"/>
              <a:t>How can we help you accomplish what we’re encouraging you to do?</a:t>
            </a:r>
          </a:p>
        </p:txBody>
      </p:sp>
    </p:spTree>
    <p:extLst>
      <p:ext uri="{BB962C8B-B14F-4D97-AF65-F5344CB8AC3E}">
        <p14:creationId xmlns:p14="http://schemas.microsoft.com/office/powerpoint/2010/main" val="7156716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A7B58-ED8B-4E6A-58D5-EB8113859B3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001B9E1-3874-F4BA-E4B8-003CE7BAFA2F}"/>
              </a:ext>
            </a:extLst>
          </p:cNvPr>
          <p:cNvPicPr>
            <a:picLocks noChangeAspect="1"/>
          </p:cNvPicPr>
          <p:nvPr/>
        </p:nvPicPr>
        <p:blipFill>
          <a:blip r:embed="rId3"/>
          <a:stretch>
            <a:fillRect/>
          </a:stretch>
        </p:blipFill>
        <p:spPr>
          <a:xfrm>
            <a:off x="419986" y="225111"/>
            <a:ext cx="7772400" cy="4374299"/>
          </a:xfrm>
          <a:prstGeom prst="rect">
            <a:avLst/>
          </a:prstGeom>
        </p:spPr>
      </p:pic>
    </p:spTree>
    <p:extLst>
      <p:ext uri="{BB962C8B-B14F-4D97-AF65-F5344CB8AC3E}">
        <p14:creationId xmlns:p14="http://schemas.microsoft.com/office/powerpoint/2010/main" val="14736854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D2E62EA-D086-4392-B47D-67BE73F1AD48}"/>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MAKE IT REAL</a:t>
            </a:r>
            <a:endParaRPr sz="1200"/>
          </a:p>
        </p:txBody>
      </p:sp>
      <p:pic>
        <p:nvPicPr>
          <p:cNvPr id="10" name="Picture 9">
            <a:extLst>
              <a:ext uri="{FF2B5EF4-FFF2-40B4-BE49-F238E27FC236}">
                <a16:creationId xmlns:a16="http://schemas.microsoft.com/office/drawing/2014/main" id="{61F40DB1-C7C7-4DC5-2C8E-417FC1E85829}"/>
              </a:ext>
            </a:extLst>
          </p:cNvPr>
          <p:cNvPicPr>
            <a:picLocks noChangeAspect="1"/>
          </p:cNvPicPr>
          <p:nvPr/>
        </p:nvPicPr>
        <p:blipFill>
          <a:blip r:embed="rId3"/>
          <a:stretch>
            <a:fillRect/>
          </a:stretch>
        </p:blipFill>
        <p:spPr>
          <a:xfrm>
            <a:off x="1443147" y="907333"/>
            <a:ext cx="5914781" cy="3328833"/>
          </a:xfrm>
          <a:prstGeom prst="rect">
            <a:avLst/>
          </a:prstGeom>
        </p:spPr>
      </p:pic>
    </p:spTree>
    <p:extLst>
      <p:ext uri="{BB962C8B-B14F-4D97-AF65-F5344CB8AC3E}">
        <p14:creationId xmlns:p14="http://schemas.microsoft.com/office/powerpoint/2010/main" val="19961300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363022-C969-41E9-8EB2-E4C94908C1FA}"/>
              </a:ext>
            </a:extLst>
          </p:cNvPr>
          <p:cNvSpPr>
            <a:spLocks noGrp="1"/>
          </p:cNvSpPr>
          <p:nvPr/>
        </p:nvSpPr>
        <p:spPr>
          <a:xfrm>
            <a:off x="0" y="0"/>
            <a:ext cx="9143771" cy="51390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8D1AD6B3-BE88-4CEB-BA17-790657CC4729}"/>
              </a:ext>
            </a:extLst>
          </p:cNvPr>
          <p:cNvSpPr>
            <a:spLocks noGrp="1"/>
          </p:cNvSpPr>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46407F3D-1195-64D9-F7F3-6D3D28361A25}"/>
              </a:ext>
            </a:extLst>
          </p:cNvPr>
          <p:cNvSpPr>
            <a:spLocks noGrp="1"/>
          </p:cNvSpPr>
          <p:nvPr/>
        </p:nvSpPr>
        <p:spPr>
          <a:xfrm>
            <a:off x="4942996" y="3200874"/>
            <a:ext cx="3604497" cy="972836"/>
          </a:xfrm>
          <a:prstGeom prst="rect">
            <a:avLst/>
          </a:prstGeom>
        </p:spPr>
        <p:txBody>
          <a:bodyPr vert="horz" lIns="91440" tIns="45720" rIns="91440" bIns="45720" anchor="t">
            <a:normAutofit/>
          </a:bodyPr>
          <a:lstStyle/>
          <a:p>
            <a:pPr>
              <a:lnSpc>
                <a:spcPct val="90000"/>
              </a:lnSpc>
              <a:spcBef>
                <a:spcPct val="0"/>
              </a:spcBef>
              <a:spcAft>
                <a:spcPts val="600"/>
              </a:spcAft>
              <a:buNone/>
            </a:pPr>
            <a:r>
              <a:rPr sz="3000" dirty="0">
                <a:solidFill>
                  <a:schemeClr val="tx2"/>
                </a:solidFill>
                <a:latin typeface="+mj-lt"/>
                <a:ea typeface="+mj-lt"/>
                <a:cs typeface="+mj-lt"/>
              </a:rPr>
              <a:t>Review Sheet for Reference</a:t>
            </a:r>
          </a:p>
        </p:txBody>
      </p:sp>
      <p:pic>
        <p:nvPicPr>
          <p:cNvPr id="20" name="Picture 1"/>
          <p:cNvPicPr>
            <a:picLocks noChangeAspect="1"/>
          </p:cNvPicPr>
          <p:nvPr/>
        </p:nvPicPr>
        <p:blipFill>
          <a:blip r:embed="rId3"/>
          <a:stretch>
            <a:fillRect/>
          </a:stretch>
        </p:blipFill>
        <p:spPr>
          <a:xfrm>
            <a:off x="1086058" y="1841071"/>
            <a:ext cx="1483013" cy="1483013"/>
          </a:xfrm>
        </p:spPr>
      </p:pic>
      <p:sp>
        <p:nvSpPr>
          <p:cNvPr id="13" name="Freeform: Shape 12">
            <a:extLst>
              <a:ext uri="{FF2B5EF4-FFF2-40B4-BE49-F238E27FC236}">
                <a16:creationId xmlns:a16="http://schemas.microsoft.com/office/drawing/2014/main" id="{9E720206-AA49-4786-A932-A2650DE09183}"/>
              </a:ext>
            </a:extLst>
          </p:cNvPr>
          <p:cNvSpPr>
            <a:spLocks noGrp="1"/>
          </p:cNvSpPr>
          <p:nvPr/>
        </p:nvSpPr>
        <p:spPr>
          <a:xfrm flipH="1">
            <a:off x="-3189" y="26140"/>
            <a:ext cx="4521521" cy="5112875"/>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Freeform: Shape 13">
            <a:extLst>
              <a:ext uri="{FF2B5EF4-FFF2-40B4-BE49-F238E27FC236}">
                <a16:creationId xmlns:a16="http://schemas.microsoft.com/office/drawing/2014/main" id="{C72F6EE6-EDE9-45A5-8F6D-02B9B7CB2C2F}"/>
              </a:ext>
            </a:extLst>
          </p:cNvPr>
          <p:cNvSpPr>
            <a:spLocks noGrp="1"/>
          </p:cNvSpPr>
          <p:nvPr/>
        </p:nvSpPr>
        <p:spPr>
          <a:xfrm flipH="1">
            <a:off x="-3189" y="0"/>
            <a:ext cx="462383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Freeform: Shape 14">
            <a:extLst>
              <a:ext uri="{FF2B5EF4-FFF2-40B4-BE49-F238E27FC236}">
                <a16:creationId xmlns:a16="http://schemas.microsoft.com/office/drawing/2014/main" id="{C093DC50-3BD7-46B1-A300-CD207E152FF4}"/>
              </a:ext>
            </a:extLst>
          </p:cNvPr>
          <p:cNvSpPr>
            <a:spLocks noGrp="1"/>
          </p:cNvSpPr>
          <p:nvPr/>
        </p:nvSpPr>
        <p:spPr>
          <a:xfrm flipH="1">
            <a:off x="-3189" y="-4482"/>
            <a:ext cx="4679005" cy="5143498"/>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58" name="BYU Linguistics logo" descr="BYU Linguistics logo"/>
          <p:cNvPicPr>
            <a:picLocks noChangeAspect="1"/>
          </p:cNvPicPr>
          <p:nvPr/>
        </p:nvPicPr>
        <p:blipFill>
          <a:blip r:embed="rId4"/>
          <a:stretch>
            <a:fillRect/>
          </a:stretch>
        </p:blipFill>
        <p:spPr>
          <a:xfrm>
            <a:off x="7498080" y="365760"/>
            <a:ext cx="1188720" cy="691061"/>
          </a:xfrm>
          <a:prstGeom prst="rect">
            <a:avLst/>
          </a:prstGeom>
        </p:spPr>
      </p:pic>
      <p:pic>
        <p:nvPicPr>
          <p:cNvPr id="2" name="Picture 1">
            <a:extLst>
              <a:ext uri="{FF2B5EF4-FFF2-40B4-BE49-F238E27FC236}">
                <a16:creationId xmlns:a16="http://schemas.microsoft.com/office/drawing/2014/main" id="{CD21C164-FD67-DC15-D243-2B53364488FA}"/>
              </a:ext>
            </a:extLst>
          </p:cNvPr>
          <p:cNvPicPr>
            <a:picLocks noChangeAspect="1"/>
          </p:cNvPicPr>
          <p:nvPr/>
        </p:nvPicPr>
        <p:blipFill>
          <a:blip r:embed="rId5"/>
          <a:stretch>
            <a:fillRect/>
          </a:stretch>
        </p:blipFill>
        <p:spPr>
          <a:xfrm>
            <a:off x="460619" y="1306286"/>
            <a:ext cx="2867424" cy="2867424"/>
          </a:xfrm>
          <a:prstGeom prst="rect">
            <a:avLst/>
          </a:prstGeom>
        </p:spPr>
      </p:pic>
    </p:spTree>
    <p:extLst>
      <p:ext uri="{BB962C8B-B14F-4D97-AF65-F5344CB8AC3E}">
        <p14:creationId xmlns:p14="http://schemas.microsoft.com/office/powerpoint/2010/main" val="26229065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7353C5D-90C8-4F2B-8C3F-32D50A72CECF}"/>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dirty="0">
                <a:solidFill>
                  <a:srgbClr val="0062B8"/>
                </a:solidFill>
                <a:latin typeface="Calibri"/>
                <a:ea typeface="Calibri"/>
                <a:cs typeface="Calibri"/>
              </a:rPr>
              <a:t>MONDAY MOVES</a:t>
            </a:r>
            <a:r>
              <a:rPr lang="en-US" sz="1200" b="1" spc="200" dirty="0">
                <a:solidFill>
                  <a:srgbClr val="0062B8"/>
                </a:solidFill>
                <a:latin typeface="Calibri"/>
                <a:ea typeface="Calibri"/>
                <a:cs typeface="Calibri"/>
              </a:rPr>
              <a:t> – DO THIS IN YOUR CLASSROOM</a:t>
            </a:r>
            <a:endParaRPr sz="1200" dirty="0"/>
          </a:p>
        </p:txBody>
      </p:sp>
      <p:sp>
        <p:nvSpPr>
          <p:cNvPr id="3" name="Text 1">
            <a:extLst>
              <a:ext uri="{FF2B5EF4-FFF2-40B4-BE49-F238E27FC236}">
                <a16:creationId xmlns:a16="http://schemas.microsoft.com/office/drawing/2014/main" id="{51CBCE40-1D80-4EC0-8134-4E0F181C1B0C}"/>
              </a:ext>
            </a:extLst>
          </p:cNvPr>
          <p:cNvSpPr>
            <a:spLocks noGrp="1"/>
          </p:cNvSpPr>
          <p:nvPr/>
        </p:nvSpPr>
        <p:spPr>
          <a:xfrm>
            <a:off x="502920" y="713232"/>
            <a:ext cx="5387517" cy="1207008"/>
          </a:xfrm>
          <a:prstGeom prst="rect">
            <a:avLst/>
          </a:prstGeom>
          <a:noFill/>
        </p:spPr>
        <p:txBody>
          <a:bodyPr wrap="square" lIns="0" tIns="0" rIns="0" bIns="0" anchor="t"/>
          <a:lstStyle/>
          <a:p>
            <a:pPr marL="0" indent="0" algn="l">
              <a:buNone/>
            </a:pPr>
            <a:r>
              <a:rPr lang="en-US" sz="2800" b="1" dirty="0">
                <a:solidFill>
                  <a:srgbClr val="002E5D"/>
                </a:solidFill>
                <a:latin typeface="Calibri"/>
                <a:ea typeface="Calibri"/>
                <a:cs typeface="Calibri"/>
              </a:rPr>
              <a:t>ACTIVITIES:</a:t>
            </a:r>
            <a:br>
              <a:rPr lang="en-US" sz="2800" b="1" dirty="0">
                <a:solidFill>
                  <a:srgbClr val="002E5D"/>
                </a:solidFill>
                <a:latin typeface="Calibri"/>
                <a:ea typeface="Calibri"/>
                <a:cs typeface="Calibri"/>
              </a:rPr>
            </a:br>
            <a:r>
              <a:rPr sz="2400" b="1" dirty="0">
                <a:solidFill>
                  <a:srgbClr val="002E5D"/>
                </a:solidFill>
                <a:latin typeface="Calibri"/>
                <a:ea typeface="Calibri"/>
                <a:cs typeface="Calibri"/>
              </a:rPr>
              <a:t>Multiply </a:t>
            </a:r>
            <a:r>
              <a:rPr lang="en-US" sz="2400" b="1" dirty="0">
                <a:solidFill>
                  <a:srgbClr val="002E5D"/>
                </a:solidFill>
                <a:latin typeface="Calibri"/>
                <a:ea typeface="Calibri"/>
                <a:cs typeface="Calibri"/>
              </a:rPr>
              <a:t>student </a:t>
            </a:r>
            <a:r>
              <a:rPr sz="2400" b="1" dirty="0">
                <a:solidFill>
                  <a:srgbClr val="002E5D"/>
                </a:solidFill>
                <a:latin typeface="Calibri"/>
                <a:ea typeface="Calibri"/>
                <a:cs typeface="Calibri"/>
              </a:rPr>
              <a:t>output. Cut your own </a:t>
            </a:r>
            <a:r>
              <a:rPr lang="en-US" sz="2400" b="1" dirty="0">
                <a:solidFill>
                  <a:srgbClr val="002E5D"/>
                </a:solidFill>
                <a:latin typeface="Calibri"/>
                <a:ea typeface="Calibri"/>
                <a:cs typeface="Calibri"/>
              </a:rPr>
              <a:t>teacher </a:t>
            </a:r>
            <a:r>
              <a:rPr sz="2400" b="1" dirty="0">
                <a:solidFill>
                  <a:srgbClr val="002E5D"/>
                </a:solidFill>
                <a:latin typeface="Calibri"/>
                <a:ea typeface="Calibri"/>
                <a:cs typeface="Calibri"/>
              </a:rPr>
              <a:t>talk.</a:t>
            </a:r>
            <a:endParaRPr sz="2400" dirty="0"/>
          </a:p>
        </p:txBody>
      </p:sp>
      <p:sp>
        <p:nvSpPr>
          <p:cNvPr id="4" name="Text 2">
            <a:extLst>
              <a:ext uri="{FF2B5EF4-FFF2-40B4-BE49-F238E27FC236}">
                <a16:creationId xmlns:a16="http://schemas.microsoft.com/office/drawing/2014/main" id="{87F2449A-085E-4229-AA69-9697C0E485D4}"/>
              </a:ext>
            </a:extLst>
          </p:cNvPr>
          <p:cNvSpPr>
            <a:spLocks noGrp="1"/>
          </p:cNvSpPr>
          <p:nvPr/>
        </p:nvSpPr>
        <p:spPr>
          <a:xfrm>
            <a:off x="640080" y="1920240"/>
            <a:ext cx="7955280" cy="2743200"/>
          </a:xfrm>
          <a:prstGeom prst="rect">
            <a:avLst/>
          </a:prstGeom>
          <a:noFill/>
        </p:spPr>
        <p:txBody>
          <a:bodyPr wrap="square" lIns="0" tIns="0" rIns="0" bIns="0" anchor="t"/>
          <a:lstStyle/>
          <a:p>
            <a:pPr marL="228600" indent="-228600" algn="l">
              <a:spcAft>
                <a:spcPts val="1000"/>
              </a:spcAft>
              <a:buSzPct val="100000"/>
              <a:buChar char="•"/>
            </a:pPr>
            <a:r>
              <a:rPr sz="1700" b="1" dirty="0">
                <a:solidFill>
                  <a:srgbClr val="0062B8"/>
                </a:solidFill>
                <a:latin typeface="Cambria"/>
                <a:ea typeface="Cambria"/>
                <a:cs typeface="Cambria"/>
              </a:rPr>
              <a:t>Use pairs, </a:t>
            </a:r>
            <a:r>
              <a:rPr sz="1700" dirty="0">
                <a:solidFill>
                  <a:srgbClr val="1F2937"/>
                </a:solidFill>
                <a:latin typeface="Cambria"/>
                <a:ea typeface="Cambria"/>
                <a:cs typeface="Cambria"/>
              </a:rPr>
              <a:t>not hands-up — everyone answers every question.</a:t>
            </a:r>
            <a:endParaRPr sz="1700" dirty="0"/>
          </a:p>
          <a:p>
            <a:pPr marL="228600" indent="-228600" algn="l">
              <a:spcAft>
                <a:spcPts val="1000"/>
              </a:spcAft>
              <a:buSzPct val="100000"/>
              <a:buChar char="•"/>
            </a:pPr>
            <a:r>
              <a:rPr sz="1700" b="1" dirty="0">
                <a:solidFill>
                  <a:srgbClr val="0062B8"/>
                </a:solidFill>
                <a:latin typeface="Cambria"/>
                <a:ea typeface="Cambria"/>
                <a:cs typeface="Cambria"/>
              </a:rPr>
              <a:t>4/3/2 </a:t>
            </a:r>
            <a:r>
              <a:rPr sz="1700" dirty="0">
                <a:solidFill>
                  <a:srgbClr val="1F2937"/>
                </a:solidFill>
                <a:latin typeface="Cambria"/>
                <a:ea typeface="Cambria"/>
                <a:cs typeface="Cambria"/>
              </a:rPr>
              <a:t>for any “tell me about…” task.</a:t>
            </a:r>
            <a:endParaRPr sz="1700" dirty="0"/>
          </a:p>
          <a:p>
            <a:pPr marL="228600" indent="-228600" algn="l">
              <a:spcAft>
                <a:spcPts val="1000"/>
              </a:spcAft>
              <a:buSzPct val="100000"/>
              <a:buChar char="•"/>
            </a:pPr>
            <a:r>
              <a:rPr sz="1700" b="1" dirty="0">
                <a:solidFill>
                  <a:srgbClr val="0062B8"/>
                </a:solidFill>
                <a:latin typeface="Cambria"/>
                <a:ea typeface="Cambria"/>
                <a:cs typeface="Cambria"/>
              </a:rPr>
              <a:t>“Say it again, better” </a:t>
            </a:r>
            <a:r>
              <a:rPr sz="1700" dirty="0">
                <a:solidFill>
                  <a:srgbClr val="1F2937"/>
                </a:solidFill>
                <a:latin typeface="Cambria"/>
                <a:ea typeface="Cambria"/>
                <a:cs typeface="Cambria"/>
              </a:rPr>
              <a:t>as a regular habit—push them.</a:t>
            </a:r>
            <a:endParaRPr lang="en-US" sz="1700" dirty="0">
              <a:solidFill>
                <a:srgbClr val="1F2937"/>
              </a:solidFill>
              <a:latin typeface="Cambria"/>
              <a:ea typeface="Cambria"/>
              <a:cs typeface="Cambria"/>
            </a:endParaRPr>
          </a:p>
          <a:p>
            <a:pPr marL="228600" indent="-228600">
              <a:spcAft>
                <a:spcPts val="1000"/>
              </a:spcAft>
              <a:buSzPct val="100000"/>
              <a:buFontTx/>
              <a:buChar char="•"/>
            </a:pPr>
            <a:r>
              <a:rPr lang="en-US" sz="1700" b="1" dirty="0">
                <a:solidFill>
                  <a:srgbClr val="0062B8"/>
                </a:solidFill>
              </a:rPr>
              <a:t>Think–pair–share </a:t>
            </a:r>
            <a:r>
              <a:rPr lang="en-US" sz="1700" dirty="0">
                <a:solidFill>
                  <a:srgbClr val="1F2937"/>
                </a:solidFill>
              </a:rPr>
              <a:t>so everyone speaks before anyone shares with the class.</a:t>
            </a:r>
          </a:p>
          <a:p>
            <a:pPr marL="228600" indent="-228600">
              <a:spcAft>
                <a:spcPts val="1000"/>
              </a:spcAft>
              <a:buSzPct val="100000"/>
              <a:buFontTx/>
              <a:buChar char="•"/>
            </a:pPr>
            <a:r>
              <a:rPr lang="en-US" sz="1700" b="1" dirty="0">
                <a:solidFill>
                  <a:srgbClr val="0062B8"/>
                </a:solidFill>
              </a:rPr>
              <a:t>Information Gap Activities</a:t>
            </a:r>
          </a:p>
          <a:p>
            <a:pPr marL="685800" lvl="1" indent="-228600">
              <a:spcAft>
                <a:spcPts val="1000"/>
              </a:spcAft>
              <a:buSzPct val="100000"/>
              <a:buFontTx/>
              <a:buChar char="•"/>
            </a:pPr>
            <a:r>
              <a:rPr lang="en-US" sz="1700" b="1" dirty="0">
                <a:solidFill>
                  <a:schemeClr val="accent2">
                    <a:lumMod val="90000"/>
                    <a:lumOff val="10000"/>
                  </a:schemeClr>
                </a:solidFill>
              </a:rPr>
              <a:t>Each person has some knowledge or ideas or thoughts the other does not have/know—the questioner is asking the listener to fill these gaps.</a:t>
            </a:r>
          </a:p>
        </p:txBody>
      </p:sp>
      <p:pic>
        <p:nvPicPr>
          <p:cNvPr id="5" name="Picture 4">
            <a:extLst>
              <a:ext uri="{FF2B5EF4-FFF2-40B4-BE49-F238E27FC236}">
                <a16:creationId xmlns:a16="http://schemas.microsoft.com/office/drawing/2014/main" id="{92EB31D6-C27A-CFFF-1C3F-9F53EF102479}"/>
              </a:ext>
            </a:extLst>
          </p:cNvPr>
          <p:cNvPicPr>
            <a:picLocks noChangeAspect="1"/>
          </p:cNvPicPr>
          <p:nvPr/>
        </p:nvPicPr>
        <p:blipFill>
          <a:blip r:embed="rId3"/>
          <a:stretch>
            <a:fillRect/>
          </a:stretch>
        </p:blipFill>
        <p:spPr>
          <a:xfrm>
            <a:off x="7012655" y="186612"/>
            <a:ext cx="1582705" cy="1582705"/>
          </a:xfrm>
          <a:prstGeom prst="rect">
            <a:avLst/>
          </a:prstGeom>
        </p:spPr>
      </p:pic>
    </p:spTree>
    <p:extLst>
      <p:ext uri="{BB962C8B-B14F-4D97-AF65-F5344CB8AC3E}">
        <p14:creationId xmlns:p14="http://schemas.microsoft.com/office/powerpoint/2010/main" val="6777401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AE41C2-56C9-99E0-47FB-5933B1CD0106}"/>
              </a:ext>
            </a:extLst>
          </p:cNvPr>
          <p:cNvPicPr>
            <a:picLocks noChangeAspect="1"/>
          </p:cNvPicPr>
          <p:nvPr/>
        </p:nvPicPr>
        <p:blipFill>
          <a:blip r:embed="rId2"/>
          <a:stretch>
            <a:fillRect/>
          </a:stretch>
        </p:blipFill>
        <p:spPr>
          <a:xfrm>
            <a:off x="5761517" y="212652"/>
            <a:ext cx="2083981" cy="2083981"/>
          </a:xfrm>
          <a:prstGeom prst="rect">
            <a:avLst/>
          </a:prstGeom>
        </p:spPr>
      </p:pic>
      <p:pic>
        <p:nvPicPr>
          <p:cNvPr id="3" name="Picture 2">
            <a:extLst>
              <a:ext uri="{FF2B5EF4-FFF2-40B4-BE49-F238E27FC236}">
                <a16:creationId xmlns:a16="http://schemas.microsoft.com/office/drawing/2014/main" id="{FA1A8BBF-3281-278E-FD81-3BDFB23F1600}"/>
              </a:ext>
            </a:extLst>
          </p:cNvPr>
          <p:cNvPicPr>
            <a:picLocks noChangeAspect="1"/>
          </p:cNvPicPr>
          <p:nvPr/>
        </p:nvPicPr>
        <p:blipFill>
          <a:blip r:embed="rId3"/>
          <a:stretch>
            <a:fillRect/>
          </a:stretch>
        </p:blipFill>
        <p:spPr>
          <a:xfrm>
            <a:off x="297711" y="1359638"/>
            <a:ext cx="5018568" cy="3345712"/>
          </a:xfrm>
          <a:prstGeom prst="rect">
            <a:avLst/>
          </a:prstGeom>
        </p:spPr>
      </p:pic>
      <p:sp>
        <p:nvSpPr>
          <p:cNvPr id="4" name="TextBox 3">
            <a:extLst>
              <a:ext uri="{FF2B5EF4-FFF2-40B4-BE49-F238E27FC236}">
                <a16:creationId xmlns:a16="http://schemas.microsoft.com/office/drawing/2014/main" id="{71A24AC6-9060-7B2A-1AB5-3A7E50F26810}"/>
              </a:ext>
            </a:extLst>
          </p:cNvPr>
          <p:cNvSpPr txBox="1"/>
          <p:nvPr/>
        </p:nvSpPr>
        <p:spPr>
          <a:xfrm>
            <a:off x="425302" y="212652"/>
            <a:ext cx="3368230" cy="1077218"/>
          </a:xfrm>
          <a:prstGeom prst="rect">
            <a:avLst/>
          </a:prstGeom>
          <a:noFill/>
        </p:spPr>
        <p:txBody>
          <a:bodyPr wrap="none" rtlCol="0">
            <a:spAutoFit/>
          </a:bodyPr>
          <a:lstStyle/>
          <a:p>
            <a:r>
              <a:rPr lang="en-US" sz="3200" dirty="0">
                <a:solidFill>
                  <a:schemeClr val="accent1">
                    <a:lumMod val="50000"/>
                  </a:schemeClr>
                </a:solidFill>
              </a:rPr>
              <a:t>Ways to Increase </a:t>
            </a:r>
          </a:p>
          <a:p>
            <a:r>
              <a:rPr lang="en-US" sz="3200" dirty="0">
                <a:solidFill>
                  <a:schemeClr val="accent1">
                    <a:lumMod val="50000"/>
                  </a:schemeClr>
                </a:solidFill>
              </a:rPr>
              <a:t>Student Talk Time</a:t>
            </a:r>
          </a:p>
        </p:txBody>
      </p:sp>
    </p:spTree>
    <p:extLst>
      <p:ext uri="{BB962C8B-B14F-4D97-AF65-F5344CB8AC3E}">
        <p14:creationId xmlns:p14="http://schemas.microsoft.com/office/powerpoint/2010/main" val="34526860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a:extLst>
            <a:ext uri="{FF2B5EF4-FFF2-40B4-BE49-F238E27FC236}">
              <a16:creationId xmlns:a16="http://schemas.microsoft.com/office/drawing/2014/main" id="{201F3312-FA2F-D5B1-612C-BBF67C43141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121CA3D-E660-F2A2-AA2D-56DF1EDFD171}"/>
              </a:ext>
            </a:extLst>
          </p:cNvPr>
          <p:cNvPicPr>
            <a:picLocks noChangeAspect="1"/>
          </p:cNvPicPr>
          <p:nvPr/>
        </p:nvPicPr>
        <p:blipFill>
          <a:blip r:embed="rId3"/>
          <a:stretch>
            <a:fillRect/>
          </a:stretch>
        </p:blipFill>
        <p:spPr>
          <a:xfrm>
            <a:off x="356191" y="225111"/>
            <a:ext cx="7772400" cy="4374299"/>
          </a:xfrm>
          <a:prstGeom prst="rect">
            <a:avLst/>
          </a:prstGeom>
        </p:spPr>
      </p:pic>
    </p:spTree>
    <p:extLst>
      <p:ext uri="{BB962C8B-B14F-4D97-AF65-F5344CB8AC3E}">
        <p14:creationId xmlns:p14="http://schemas.microsoft.com/office/powerpoint/2010/main" val="5111920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B521CFB-91F2-4D4A-A208-5787B7E7DB31}"/>
              </a:ext>
            </a:extLst>
          </p:cNvPr>
          <p:cNvSpPr>
            <a:spLocks noGrp="1"/>
          </p:cNvSpPr>
          <p:nvPr/>
        </p:nvSpPr>
        <p:spPr>
          <a:xfrm>
            <a:off x="502920" y="384048"/>
            <a:ext cx="8229600" cy="274320"/>
          </a:xfrm>
          <a:prstGeom prst="rect">
            <a:avLst/>
          </a:prstGeom>
          <a:noFill/>
        </p:spPr>
        <p:txBody>
          <a:bodyPr wrap="square" lIns="0" tIns="0" rIns="0" bIns="0" anchor="ctr"/>
          <a:lstStyle/>
          <a:p>
            <a:pPr marL="0" indent="0" algn="l">
              <a:buNone/>
            </a:pPr>
            <a:r>
              <a:rPr sz="1200" b="1" spc="200">
                <a:solidFill>
                  <a:srgbClr val="0062B8"/>
                </a:solidFill>
                <a:latin typeface="Calibri"/>
                <a:ea typeface="Calibri"/>
                <a:cs typeface="Calibri"/>
              </a:rPr>
              <a:t>SOURCES BEHIND THESE PRACTICES</a:t>
            </a:r>
            <a:endParaRPr sz="1200"/>
          </a:p>
        </p:txBody>
      </p:sp>
      <p:sp>
        <p:nvSpPr>
          <p:cNvPr id="5" name="Text 3">
            <a:extLst>
              <a:ext uri="{FF2B5EF4-FFF2-40B4-BE49-F238E27FC236}">
                <a16:creationId xmlns:a16="http://schemas.microsoft.com/office/drawing/2014/main" id="{D537ACA5-9FD2-4C52-BE0D-D6A0D3CFBB22}"/>
              </a:ext>
            </a:extLst>
          </p:cNvPr>
          <p:cNvSpPr>
            <a:spLocks noGrp="1"/>
          </p:cNvSpPr>
          <p:nvPr/>
        </p:nvSpPr>
        <p:spPr>
          <a:xfrm>
            <a:off x="502920" y="4572000"/>
            <a:ext cx="8229600" cy="365760"/>
          </a:xfrm>
          <a:prstGeom prst="rect">
            <a:avLst/>
          </a:prstGeom>
          <a:noFill/>
        </p:spPr>
        <p:txBody>
          <a:bodyPr wrap="square" lIns="0" tIns="0" rIns="0" bIns="0" anchor="ctr"/>
          <a:lstStyle/>
          <a:p>
            <a:pPr marL="0" indent="0" algn="l">
              <a:buNone/>
            </a:pPr>
            <a:r>
              <a:rPr sz="1100">
                <a:solidFill>
                  <a:srgbClr val="6B7280"/>
                </a:solidFill>
                <a:latin typeface="Calibri"/>
                <a:ea typeface="Calibri"/>
                <a:cs typeface="Calibri"/>
              </a:rPr>
              <a:t>Facilitator demo pack &amp; interactive handout accompany this deck.</a:t>
            </a:r>
            <a:endParaRPr sz="1100"/>
          </a:p>
        </p:txBody>
      </p:sp>
      <p:pic>
        <p:nvPicPr>
          <p:cNvPr id="6" name="Picture 5">
            <a:extLst>
              <a:ext uri="{FF2B5EF4-FFF2-40B4-BE49-F238E27FC236}">
                <a16:creationId xmlns:a16="http://schemas.microsoft.com/office/drawing/2014/main" id="{C60E7FE9-2DA3-BCB3-180C-0EC162989F8B}"/>
              </a:ext>
            </a:extLst>
          </p:cNvPr>
          <p:cNvPicPr>
            <a:picLocks noChangeAspect="1"/>
          </p:cNvPicPr>
          <p:nvPr/>
        </p:nvPicPr>
        <p:blipFill>
          <a:blip r:embed="rId3"/>
          <a:stretch>
            <a:fillRect/>
          </a:stretch>
        </p:blipFill>
        <p:spPr>
          <a:xfrm>
            <a:off x="502920" y="786810"/>
            <a:ext cx="2011681" cy="2011681"/>
          </a:xfrm>
          <a:prstGeom prst="rect">
            <a:avLst/>
          </a:prstGeom>
        </p:spPr>
      </p:pic>
      <p:sp>
        <p:nvSpPr>
          <p:cNvPr id="7" name="TextBox 2">
            <a:extLst>
              <a:ext uri="{FF2B5EF4-FFF2-40B4-BE49-F238E27FC236}">
                <a16:creationId xmlns:a16="http://schemas.microsoft.com/office/drawing/2014/main" id="{1ADABBEF-86F8-FAAF-3E0D-47DEB55216C4}"/>
              </a:ext>
            </a:extLst>
          </p:cNvPr>
          <p:cNvSpPr>
            <a:spLocks noGrp="1"/>
          </p:cNvSpPr>
          <p:nvPr/>
        </p:nvSpPr>
        <p:spPr>
          <a:xfrm>
            <a:off x="2769751" y="786809"/>
            <a:ext cx="5566175" cy="3455582"/>
          </a:xfrm>
          <a:prstGeom prst="rect">
            <a:avLst/>
          </a:prstGeom>
        </p:spPr>
        <p:txBody>
          <a:bodyPr vert="horz" lIns="91440" tIns="45720" rIns="91440" bIns="45720" anchor="t">
            <a:normAutofit fontScale="55000" lnSpcReduction="20000"/>
          </a:bodyPr>
          <a:lstStyle/>
          <a:p>
            <a:pPr>
              <a:lnSpc>
                <a:spcPct val="90000"/>
              </a:lnSpc>
              <a:spcBef>
                <a:spcPct val="0"/>
              </a:spcBef>
              <a:spcAft>
                <a:spcPts val="600"/>
              </a:spcAft>
              <a:buNone/>
            </a:pPr>
            <a:r>
              <a:rPr lang="en-US" sz="4500" b="1" dirty="0">
                <a:solidFill>
                  <a:schemeClr val="tx2"/>
                </a:solidFill>
                <a:latin typeface="+mj-lt"/>
                <a:ea typeface="+mj-lt"/>
                <a:cs typeface="+mj-lt"/>
              </a:rPr>
              <a:t>Increasing Volume and Pushed Output</a:t>
            </a:r>
            <a:br>
              <a:rPr lang="en-US" sz="4500" b="1" dirty="0">
                <a:solidFill>
                  <a:schemeClr val="tx2"/>
                </a:solidFill>
                <a:latin typeface="+mj-lt"/>
                <a:ea typeface="+mj-lt"/>
                <a:cs typeface="+mj-lt"/>
              </a:rPr>
            </a:br>
            <a:r>
              <a:rPr lang="en-US" sz="4500" b="1" dirty="0">
                <a:solidFill>
                  <a:schemeClr val="tx2"/>
                </a:solidFill>
                <a:latin typeface="+mj-lt"/>
                <a:ea typeface="+mj-lt"/>
                <a:cs typeface="+mj-lt"/>
              </a:rPr>
              <a:t>AI Prompt Examples</a:t>
            </a:r>
            <a:br>
              <a:rPr lang="en-US" sz="4500" b="1" dirty="0">
                <a:solidFill>
                  <a:schemeClr val="tx2"/>
                </a:solidFill>
                <a:latin typeface="+mj-lt"/>
                <a:ea typeface="+mj-lt"/>
                <a:cs typeface="+mj-lt"/>
              </a:rPr>
            </a:br>
            <a:endParaRPr lang="en-US" sz="4500" b="1" dirty="0">
              <a:solidFill>
                <a:schemeClr val="tx2"/>
              </a:solidFill>
              <a:latin typeface="+mj-lt"/>
              <a:ea typeface="+mj-lt"/>
              <a:cs typeface="+mj-lt"/>
            </a:endParaRPr>
          </a:p>
          <a:p>
            <a:pPr lvl="1">
              <a:lnSpc>
                <a:spcPct val="90000"/>
              </a:lnSpc>
              <a:spcBef>
                <a:spcPct val="0"/>
              </a:spcBef>
              <a:spcAft>
                <a:spcPts val="600"/>
              </a:spcAft>
            </a:pPr>
            <a:r>
              <a:rPr lang="en-US" sz="3800" b="1" dirty="0">
                <a:solidFill>
                  <a:schemeClr val="tx2"/>
                </a:solidFill>
                <a:latin typeface="+mj-lt"/>
                <a:ea typeface="+mj-lt"/>
                <a:cs typeface="+mj-lt"/>
              </a:rPr>
              <a:t>Similar to this:</a:t>
            </a:r>
          </a:p>
          <a:p>
            <a:pPr lvl="1">
              <a:lnSpc>
                <a:spcPct val="90000"/>
              </a:lnSpc>
              <a:spcBef>
                <a:spcPct val="0"/>
              </a:spcBef>
              <a:spcAft>
                <a:spcPts val="600"/>
              </a:spcAft>
            </a:pPr>
            <a:r>
              <a:rPr lang="en-US" sz="3000" dirty="0">
                <a:solidFill>
                  <a:schemeClr val="tx2"/>
                </a:solidFill>
                <a:latin typeface="+mj-lt"/>
                <a:ea typeface="+mj-lt"/>
                <a:cs typeface="+mj-lt"/>
              </a:rPr>
              <a:t>Act as an expert in </a:t>
            </a:r>
            <a:r>
              <a:rPr lang="en-US" sz="3000" dirty="0">
                <a:solidFill>
                  <a:schemeClr val="tx2"/>
                </a:solidFill>
                <a:ea typeface="+mj-lt"/>
                <a:cs typeface="+mj-lt"/>
              </a:rPr>
              <a:t>communicative language teaching, </a:t>
            </a:r>
            <a:r>
              <a:rPr lang="en-US" sz="3000" dirty="0">
                <a:solidFill>
                  <a:schemeClr val="tx2"/>
                </a:solidFill>
                <a:latin typeface="+mj-lt"/>
                <a:ea typeface="+mj-lt"/>
                <a:cs typeface="+mj-lt"/>
              </a:rPr>
              <a:t>second-language acquisition, and instructional-materials design.</a:t>
            </a:r>
          </a:p>
          <a:p>
            <a:pPr lvl="1">
              <a:lnSpc>
                <a:spcPct val="90000"/>
              </a:lnSpc>
              <a:spcBef>
                <a:spcPct val="0"/>
              </a:spcBef>
              <a:spcAft>
                <a:spcPts val="600"/>
              </a:spcAft>
            </a:pPr>
            <a:r>
              <a:rPr lang="en-US" sz="3000" dirty="0">
                <a:solidFill>
                  <a:schemeClr val="tx2"/>
                </a:solidFill>
                <a:latin typeface="+mj-lt"/>
                <a:ea typeface="+mj-lt"/>
                <a:cs typeface="+mj-lt"/>
              </a:rPr>
              <a:t>Create a complete, stand-alone classroom activity for adult or university-level learners of English as a second language at approximately B1 level. The topic is “what I do during holidays”. </a:t>
            </a:r>
            <a:r>
              <a:rPr lang="en-US" sz="3000" b="1" dirty="0">
                <a:solidFill>
                  <a:schemeClr val="tx2"/>
                </a:solidFill>
                <a:latin typeface="+mj-lt"/>
                <a:ea typeface="+mj-lt"/>
                <a:cs typeface="+mj-lt"/>
              </a:rPr>
              <a:t>The activity should develop pushed output: learners have a short period to think and prepare. Then they must produce meaningful language, notice gaps in what they can say, clarify or reformulate, and try again.</a:t>
            </a:r>
          </a:p>
          <a:p>
            <a:pPr>
              <a:lnSpc>
                <a:spcPct val="90000"/>
              </a:lnSpc>
              <a:spcBef>
                <a:spcPct val="0"/>
              </a:spcBef>
              <a:spcAft>
                <a:spcPts val="600"/>
              </a:spcAft>
              <a:buNone/>
            </a:pPr>
            <a:endParaRPr lang="en-US" sz="3000" dirty="0">
              <a:solidFill>
                <a:schemeClr val="tx2"/>
              </a:solidFill>
              <a:latin typeface="+mj-lt"/>
              <a:ea typeface="+mj-lt"/>
              <a:cs typeface="+mj-lt"/>
            </a:endParaRPr>
          </a:p>
          <a:p>
            <a:pPr>
              <a:lnSpc>
                <a:spcPct val="90000"/>
              </a:lnSpc>
              <a:spcBef>
                <a:spcPct val="0"/>
              </a:spcBef>
              <a:spcAft>
                <a:spcPts val="600"/>
              </a:spcAft>
              <a:buNone/>
            </a:pPr>
            <a:endParaRPr lang="en-US" sz="3000" dirty="0">
              <a:solidFill>
                <a:schemeClr val="tx2"/>
              </a:solidFill>
              <a:latin typeface="+mj-lt"/>
              <a:ea typeface="+mj-lt"/>
              <a:cs typeface="+mj-lt"/>
            </a:endParaRPr>
          </a:p>
        </p:txBody>
      </p:sp>
    </p:spTree>
    <p:extLst>
      <p:ext uri="{BB962C8B-B14F-4D97-AF65-F5344CB8AC3E}">
        <p14:creationId xmlns:p14="http://schemas.microsoft.com/office/powerpoint/2010/main" val="4050783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BYU medallion" descr="BYU medallion">
            <a:extLst>
              <a:ext uri="{FF2B5EF4-FFF2-40B4-BE49-F238E27FC236}">
                <a16:creationId xmlns:a16="http://schemas.microsoft.com/office/drawing/2014/main" id="{A5E8F592-1D34-7BB5-D5AF-4B44A6539E84}"/>
              </a:ext>
            </a:extLst>
          </p:cNvPr>
          <p:cNvPicPr>
            <a:picLocks noChangeAspect="1"/>
          </p:cNvPicPr>
          <p:nvPr/>
        </p:nvPicPr>
        <p:blipFill>
          <a:blip r:embed="rId2"/>
          <a:stretch>
            <a:fillRect/>
          </a:stretch>
        </p:blipFill>
        <p:spPr>
          <a:xfrm>
            <a:off x="6975990" y="205740"/>
            <a:ext cx="2011680" cy="2011680"/>
          </a:xfrm>
          <a:prstGeom prst="rect">
            <a:avLst/>
          </a:prstGeom>
        </p:spPr>
      </p:pic>
      <p:sp>
        <p:nvSpPr>
          <p:cNvPr id="3" name="TextBox 2">
            <a:extLst>
              <a:ext uri="{FF2B5EF4-FFF2-40B4-BE49-F238E27FC236}">
                <a16:creationId xmlns:a16="http://schemas.microsoft.com/office/drawing/2014/main" id="{38CE75D1-F24B-5D91-701A-8BB53877BF2F}"/>
              </a:ext>
            </a:extLst>
          </p:cNvPr>
          <p:cNvSpPr txBox="1"/>
          <p:nvPr/>
        </p:nvSpPr>
        <p:spPr>
          <a:xfrm>
            <a:off x="414671" y="1690755"/>
            <a:ext cx="6186245" cy="954107"/>
          </a:xfrm>
          <a:prstGeom prst="rect">
            <a:avLst/>
          </a:prstGeom>
          <a:noFill/>
        </p:spPr>
        <p:txBody>
          <a:bodyPr wrap="none" rtlCol="0">
            <a:spAutoFit/>
          </a:bodyPr>
          <a:lstStyle/>
          <a:p>
            <a:r>
              <a:rPr lang="en-US" sz="2800" dirty="0"/>
              <a:t>Contact Information: </a:t>
            </a:r>
            <a:r>
              <a:rPr lang="en-US" sz="2800" dirty="0">
                <a:hlinkClick r:id="rId3"/>
              </a:rPr>
              <a:t>ddewey@byu.edu</a:t>
            </a:r>
            <a:endParaRPr lang="en-US" sz="2800" dirty="0"/>
          </a:p>
          <a:p>
            <a:endParaRPr lang="en-US" sz="2800" dirty="0"/>
          </a:p>
        </p:txBody>
      </p:sp>
      <p:pic>
        <p:nvPicPr>
          <p:cNvPr id="5" name="Picture 4">
            <a:extLst>
              <a:ext uri="{FF2B5EF4-FFF2-40B4-BE49-F238E27FC236}">
                <a16:creationId xmlns:a16="http://schemas.microsoft.com/office/drawing/2014/main" id="{500A2E79-20E5-1E7A-FD80-F934FFFF6219}"/>
              </a:ext>
            </a:extLst>
          </p:cNvPr>
          <p:cNvPicPr>
            <a:picLocks noChangeAspect="1"/>
          </p:cNvPicPr>
          <p:nvPr/>
        </p:nvPicPr>
        <p:blipFill>
          <a:blip r:embed="rId4"/>
          <a:stretch>
            <a:fillRect/>
          </a:stretch>
        </p:blipFill>
        <p:spPr>
          <a:xfrm>
            <a:off x="1651790" y="2890905"/>
            <a:ext cx="1382067" cy="1382067"/>
          </a:xfrm>
          <a:prstGeom prst="rect">
            <a:avLst/>
          </a:prstGeom>
        </p:spPr>
      </p:pic>
      <p:pic>
        <p:nvPicPr>
          <p:cNvPr id="6" name="Picture 5">
            <a:extLst>
              <a:ext uri="{FF2B5EF4-FFF2-40B4-BE49-F238E27FC236}">
                <a16:creationId xmlns:a16="http://schemas.microsoft.com/office/drawing/2014/main" id="{32353591-91AF-DE46-888B-E0C1577420D2}"/>
              </a:ext>
            </a:extLst>
          </p:cNvPr>
          <p:cNvPicPr>
            <a:picLocks noChangeAspect="1"/>
          </p:cNvPicPr>
          <p:nvPr/>
        </p:nvPicPr>
        <p:blipFill>
          <a:blip r:embed="rId5"/>
          <a:stretch>
            <a:fillRect/>
          </a:stretch>
        </p:blipFill>
        <p:spPr>
          <a:xfrm>
            <a:off x="3291958" y="164670"/>
            <a:ext cx="1280042" cy="1280042"/>
          </a:xfrm>
          <a:prstGeom prst="rect">
            <a:avLst/>
          </a:prstGeom>
        </p:spPr>
      </p:pic>
      <p:pic>
        <p:nvPicPr>
          <p:cNvPr id="7" name="Picture 6">
            <a:extLst>
              <a:ext uri="{FF2B5EF4-FFF2-40B4-BE49-F238E27FC236}">
                <a16:creationId xmlns:a16="http://schemas.microsoft.com/office/drawing/2014/main" id="{34E98401-AC41-F377-9749-DEC60C646FA8}"/>
              </a:ext>
            </a:extLst>
          </p:cNvPr>
          <p:cNvPicPr>
            <a:picLocks noChangeAspect="1"/>
          </p:cNvPicPr>
          <p:nvPr/>
        </p:nvPicPr>
        <p:blipFill>
          <a:blip r:embed="rId6"/>
          <a:stretch>
            <a:fillRect/>
          </a:stretch>
        </p:blipFill>
        <p:spPr>
          <a:xfrm>
            <a:off x="5048219" y="2890905"/>
            <a:ext cx="1370270" cy="1370270"/>
          </a:xfrm>
          <a:prstGeom prst="rect">
            <a:avLst/>
          </a:prstGeom>
        </p:spPr>
      </p:pic>
      <p:pic>
        <p:nvPicPr>
          <p:cNvPr id="8" name="Picture 7">
            <a:extLst>
              <a:ext uri="{FF2B5EF4-FFF2-40B4-BE49-F238E27FC236}">
                <a16:creationId xmlns:a16="http://schemas.microsoft.com/office/drawing/2014/main" id="{E1BBAD2D-0326-970C-5710-121A7123DD95}"/>
              </a:ext>
            </a:extLst>
          </p:cNvPr>
          <p:cNvPicPr>
            <a:picLocks noChangeAspect="1"/>
          </p:cNvPicPr>
          <p:nvPr/>
        </p:nvPicPr>
        <p:blipFill>
          <a:blip r:embed="rId7"/>
          <a:stretch>
            <a:fillRect/>
          </a:stretch>
        </p:blipFill>
        <p:spPr>
          <a:xfrm>
            <a:off x="414671" y="308688"/>
            <a:ext cx="1382067" cy="1382067"/>
          </a:xfrm>
          <a:prstGeom prst="rect">
            <a:avLst/>
          </a:prstGeom>
        </p:spPr>
      </p:pic>
    </p:spTree>
    <p:extLst>
      <p:ext uri="{BB962C8B-B14F-4D97-AF65-F5344CB8AC3E}">
        <p14:creationId xmlns:p14="http://schemas.microsoft.com/office/powerpoint/2010/main" val="1673634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E5D"/>
      </a:dk2>
      <a:lt2>
        <a:srgbClr val="E7E6E6"/>
      </a:lt2>
      <a:accent1>
        <a:srgbClr val="0062B8"/>
      </a:accent1>
      <a:accent2>
        <a:srgbClr val="002E5D"/>
      </a:accent2>
      <a:accent3>
        <a:srgbClr val="A5A5A5"/>
      </a:accent3>
      <a:accent4>
        <a:srgbClr val="BE965C"/>
      </a:accent4>
      <a:accent5>
        <a:srgbClr val="5B9BD5"/>
      </a:accent5>
      <a:accent6>
        <a:srgbClr val="70AD47"/>
      </a:accent6>
      <a:hlink>
        <a:srgbClr val="0062B8"/>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20E4CE0-3B31-6548-BEAB-4F979FF00941}">
  <we:reference id="WA200010001" version="1.0.0.1" store="Omex" storeType="OMEX"/>
  <we:alternateReferences>
    <we:reference id="WA200010001" version="1.0.0.1" store="WA200010001" storeType="OMEX"/>
  </we:alternateReferences>
  <we:properties>
    <we:property name="claude.fileId" value="&quot;efc22377-0204-448f-8bd5-ebca1f92cee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11915</TotalTime>
  <Words>5237</Words>
  <Application>Microsoft Macintosh PowerPoint</Application>
  <DocSecurity>0</DocSecurity>
  <PresentationFormat>On-screen Show (16:9)</PresentationFormat>
  <Paragraphs>414</Paragraphs>
  <Slides>85</Slides>
  <Notes>45</Notes>
  <HiddenSlides>27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85</vt:i4>
      </vt:variant>
    </vt:vector>
  </HeadingPairs>
  <TitlesOfParts>
    <vt:vector size="92" baseType="lpstr">
      <vt:lpstr>Plus Jakarta Sans</vt:lpstr>
      <vt:lpstr>Space Grotesk</vt:lpstr>
      <vt:lpstr>Abadi</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 Dewey</cp:lastModifiedBy>
  <cp:revision>33</cp:revision>
  <cp:lastPrinted>2026-10-08T11:24:55Z</cp:lastPrinted>
  <dcterms:created xsi:type="dcterms:W3CDTF">2026-09-30T12:40:52Z</dcterms:created>
  <dcterms:modified xsi:type="dcterms:W3CDTF">2026-10-10T03:02:42Z</dcterms:modified>
</cp:coreProperties>
</file>